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82" r:id="rId6"/>
    <p:sldId id="261" r:id="rId7"/>
    <p:sldId id="283" r:id="rId8"/>
    <p:sldId id="284" r:id="rId9"/>
    <p:sldId id="292" r:id="rId10"/>
    <p:sldId id="264" r:id="rId11"/>
    <p:sldId id="265" r:id="rId12"/>
    <p:sldId id="266" r:id="rId13"/>
    <p:sldId id="267" r:id="rId14"/>
    <p:sldId id="293" r:id="rId15"/>
    <p:sldId id="294" r:id="rId16"/>
    <p:sldId id="286" r:id="rId17"/>
    <p:sldId id="287" r:id="rId18"/>
    <p:sldId id="288" r:id="rId19"/>
    <p:sldId id="274" r:id="rId20"/>
    <p:sldId id="275" r:id="rId21"/>
    <p:sldId id="281"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8" autoAdjust="0"/>
    <p:restoredTop sz="45359" autoAdjust="0"/>
  </p:normalViewPr>
  <p:slideViewPr>
    <p:cSldViewPr snapToGrid="0" snapToObjects="1">
      <p:cViewPr varScale="1">
        <p:scale>
          <a:sx n="37" d="100"/>
          <a:sy n="37" d="100"/>
        </p:scale>
        <p:origin x="243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7372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Disaster Tweet Classification: </a:t>
            </a:r>
            <a:endParaRPr lang="en-IN" b="1" dirty="0"/>
          </a:p>
          <a:p>
            <a:r>
              <a:rPr lang="en-IN" dirty="0"/>
              <a:t>A </a:t>
            </a:r>
            <a:r>
              <a:rPr dirty="0"/>
              <a:t>project that teaches a computer to tell a genuine emergency report from everyday use of the same dramatic words, and then puts the best model behind a plain-language dashboard.</a:t>
            </a:r>
          </a:p>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lang="en-IN" b="1" dirty="0"/>
              <a:t>WHAT:</a:t>
            </a:r>
          </a:p>
          <a:p>
            <a:r>
              <a:rPr dirty="0"/>
              <a:t>The dataset is </a:t>
            </a:r>
            <a:r>
              <a:rPr b="1" dirty="0"/>
              <a:t>7,613 tweets</a:t>
            </a:r>
            <a:r>
              <a:rPr dirty="0"/>
              <a:t> with five columns: id, keyword, location, text and target (1 = real disaster).</a:t>
            </a:r>
            <a:r>
              <a:rPr lang="en-IN" dirty="0"/>
              <a:t> </a:t>
            </a:r>
          </a:p>
          <a:p>
            <a:r>
              <a:rPr dirty="0"/>
              <a:t>After cleaning, </a:t>
            </a:r>
            <a:r>
              <a:rPr b="0" i="0" dirty="0"/>
              <a:t>7,490 tweets remain: </a:t>
            </a:r>
            <a:r>
              <a:rPr b="1" i="0" dirty="0"/>
              <a:t>4,299 non-disaster (57.40%) </a:t>
            </a:r>
            <a:r>
              <a:rPr b="0" i="0" dirty="0"/>
              <a:t>and </a:t>
            </a:r>
            <a:r>
              <a:rPr b="1" i="0" dirty="0"/>
              <a:t>3,191 disaster (42.60%).</a:t>
            </a:r>
            <a:endParaRPr b="1" dirty="0"/>
          </a:p>
          <a:p>
            <a:r>
              <a:rPr i="1" dirty="0"/>
              <a:t>A model that always answers "not a disaster" is already right 57.4% of the time, so every real model has to clear that bar by a meaningful margin to show it has learned anything.</a:t>
            </a:r>
          </a:p>
          <a:p>
            <a:endParaRPr dirty="0"/>
          </a:p>
          <a:p>
            <a:r>
              <a:rPr b="1" dirty="0"/>
              <a:t>WHY:</a:t>
            </a:r>
          </a:p>
          <a:p>
            <a:r>
              <a:rPr dirty="0"/>
              <a:t>The class balance is mild, not severe, so no resampling was needed. </a:t>
            </a:r>
            <a:endParaRPr lang="en-IN" dirty="0"/>
          </a:p>
          <a:p>
            <a:r>
              <a:rPr dirty="0"/>
              <a:t>But it is real enough that Accuracy should be read next to F1, Precision and Recall, which is why the project reports all of them.</a:t>
            </a:r>
          </a:p>
          <a:p>
            <a:endParaRPr dirty="0"/>
          </a:p>
          <a:p>
            <a:r>
              <a:rPr b="1" dirty="0"/>
              <a:t>HOW:</a:t>
            </a:r>
          </a:p>
          <a:p>
            <a:r>
              <a:rPr dirty="0"/>
              <a:t>Class balance was computed after cleaning, on the 7,490 tweets used for modelling. </a:t>
            </a:r>
            <a:endParaRPr lang="en-IN" dirty="0"/>
          </a:p>
          <a:p>
            <a:r>
              <a:rPr dirty="0"/>
              <a:t>The raw split was 4,342 non-disaster and 3,271 disaster (57.03% and 42.97%).</a:t>
            </a:r>
          </a:p>
          <a:p>
            <a:endParaRPr dirty="0"/>
          </a:p>
          <a:p>
            <a:r>
              <a:rPr b="1" i="1" dirty="0"/>
              <a:t>ALSO, IN THE NOTEBOOK (not shown on this slide):</a:t>
            </a:r>
          </a:p>
          <a:p>
            <a:r>
              <a:rPr b="1" dirty="0"/>
              <a:t>Missing-value audit: </a:t>
            </a:r>
            <a:endParaRPr lang="en-IN" b="1" dirty="0"/>
          </a:p>
          <a:p>
            <a:r>
              <a:rPr lang="en-IN" dirty="0"/>
              <a:t>l</a:t>
            </a:r>
            <a:r>
              <a:rPr dirty="0" err="1"/>
              <a:t>ocation</a:t>
            </a:r>
            <a:r>
              <a:rPr dirty="0"/>
              <a:t> is missing in about 33% of rows (2,476) and keyword in 56 rows (0.75%). </a:t>
            </a:r>
            <a:endParaRPr lang="en-IN" dirty="0"/>
          </a:p>
          <a:p>
            <a:r>
              <a:rPr dirty="0"/>
              <a:t>Keyword has 222 unique values. </a:t>
            </a:r>
            <a:endParaRPr lang="en-IN" dirty="0"/>
          </a:p>
          <a:p>
            <a:r>
              <a:rPr dirty="0"/>
              <a:t>The raw data inspection tables, data types and the first rows are in the importing and inspection section.</a:t>
            </a:r>
          </a:p>
          <a:p>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WHAT:</a:t>
            </a:r>
          </a:p>
          <a:p>
            <a:r>
              <a:rPr dirty="0"/>
              <a:t>One notebook, six stages, each stage's output feeding the next: </a:t>
            </a:r>
            <a:endParaRPr lang="en-IN" dirty="0"/>
          </a:p>
          <a:p>
            <a:r>
              <a:rPr lang="en-IN" dirty="0"/>
              <a:t>1. C</a:t>
            </a:r>
            <a:r>
              <a:rPr dirty="0"/>
              <a:t>lean the data</a:t>
            </a:r>
            <a:endParaRPr lang="en-IN" dirty="0"/>
          </a:p>
          <a:p>
            <a:r>
              <a:rPr lang="en-IN" dirty="0"/>
              <a:t>2. E</a:t>
            </a:r>
            <a:r>
              <a:rPr dirty="0"/>
              <a:t>ngineer and explore features</a:t>
            </a:r>
            <a:endParaRPr lang="en-IN" dirty="0"/>
          </a:p>
          <a:p>
            <a:r>
              <a:rPr lang="en-IN" dirty="0"/>
              <a:t>3. R</a:t>
            </a:r>
            <a:r>
              <a:rPr dirty="0"/>
              <a:t>epresent the text in several ways</a:t>
            </a:r>
            <a:endParaRPr lang="en-IN" dirty="0"/>
          </a:p>
          <a:p>
            <a:r>
              <a:rPr lang="en-IN" dirty="0"/>
              <a:t>4. B</a:t>
            </a:r>
            <a:r>
              <a:rPr dirty="0"/>
              <a:t>uild six model tiers</a:t>
            </a:r>
            <a:endParaRPr lang="en-IN" dirty="0"/>
          </a:p>
          <a:p>
            <a:r>
              <a:rPr lang="en-IN" dirty="0"/>
              <a:t>5. E</a:t>
            </a:r>
            <a:r>
              <a:rPr dirty="0"/>
              <a:t>valuate once on the held-out test set</a:t>
            </a:r>
            <a:endParaRPr lang="en-IN" dirty="0"/>
          </a:p>
          <a:p>
            <a:r>
              <a:rPr lang="en-IN" dirty="0"/>
              <a:t>6. D</a:t>
            </a:r>
            <a:r>
              <a:rPr dirty="0"/>
              <a:t>eploy the winner.</a:t>
            </a:r>
          </a:p>
          <a:p>
            <a:endParaRPr dirty="0"/>
          </a:p>
          <a:p>
            <a:r>
              <a:rPr b="1" dirty="0"/>
              <a:t>WHY:</a:t>
            </a:r>
          </a:p>
          <a:p>
            <a:r>
              <a:rPr dirty="0"/>
              <a:t>The point of a single flow is that every model is compared on identical data, an identical split and the same primary metric. </a:t>
            </a:r>
            <a:endParaRPr lang="en-IN" dirty="0"/>
          </a:p>
          <a:p>
            <a:r>
              <a:rPr dirty="0"/>
              <a:t>That is what makes the final comparison fair.</a:t>
            </a:r>
          </a:p>
          <a:p>
            <a:r>
              <a:rPr dirty="0"/>
              <a:t>The one rule that governs everything: the test set (1,498 tweets, 20%) is held out before any modelling and is not used for fitting, tuning or selection. </a:t>
            </a:r>
            <a:endParaRPr lang="en-IN" dirty="0"/>
          </a:p>
          <a:p>
            <a:r>
              <a:rPr dirty="0"/>
              <a:t>Every vectorizer, encoder and embedding that learns from data was fitted on the training tweets only and then applied to the test tweets.</a:t>
            </a:r>
          </a:p>
          <a:p>
            <a:endParaRPr dirty="0"/>
          </a:p>
          <a:p>
            <a:r>
              <a:rPr b="1" i="1" dirty="0"/>
              <a:t>ALSO, IN THE NOTEBOOK (not shown on this slide):</a:t>
            </a:r>
          </a:p>
          <a:p>
            <a:r>
              <a:rPr dirty="0"/>
              <a:t>A leakage and reproducibility table showing the shape of every representation on train and test, the categorical encoding step (13 disaster types and 3 location sources, 16 one-hot features), and the assembly of the 29 structured modelling features (13 numeric plus 16 encoded).</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WHAT:</a:t>
            </a:r>
          </a:p>
          <a:p>
            <a:r>
              <a:rPr dirty="0"/>
              <a:t>The cleaning stage removed 123 tweets (1.6%), recovered 412 locations from the tweet text, and gave every missing value an explicit treatment.</a:t>
            </a:r>
          </a:p>
          <a:p>
            <a:endParaRPr dirty="0"/>
          </a:p>
          <a:p>
            <a:r>
              <a:rPr b="1" dirty="0"/>
              <a:t>WHY:</a:t>
            </a:r>
          </a:p>
          <a:p>
            <a:r>
              <a:rPr dirty="0"/>
              <a:t>The first lesson is that duplicates must be judged on content. The id column is unique per row, so an all-column duplicate check can never find anything. Judged on the text itself there were 52 exact duplicates, 18 texts with conflicting labels, and 45 further repeats of kept texts. Leaving them in would let near-copies sit on both sides of the split and would teach the model contradictory answers.</a:t>
            </a:r>
          </a:p>
          <a:p>
            <a:r>
              <a:rPr dirty="0"/>
              <a:t>For conflicting labels the rule was: where a text had a clear majority label that label was kept; where the labels split evenly the text was dropped. </a:t>
            </a:r>
            <a:endParaRPr lang="en-IN" dirty="0"/>
          </a:p>
          <a:p>
            <a:r>
              <a:rPr dirty="0"/>
              <a:t>Missing keywords (56) were labelled "unknown" rather than invented. </a:t>
            </a:r>
            <a:endParaRPr lang="en-IN" dirty="0"/>
          </a:p>
          <a:p>
            <a:r>
              <a:rPr dirty="0"/>
              <a:t>Missing locations (2,476, 33.06%) were handled with named-entity recognition on the tweet text, which recovered 412 real place names; 2,064 remain genuinely unknown and are marked as such.</a:t>
            </a:r>
          </a:p>
          <a:p>
            <a:endParaRPr dirty="0"/>
          </a:p>
          <a:p>
            <a:r>
              <a:rPr b="1" dirty="0"/>
              <a:t>HOW:</a:t>
            </a:r>
          </a:p>
          <a:p>
            <a:r>
              <a:rPr b="1" dirty="0" err="1"/>
              <a:t>spaCy's</a:t>
            </a:r>
            <a:r>
              <a:rPr b="1" dirty="0"/>
              <a:t> </a:t>
            </a:r>
            <a:r>
              <a:rPr dirty="0"/>
              <a:t>English model was used for place recognition</a:t>
            </a:r>
            <a:r>
              <a:rPr lang="en-IN" dirty="0"/>
              <a:t>, with a filter that rejects spans longer than three words, non-ASCII text, or symbols such as # @ /,</a:t>
            </a:r>
            <a:r>
              <a:rPr dirty="0"/>
              <a:t>, so that junk is not promoted to a location. </a:t>
            </a:r>
            <a:endParaRPr lang="en-IN" dirty="0"/>
          </a:p>
          <a:p>
            <a:r>
              <a:rPr dirty="0"/>
              <a:t>A </a:t>
            </a:r>
            <a:r>
              <a:rPr dirty="0" err="1"/>
              <a:t>location_source</a:t>
            </a:r>
            <a:r>
              <a:rPr dirty="0"/>
              <a:t> column records whether each location is original, extracted or unknown, so downstream work can tell them apart.</a:t>
            </a:r>
          </a:p>
          <a:p>
            <a:endParaRPr dirty="0"/>
          </a:p>
          <a:p>
            <a:r>
              <a:rPr b="1" i="1" dirty="0"/>
              <a:t>ALSO, IN THE NOTEBOOK (not shown on this slide):</a:t>
            </a:r>
          </a:p>
          <a:p>
            <a:r>
              <a:rPr dirty="0"/>
              <a:t>Post-cleaning validation (zero missing values, no label mismatches, no repeated texts), the data type corrections, and the df_refined checkpoint that all later work builds on.</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WHAT:</a:t>
            </a:r>
          </a:p>
          <a:p>
            <a:r>
              <a:rPr dirty="0"/>
              <a:t>Feature engineering expanded the dataset from 7 to 24 columns. </a:t>
            </a:r>
            <a:endParaRPr lang="en-IN" dirty="0"/>
          </a:p>
          <a:p>
            <a:r>
              <a:rPr dirty="0"/>
              <a:t>The 7 are the 5 original columns plus target_label and location_source, both added during cleaning. </a:t>
            </a:r>
            <a:endParaRPr lang="en-IN" dirty="0"/>
          </a:p>
          <a:p>
            <a:r>
              <a:rPr dirty="0"/>
              <a:t>The 17 new columns fall in four groups: </a:t>
            </a:r>
            <a:r>
              <a:rPr b="1" dirty="0"/>
              <a:t>structure</a:t>
            </a:r>
            <a:r>
              <a:rPr dirty="0"/>
              <a:t> (9), </a:t>
            </a:r>
            <a:r>
              <a:rPr b="1" dirty="0"/>
              <a:t>sentiment </a:t>
            </a:r>
            <a:r>
              <a:rPr dirty="0"/>
              <a:t>(5: four VADER scores and a label), </a:t>
            </a:r>
            <a:r>
              <a:rPr b="1" dirty="0"/>
              <a:t>disaster type </a:t>
            </a:r>
            <a:r>
              <a:rPr dirty="0"/>
              <a:t>(1) and </a:t>
            </a:r>
            <a:r>
              <a:rPr b="1" dirty="0"/>
              <a:t>cleaned text </a:t>
            </a:r>
            <a:r>
              <a:rPr dirty="0"/>
              <a:t>(2: the token list and the cleaned string).</a:t>
            </a:r>
          </a:p>
          <a:p>
            <a:endParaRPr dirty="0"/>
          </a:p>
          <a:p>
            <a:r>
              <a:rPr b="1" dirty="0"/>
              <a:t>WHY:</a:t>
            </a:r>
          </a:p>
          <a:p>
            <a:r>
              <a:rPr dirty="0"/>
              <a:t>Models cannot use the shape of a tweet unless it is turned into numbers. </a:t>
            </a:r>
            <a:endParaRPr lang="en-IN" dirty="0"/>
          </a:p>
          <a:p>
            <a:r>
              <a:rPr dirty="0"/>
              <a:t>The structural and sentiment features were computed from the raw text, because text cleaning removes capital letters, links and punctuation, which are useful signals in themselves; VADER, for example, partly relies on punctuation and capitalization for tone.</a:t>
            </a:r>
          </a:p>
          <a:p>
            <a:r>
              <a:rPr b="1" dirty="0"/>
              <a:t>Structure: </a:t>
            </a:r>
            <a:r>
              <a:rPr lang="en-IN" dirty="0"/>
              <a:t>Th</a:t>
            </a:r>
            <a:r>
              <a:rPr dirty="0"/>
              <a:t>e median tweet is 107 characters and 15 words; hashtags, mentions, URLs and digits are sparse (mean 0.43 hashtags and 0.36 mentions per tweet). </a:t>
            </a:r>
            <a:endParaRPr lang="en-IN" dirty="0"/>
          </a:p>
          <a:p>
            <a:r>
              <a:rPr b="1" dirty="0"/>
              <a:t>Sentiment (VADER) leans negative: </a:t>
            </a:r>
            <a:r>
              <a:rPr dirty="0"/>
              <a:t>49.19% negative, 25.82% positive and 24.99% neutral, with a mean compound score of about -0.14. </a:t>
            </a:r>
            <a:endParaRPr lang="en-IN" dirty="0"/>
          </a:p>
          <a:p>
            <a:r>
              <a:rPr b="1" dirty="0"/>
              <a:t>Disaster type </a:t>
            </a:r>
            <a:r>
              <a:rPr dirty="0"/>
              <a:t>is a rule-based category taken from the keyword, with a text fallback when the keyword is unknown. It gives 13 categories, and General Disaster and Emergency Language is the largest at 1,674 tweets (22.35%). It is a feature-only analytical grouping, not a second ground truth and not independently verified.</a:t>
            </a:r>
          </a:p>
          <a:p>
            <a:endParaRPr dirty="0"/>
          </a:p>
          <a:p>
            <a:r>
              <a:rPr b="1" dirty="0"/>
              <a:t>Validation: </a:t>
            </a:r>
            <a:r>
              <a:rPr lang="en-IN" b="1" dirty="0"/>
              <a:t>E</a:t>
            </a:r>
            <a:r>
              <a:rPr dirty="0"/>
              <a:t>very new feature was checked and none has a missing value.</a:t>
            </a:r>
          </a:p>
          <a:p>
            <a:endParaRPr dirty="0"/>
          </a:p>
          <a:p>
            <a:r>
              <a:rPr b="1" i="1" dirty="0"/>
              <a:t>ALSO, IN THE NOTEBOOK (not shown on this slide):</a:t>
            </a:r>
          </a:p>
          <a:p>
            <a:r>
              <a:rPr dirty="0"/>
              <a:t>The structural and sentiment summary tables (minimum, quartiles, maximum), the full disaster-type distribution (for example Structural Damage and Collapse 9.31%, Casualties and Injuries 9.27%, Conflict and Terrorism 9.20%, Earthquake and Seismic Events 2.00%, Volcanic Activity 0.80%), and the feature validation table with a five-row preview. </a:t>
            </a:r>
            <a:endParaRPr lang="en-IN"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BEFORE THE COMPARISONS: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Four numeric features with a long tail were capped at their 99th percentile: </a:t>
            </a:r>
            <a:r>
              <a:rPr lang="en-IN" b="1" dirty="0"/>
              <a:t>average word length</a:t>
            </a:r>
            <a:r>
              <a:rPr lang="en-IN" dirty="0"/>
              <a:t> (73 rows), </a:t>
            </a:r>
            <a:r>
              <a:rPr lang="en-IN" b="1" dirty="0"/>
              <a:t>hashtag count </a:t>
            </a:r>
            <a:r>
              <a:rPr lang="en-IN" dirty="0"/>
              <a:t>(56), </a:t>
            </a:r>
            <a:r>
              <a:rPr lang="en-IN" b="1" dirty="0"/>
              <a:t>uppercase ratio</a:t>
            </a:r>
            <a:r>
              <a:rPr lang="en-IN" dirty="0"/>
              <a:t> (75) and </a:t>
            </a:r>
            <a:r>
              <a:rPr lang="en-IN" b="1" dirty="0"/>
              <a:t>digit count </a:t>
            </a:r>
            <a:r>
              <a:rPr lang="en-IN" dirty="0"/>
              <a:t>(73).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That replaced 277 values in total and dropped no rows.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Mention count </a:t>
            </a:r>
            <a:r>
              <a:rPr lang="en-IN" dirty="0"/>
              <a:t>and </a:t>
            </a:r>
            <a:r>
              <a:rPr lang="en-IN" b="1" dirty="0"/>
              <a:t>positive sentiment </a:t>
            </a:r>
            <a:r>
              <a:rPr lang="en-IN" dirty="0"/>
              <a:t>were checked and deliberately kept uncapped, because they are plausible genuine content.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Capping pulls an extreme value back to the cap, for example a tweet with an unusually high digit count.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i="1" dirty="0"/>
              <a:t>The full outlier decision table (IQR against Z-score) is in the notebook.</a:t>
            </a:r>
          </a:p>
          <a:p>
            <a:endParaRPr lang="en-IN" dirty="0"/>
          </a:p>
          <a:p>
            <a:r>
              <a:rPr b="1" dirty="0"/>
              <a:t>WHAT:</a:t>
            </a:r>
          </a:p>
          <a:p>
            <a:r>
              <a:rPr dirty="0"/>
              <a:t>Two clear differences between real disaster tweets and the rest: they link out far more, and they sound more negative.</a:t>
            </a:r>
          </a:p>
          <a:p>
            <a:r>
              <a:rPr b="1" dirty="0"/>
              <a:t>Links: </a:t>
            </a:r>
            <a:r>
              <a:rPr dirty="0"/>
              <a:t>67.28% of disaster tweets contain a URL, against 41.71% of non-disaster tweets, a gap of 25.6 points. </a:t>
            </a:r>
            <a:endParaRPr lang="en-IN" dirty="0"/>
          </a:p>
          <a:p>
            <a:r>
              <a:rPr b="1" dirty="0"/>
              <a:t>Mentions</a:t>
            </a:r>
            <a:r>
              <a:rPr dirty="0"/>
              <a:t> run the other way: 31.05% of non-disaster tweets tag someone, against 20.65% of disaster tweets. </a:t>
            </a:r>
            <a:endParaRPr lang="en-IN" dirty="0"/>
          </a:p>
          <a:p>
            <a:r>
              <a:rPr b="1" dirty="0"/>
              <a:t>Hashtags</a:t>
            </a:r>
            <a:r>
              <a:rPr dirty="0"/>
              <a:t> are a smaller gap (26.01% against 20.14%). </a:t>
            </a:r>
            <a:endParaRPr lang="en-IN" dirty="0"/>
          </a:p>
          <a:p>
            <a:r>
              <a:rPr dirty="0"/>
              <a:t>On sentiment, disaster tweets average -0.267 against -0.052 for the rest, and non-disaster tweets are about twice as likely to be scored positive.</a:t>
            </a:r>
          </a:p>
          <a:p>
            <a:endParaRPr dirty="0"/>
          </a:p>
          <a:p>
            <a:r>
              <a:rPr b="1" dirty="0"/>
              <a:t>WHY:</a:t>
            </a:r>
          </a:p>
          <a:p>
            <a:r>
              <a:rPr dirty="0"/>
              <a:t>These are plausible patterns: genuine reports link to news or photos, while casual chatter tags friends and sounds lighter. </a:t>
            </a:r>
            <a:endParaRPr lang="en-IN" dirty="0"/>
          </a:p>
          <a:p>
            <a:r>
              <a:rPr dirty="0"/>
              <a:t>But none of them is a strong signal on its own. </a:t>
            </a:r>
            <a:endParaRPr lang="en-IN" dirty="0"/>
          </a:p>
          <a:p>
            <a:r>
              <a:rPr dirty="0"/>
              <a:t>A negative tweet is not necessarily a real report, and a real report can sound neutral. </a:t>
            </a:r>
            <a:endParaRPr lang="en-IN" dirty="0"/>
          </a:p>
          <a:p>
            <a:r>
              <a:rPr dirty="0"/>
              <a:t>The value of these features is that they add information the words alone do not carry.</a:t>
            </a:r>
          </a:p>
          <a:p>
            <a:endParaRPr dirty="0"/>
          </a:p>
          <a:p>
            <a:r>
              <a:rPr b="1" i="1" dirty="0"/>
              <a:t>ALSO, IN THE NOTEBOOK (not shown on this slide):</a:t>
            </a:r>
          </a:p>
          <a:p>
            <a:r>
              <a:rPr dirty="0"/>
              <a:t>Tweet length distributions by class (both concentrate near 130 to 145 characters, with a lot of overlap), the sentiment-versus-length scatter, the location frequency chart (USA 106, New York 74, with "unknown" the single largest category at 27.56%), and the class balance of the sentiment and location source labels.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WHAT:</a:t>
            </a:r>
          </a:p>
          <a:p>
            <a:r>
              <a:rPr dirty="0"/>
              <a:t>Keywords carry real signal but mislead as often as they help. The chart shows the top 15 keywords split by class.</a:t>
            </a:r>
          </a:p>
          <a:p>
            <a:r>
              <a:rPr b="1" dirty="0"/>
              <a:t>Strong disaster signals: </a:t>
            </a:r>
            <a:r>
              <a:rPr dirty="0"/>
              <a:t>"outbreak" appears in 38 disaster tweets and 1 non-disaster tweet; "collision" 29 against 10; "evacuate" 25 against 15. </a:t>
            </a:r>
            <a:endParaRPr lang="en-IN" dirty="0"/>
          </a:p>
          <a:p>
            <a:r>
              <a:rPr b="1" dirty="0"/>
              <a:t>Misleading alarm words: </a:t>
            </a:r>
            <a:r>
              <a:rPr dirty="0"/>
              <a:t>"body bags" appears in 40 non-disaster tweets and 1 disaster tweet; "armageddon", "deluge", "harm", "twister", "fear" and "siren" each have 35 or more non-disaster tweets and 6 or fewer disaster tweets. </a:t>
            </a:r>
            <a:endParaRPr lang="en-IN" dirty="0"/>
          </a:p>
          <a:p>
            <a:r>
              <a:rPr b="1" dirty="0"/>
              <a:t>Mixed words </a:t>
            </a:r>
            <a:r>
              <a:rPr dirty="0"/>
              <a:t>such as "fatalities" (26 against 19) and "damage" (19 against 22) are close to a coin-flip.</a:t>
            </a:r>
          </a:p>
          <a:p>
            <a:endParaRPr dirty="0"/>
          </a:p>
          <a:p>
            <a:r>
              <a:rPr b="1" dirty="0"/>
              <a:t>WHY:</a:t>
            </a:r>
          </a:p>
          <a:p>
            <a:r>
              <a:rPr dirty="0"/>
              <a:t>This is the central problem of the project in one chart. </a:t>
            </a:r>
            <a:endParaRPr lang="en-IN" dirty="0"/>
          </a:p>
          <a:p>
            <a:r>
              <a:rPr dirty="0"/>
              <a:t>People use dramatic words for jokes, song lyrics, sports and exaggeration. </a:t>
            </a:r>
            <a:endParaRPr lang="en-IN" dirty="0"/>
          </a:p>
          <a:p>
            <a:r>
              <a:rPr dirty="0"/>
              <a:t>A keyword alone cannot say whether a tweet is a real report, so the surrounding wording and context matter. </a:t>
            </a:r>
            <a:endParaRPr lang="en-IN" dirty="0"/>
          </a:p>
          <a:p>
            <a:r>
              <a:rPr dirty="0"/>
              <a:t>That is why a model that reads context is worth testing.</a:t>
            </a:r>
          </a:p>
          <a:p>
            <a:endParaRPr b="1" dirty="0"/>
          </a:p>
          <a:p>
            <a:r>
              <a:rPr b="1" dirty="0"/>
              <a:t>HOW:</a:t>
            </a:r>
          </a:p>
          <a:p>
            <a:r>
              <a:rPr dirty="0"/>
              <a:t>Counts are tweets per keyword and class on the cleaned data. </a:t>
            </a:r>
            <a:endParaRPr lang="en-IN" dirty="0"/>
          </a:p>
          <a:p>
            <a:r>
              <a:rPr dirty="0"/>
              <a:t>"Unknown" (the 56 tweets with no keyword) is excluded from the ranking because it is a placeholder, not a real term.</a:t>
            </a:r>
          </a:p>
          <a:p>
            <a:endParaRPr dirty="0"/>
          </a:p>
          <a:p>
            <a:r>
              <a:rPr b="1" i="1" dirty="0"/>
              <a:t>ALSO, IN THE NOTEBOOK (not shown on this slide):</a:t>
            </a:r>
          </a:p>
          <a:p>
            <a:r>
              <a:rPr dirty="0"/>
              <a:t>The keyword frequency chart (fatalities is the most frequent at 45 tweets, and the top keywords cluster tightly between 39 and 45).</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WHAT:</a:t>
            </a:r>
          </a:p>
          <a:p>
            <a:r>
              <a:rPr dirty="0"/>
              <a:t>The chart ranks the 13 disaster themes by the share of their tweets that are real disasters. </a:t>
            </a:r>
            <a:endParaRPr lang="en-IN" dirty="0"/>
          </a:p>
          <a:p>
            <a:r>
              <a:rPr dirty="0"/>
              <a:t>The range is wide, from 64.85% for Environmental and Health Emergencies down to 27.78% for General Disaster and Emergency Language. </a:t>
            </a:r>
            <a:endParaRPr lang="en-IN" dirty="0"/>
          </a:p>
          <a:p>
            <a:r>
              <a:rPr lang="en-US" b="1" dirty="0"/>
              <a:t>Only 5 of the 13 themes are mostly real: </a:t>
            </a:r>
            <a:r>
              <a:rPr dirty="0"/>
              <a:t>Environmental and Health Emergencies (64.85%), Severe Weather (52.81%), Conflict and Terrorism (51.81%), Emergency Response (51.46%) and Explosion and Blast Events (51.25%). </a:t>
            </a:r>
            <a:endParaRPr lang="en-IN" dirty="0"/>
          </a:p>
          <a:p>
            <a:r>
              <a:rPr dirty="0"/>
              <a:t>Fire and Wildfire is 49.43%, Flood 40.71%, Earthquake and Seismic Events 39.33%, Casualties and Injuries 35.88% and Structural Damage and Collapse 35.29%.</a:t>
            </a:r>
          </a:p>
          <a:p>
            <a:endParaRPr dirty="0"/>
          </a:p>
          <a:p>
            <a:r>
              <a:rPr b="1" dirty="0"/>
              <a:t>WHY:</a:t>
            </a:r>
          </a:p>
          <a:p>
            <a:r>
              <a:rPr dirty="0"/>
              <a:t>Even themes that sound like emergencies contain many tweets that are not real ones. </a:t>
            </a:r>
            <a:endParaRPr lang="en-IN" dirty="0"/>
          </a:p>
          <a:p>
            <a:r>
              <a:rPr dirty="0"/>
              <a:t>About half of the Fire and Wildfire tweets are not real emergencies, and that is the project's central problem in a second form: a topic or a word does not settle whether a tweet is a genuine report. </a:t>
            </a:r>
            <a:endParaRPr lang="en-IN" dirty="0"/>
          </a:p>
          <a:p>
            <a:r>
              <a:rPr dirty="0"/>
              <a:t>It also anticipates the figurative-language weakness found later, where words like "fire" and "flood" fooled the model.</a:t>
            </a:r>
          </a:p>
          <a:p>
            <a:r>
              <a:rPr lang="en-IN" dirty="0"/>
              <a:t>T</a:t>
            </a:r>
            <a:r>
              <a:rPr dirty="0"/>
              <a:t>he themes are rule-based, built from keyword and text matching. They are analytical groupings, not independently verified labels, so read the percentages as a guide to the data and not as ground truth.</a:t>
            </a:r>
          </a:p>
          <a:p>
            <a:endParaRPr dirty="0"/>
          </a:p>
          <a:p>
            <a:r>
              <a:rPr b="1" dirty="0"/>
              <a:t>IN PLAIN WORDS:</a:t>
            </a:r>
          </a:p>
          <a:p>
            <a:r>
              <a:rPr dirty="0"/>
              <a:t>Every bar is split at 100%. </a:t>
            </a:r>
            <a:endParaRPr lang="en-IN" dirty="0"/>
          </a:p>
          <a:p>
            <a:r>
              <a:rPr dirty="0"/>
              <a:t>The </a:t>
            </a:r>
            <a:r>
              <a:rPr lang="en-IN" dirty="0"/>
              <a:t>orange-red</a:t>
            </a:r>
            <a:r>
              <a:rPr dirty="0"/>
              <a:t> part is the share of that theme's tweets that are real disasters and the blue part is the share that are not. If a theme were a reliable sign of a real emergency, the bar would be almost all red.</a:t>
            </a:r>
          </a:p>
          <a:p>
            <a:endParaRPr dirty="0"/>
          </a:p>
          <a:p>
            <a:r>
              <a:rPr b="1" dirty="0"/>
              <a:t>HOW:</a:t>
            </a:r>
          </a:p>
          <a:p>
            <a:r>
              <a:rPr dirty="0"/>
              <a:t>The share is the percentage of tweets in each theme whose target is 1, computed on the 7,490 cleaned tweets. </a:t>
            </a:r>
            <a:endParaRPr lang="en-IN" dirty="0"/>
          </a:p>
          <a:p>
            <a:r>
              <a:rPr dirty="0"/>
              <a:t>Themes come from the cleaned keyword, with a text-based fallback when the keyword is unknown.</a:t>
            </a:r>
          </a:p>
          <a:p>
            <a:endParaRPr dirty="0"/>
          </a:p>
          <a:p>
            <a:r>
              <a:rPr b="1" i="1" dirty="0"/>
              <a:t>ALSO, IN THE NOTEBOOK (not shown on this slide):</a:t>
            </a:r>
          </a:p>
          <a:p>
            <a:r>
              <a:rPr dirty="0"/>
              <a:t>The disaster-type frequency chart (the middle themes each hold about 8 to 9% of the data, while Earthquake and Seismic Events holds 2.00% and Volcanic Activity 0.80%).</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WHAT:</a:t>
            </a:r>
          </a:p>
          <a:p>
            <a:r>
              <a:rPr dirty="0"/>
              <a:t>Individually, no engineered feature separates the classes. </a:t>
            </a:r>
            <a:endParaRPr lang="en-IN" dirty="0"/>
          </a:p>
          <a:p>
            <a:r>
              <a:rPr dirty="0"/>
              <a:t>The strongest correlation with the target is sentiment compound at only -0.229; the strongest positive is URL count at 0.202. </a:t>
            </a:r>
            <a:endParaRPr lang="en-IN" dirty="0"/>
          </a:p>
          <a:p>
            <a:r>
              <a:rPr dirty="0"/>
              <a:t>The two classes also overlap heavily in the sentiment-versus-length scatter.</a:t>
            </a:r>
          </a:p>
          <a:p>
            <a:r>
              <a:rPr b="1" dirty="0"/>
              <a:t>Frequent word combinations do show real structure: </a:t>
            </a:r>
            <a:r>
              <a:rPr dirty="0"/>
              <a:t>among disaster tweets, "suicide bomber" (55), "northern </a:t>
            </a:r>
            <a:r>
              <a:rPr dirty="0" err="1"/>
              <a:t>california</a:t>
            </a:r>
            <a:r>
              <a:rPr dirty="0"/>
              <a:t>" (41), "oil spill" (38) and "</a:t>
            </a:r>
            <a:r>
              <a:rPr dirty="0" err="1"/>
              <a:t>california</a:t>
            </a:r>
            <a:r>
              <a:rPr dirty="0"/>
              <a:t> wildfire" (35); among non-disaster tweets, "body bag" (49), "cross body" (39), "liked video" (34) and "look like" (32).</a:t>
            </a:r>
          </a:p>
          <a:p>
            <a:endParaRPr dirty="0"/>
          </a:p>
          <a:p>
            <a:r>
              <a:rPr b="1" dirty="0"/>
              <a:t>WHY:</a:t>
            </a:r>
          </a:p>
          <a:p>
            <a:r>
              <a:rPr dirty="0"/>
              <a:t>This is the argument for the fuller language pipeline. </a:t>
            </a:r>
            <a:endParaRPr lang="en-IN" dirty="0"/>
          </a:p>
          <a:p>
            <a:r>
              <a:rPr dirty="0"/>
              <a:t>If a handful of scalar features were enough, a text model would not be needed. </a:t>
            </a:r>
            <a:endParaRPr lang="en-IN" dirty="0"/>
          </a:p>
          <a:p>
            <a:r>
              <a:rPr dirty="0"/>
              <a:t>They are not, and the n-grams show that meaning lives in word combinations and context ("body bag" and "cross body" are fashion items, not casualties).</a:t>
            </a:r>
          </a:p>
          <a:p>
            <a:endParaRPr dirty="0"/>
          </a:p>
          <a:p>
            <a:r>
              <a:rPr b="1" dirty="0"/>
              <a:t>IN PLAIN WORDS:</a:t>
            </a:r>
          </a:p>
          <a:p>
            <a:r>
              <a:rPr dirty="0"/>
              <a:t>A correlation is a number from -1 to +1 that says how closely a feature moves with the target. </a:t>
            </a:r>
            <a:endParaRPr lang="en-IN" dirty="0"/>
          </a:p>
          <a:p>
            <a:r>
              <a:rPr dirty="0"/>
              <a:t>Near 0 means little relationship, and +1 or -1 means a perfect one. </a:t>
            </a:r>
            <a:endParaRPr lang="en-IN" dirty="0"/>
          </a:p>
          <a:p>
            <a:r>
              <a:rPr dirty="0"/>
              <a:t>Every feature here sits between about -0.23 and +0.20, so none of them is a strong signal on its own. </a:t>
            </a:r>
            <a:endParaRPr lang="en-IN" dirty="0"/>
          </a:p>
          <a:p>
            <a:r>
              <a:rPr dirty="0"/>
              <a:t>An n-gram is a run of neighbouring words: a bigram has two and a trigram has three.</a:t>
            </a:r>
          </a:p>
          <a:p>
            <a:endParaRPr dirty="0"/>
          </a:p>
          <a:p>
            <a:r>
              <a:rPr b="1" dirty="0"/>
              <a:t>HOW:</a:t>
            </a:r>
          </a:p>
          <a:p>
            <a:r>
              <a:rPr dirty="0"/>
              <a:t>The correlations come from the full correlation heatmap in the notebook, which covers all 13 numeric features and the target on the cleaned data after capping. </a:t>
            </a:r>
            <a:endParaRPr lang="en-IN" dirty="0"/>
          </a:p>
          <a:p>
            <a:r>
              <a:rPr dirty="0"/>
              <a:t>N-grams were counted per class on the cleaned text. </a:t>
            </a:r>
            <a:endParaRPr lang="en-IN" dirty="0"/>
          </a:p>
          <a:p>
            <a:r>
              <a:rPr dirty="0"/>
              <a:t>The slide shows the bigram panels (top row) of the notebook's n-gram figure; </a:t>
            </a:r>
            <a:r>
              <a:rPr lang="en-US" i="1" dirty="0"/>
              <a:t>the trigram panels are in the notebook</a:t>
            </a:r>
            <a:r>
              <a:rPr dirty="0"/>
              <a:t>.</a:t>
            </a:r>
          </a:p>
          <a:p>
            <a:r>
              <a:rPr dirty="0"/>
              <a:t>The </a:t>
            </a:r>
            <a:r>
              <a:rPr b="1" dirty="0"/>
              <a:t>0.838 </a:t>
            </a:r>
            <a:r>
              <a:rPr dirty="0"/>
              <a:t>card comes from the same heatmap: character count and word count are strongly correlated with each other because both measure length. </a:t>
            </a:r>
            <a:endParaRPr lang="en-IN" dirty="0"/>
          </a:p>
          <a:p>
            <a:r>
              <a:rPr dirty="0"/>
              <a:t>A few other pairs are also strongly related by construction: sentiment negative and sentiment compound (-0.758), sentiment positive and sentiment compound (0.675), and URL count and punctuation count (0.693), since URLs contain punctuation. None of this is a data problem; it is structurally expected.</a:t>
            </a:r>
          </a:p>
          <a:p>
            <a:endParaRPr dirty="0"/>
          </a:p>
          <a:p>
            <a:r>
              <a:rPr lang="en-US" b="1" i="1" dirty="0"/>
              <a:t>ALSO, IN THE NOTEBOOK (not shown on this slide):</a:t>
            </a:r>
            <a:endParaRPr b="1" i="1" dirty="0"/>
          </a:p>
          <a:p>
            <a:r>
              <a:rPr dirty="0"/>
              <a:t>The full correlation heatmap and the correlation-with-target table, the trigram panels (for example "northern California wildfire" 29 times, tied to a real 2017 wildfire event), the scatter plots, and the direction of each correlation, which agrees with the earlier comparisons (a more positive tone makes a real disaster less likely; more links, digits and characters make it more likely).</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WHAT:</a:t>
            </a:r>
          </a:p>
          <a:p>
            <a:r>
              <a:rPr dirty="0"/>
              <a:t>Six ways of turning tweets into numbers, plus keyword extraction. </a:t>
            </a:r>
            <a:endParaRPr lang="en-IN" dirty="0"/>
          </a:p>
          <a:p>
            <a:r>
              <a:rPr dirty="0"/>
              <a:t>Sparse representations count words (Bag of Words, TF-IDF, TF-IDF with word pairs). </a:t>
            </a:r>
            <a:endParaRPr lang="en-IN" dirty="0"/>
          </a:p>
          <a:p>
            <a:r>
              <a:rPr dirty="0"/>
              <a:t>Dense representations describe meaning with short number vectors (Word2Vec, </a:t>
            </a:r>
            <a:r>
              <a:rPr dirty="0" err="1"/>
              <a:t>GloVe</a:t>
            </a:r>
            <a:r>
              <a:rPr dirty="0"/>
              <a:t>, </a:t>
            </a:r>
            <a:r>
              <a:rPr dirty="0" err="1"/>
              <a:t>FastText</a:t>
            </a:r>
            <a:r>
              <a:rPr dirty="0"/>
              <a:t>). </a:t>
            </a:r>
            <a:endParaRPr lang="en-IN" dirty="0"/>
          </a:p>
          <a:p>
            <a:r>
              <a:rPr dirty="0"/>
              <a:t>YAKE adds extracted keywords, about 4.80 per tweet.</a:t>
            </a:r>
          </a:p>
          <a:p>
            <a:endParaRPr dirty="0"/>
          </a:p>
          <a:p>
            <a:r>
              <a:rPr b="1" dirty="0"/>
              <a:t>WHY:</a:t>
            </a:r>
          </a:p>
          <a:p>
            <a:r>
              <a:rPr dirty="0"/>
              <a:t>Different model families work best with different inputs, so each family was paired with a suitable representation, and no representation was crowned a winner at this stage.</a:t>
            </a:r>
          </a:p>
          <a:p>
            <a:endParaRPr dirty="0"/>
          </a:p>
          <a:p>
            <a:r>
              <a:rPr b="1" dirty="0"/>
              <a:t>HOW:</a:t>
            </a:r>
          </a:p>
          <a:p>
            <a:r>
              <a:rPr b="1" dirty="0"/>
              <a:t>Sizes: </a:t>
            </a:r>
            <a:r>
              <a:rPr dirty="0"/>
              <a:t>Bag of Words and TF-IDF are sparse matrices of about 5,000 features (4,761 in the training split), TF-IDF with n-grams uses 5,000 features including 1,651 word pairs, Word2Vec and </a:t>
            </a:r>
            <a:r>
              <a:rPr dirty="0" err="1"/>
              <a:t>FastText</a:t>
            </a:r>
            <a:r>
              <a:rPr dirty="0"/>
              <a:t> produce 100-dimensional tweet vectors from a vocabulary of 5,583 words trained on the training tweets only, and </a:t>
            </a:r>
            <a:r>
              <a:rPr dirty="0" err="1"/>
              <a:t>GloVe</a:t>
            </a:r>
            <a:r>
              <a:rPr dirty="0"/>
              <a:t> uses pretrained 25-dimensional Twitter vectors from a vocabulary of 1,193,514 words. </a:t>
            </a:r>
            <a:endParaRPr lang="en-IN" dirty="0"/>
          </a:p>
          <a:p>
            <a:r>
              <a:rPr dirty="0"/>
              <a:t>Tweet vectors are the average of word vectors. </a:t>
            </a:r>
            <a:endParaRPr lang="en-IN" dirty="0"/>
          </a:p>
          <a:p>
            <a:r>
              <a:rPr dirty="0"/>
              <a:t>After the split, every representation that learns from data was refitted on the training tweets only.</a:t>
            </a:r>
          </a:p>
          <a:p>
            <a:endParaRPr dirty="0"/>
          </a:p>
          <a:p>
            <a:r>
              <a:rPr b="1" dirty="0"/>
              <a:t>IN PLAIN WORDS:</a:t>
            </a:r>
          </a:p>
          <a:p>
            <a:r>
              <a:rPr dirty="0"/>
              <a:t>Bag of Words counts how many times each word appears. </a:t>
            </a:r>
            <a:endParaRPr lang="en-IN" dirty="0"/>
          </a:p>
          <a:p>
            <a:r>
              <a:rPr dirty="0"/>
              <a:t>TF-IDF does the same but gives less weight to words that appear in almost every tweet and more weight to distinctive ones. </a:t>
            </a:r>
            <a:endParaRPr lang="en-IN" dirty="0"/>
          </a:p>
          <a:p>
            <a:r>
              <a:rPr dirty="0"/>
              <a:t>Word2Vec, </a:t>
            </a:r>
            <a:r>
              <a:rPr dirty="0" err="1"/>
              <a:t>GloVe</a:t>
            </a:r>
            <a:r>
              <a:rPr dirty="0"/>
              <a:t> and </a:t>
            </a:r>
            <a:r>
              <a:rPr dirty="0" err="1"/>
              <a:t>FastText</a:t>
            </a:r>
            <a:r>
              <a:rPr dirty="0"/>
              <a:t> instead place each word in a numeric space where words used in similar contexts sit close together. </a:t>
            </a:r>
            <a:endParaRPr lang="en-IN" dirty="0"/>
          </a:p>
          <a:p>
            <a:r>
              <a:rPr dirty="0"/>
              <a:t>A tweet vector is the average of its word vectors.</a:t>
            </a:r>
          </a:p>
          <a:p>
            <a:endParaRPr dirty="0"/>
          </a:p>
          <a:p>
            <a:r>
              <a:rPr dirty="0"/>
              <a:t>Different model families like different inputs. </a:t>
            </a:r>
            <a:endParaRPr lang="en-IN" dirty="0"/>
          </a:p>
          <a:p>
            <a:r>
              <a:rPr dirty="0"/>
              <a:t>Linear models do well on sparse word counts, tree models can use dense vectors, and deep models learn their own representation. </a:t>
            </a:r>
            <a:endParaRPr lang="en-IN" dirty="0"/>
          </a:p>
          <a:p>
            <a:r>
              <a:rPr dirty="0"/>
              <a:t>Testing several lets the final comparison be about the whole pipeline and not just one lucky pairing.</a:t>
            </a:r>
          </a:p>
          <a:p>
            <a:endParaRPr dirty="0"/>
          </a:p>
          <a:p>
            <a:r>
              <a:rPr b="1" i="1" dirty="0"/>
              <a:t>ALSO, IN THE NOTEBOOK (not shown on this slide):</a:t>
            </a:r>
          </a:p>
          <a:p>
            <a:r>
              <a:rPr dirty="0"/>
              <a:t>Word-frequency analysis, the YAKE keyword tables, the shape table for every representation on train and test, and the note that </a:t>
            </a:r>
            <a:r>
              <a:rPr dirty="0" err="1"/>
              <a:t>GloVe</a:t>
            </a:r>
            <a:r>
              <a:rPr dirty="0"/>
              <a:t> is externally pretrained and so was not refitted on the project corpus.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lang="en-US" b="1" dirty="0"/>
              <a:t>WHAT:</a:t>
            </a:r>
          </a:p>
          <a:p>
            <a:r>
              <a:rPr lang="en-US" dirty="0"/>
              <a:t>Six model tiers; one winner from each is chosen by cross-validation on training data, and the two deep models by an internal validation split. </a:t>
            </a:r>
          </a:p>
          <a:p>
            <a:r>
              <a:rPr lang="en-US" dirty="0"/>
              <a:t>Six finalists go to the test set.</a:t>
            </a:r>
          </a:p>
          <a:p>
            <a:r>
              <a:rPr lang="en-IN" b="1" dirty="0"/>
              <a:t>The selection Accuracy values:</a:t>
            </a:r>
            <a:r>
              <a:rPr lang="en-US" b="1" dirty="0"/>
              <a:t> </a:t>
            </a:r>
          </a:p>
          <a:p>
            <a:r>
              <a:rPr lang="en-US" dirty="0"/>
              <a:t>1. Logistic Regression 0.8041 (the classical baseline, on TF-IDF word features alone); </a:t>
            </a:r>
          </a:p>
          <a:p>
            <a:r>
              <a:rPr lang="en-US" dirty="0"/>
              <a:t>2. </a:t>
            </a:r>
            <a:r>
              <a:rPr lang="en-US" dirty="0" err="1"/>
              <a:t>GloVe</a:t>
            </a:r>
            <a:r>
              <a:rPr lang="en-US" dirty="0"/>
              <a:t> + </a:t>
            </a:r>
            <a:r>
              <a:rPr lang="en-US" dirty="0" err="1"/>
              <a:t>LightGBM</a:t>
            </a:r>
            <a:r>
              <a:rPr lang="en-US" dirty="0"/>
              <a:t> 0.7981 (dense embeddings); </a:t>
            </a:r>
          </a:p>
          <a:p>
            <a:r>
              <a:rPr lang="en-US" dirty="0"/>
              <a:t>3. TF-IDF + Logistic Regression 0.8034 (feature-enhanced: the same TF-IDF text features plus the engineered features from the feature-engineering section); </a:t>
            </a:r>
          </a:p>
          <a:p>
            <a:r>
              <a:rPr lang="en-US" dirty="0"/>
              <a:t>4. TF-IDF + YAKE + Logistic Regression 0.7946; </a:t>
            </a:r>
          </a:p>
          <a:p>
            <a:r>
              <a:rPr lang="en-US" dirty="0"/>
              <a:t>5. </a:t>
            </a:r>
            <a:r>
              <a:rPr lang="en-US" dirty="0" err="1"/>
              <a:t>BiLSTM</a:t>
            </a:r>
            <a:r>
              <a:rPr lang="en-US" dirty="0"/>
              <a:t> 0.7931; </a:t>
            </a:r>
          </a:p>
          <a:p>
            <a:r>
              <a:rPr lang="en-US" dirty="0"/>
              <a:t>6. DistilBERT 0.8209.</a:t>
            </a:r>
          </a:p>
          <a:p>
            <a:endParaRPr lang="en-US" dirty="0"/>
          </a:p>
          <a:p>
            <a:r>
              <a:rPr lang="en-US" b="1" dirty="0"/>
              <a:t>WHY:</a:t>
            </a:r>
          </a:p>
          <a:p>
            <a:r>
              <a:rPr lang="en-US" dirty="0"/>
              <a:t>The selection rule was fixed before looking at results: </a:t>
            </a:r>
            <a:r>
              <a:rPr lang="en-US" b="1" dirty="0"/>
              <a:t>highest Accuracy, with F1 as the tie-breaker</a:t>
            </a:r>
            <a:r>
              <a:rPr lang="en-US" dirty="0"/>
              <a:t>. </a:t>
            </a:r>
          </a:p>
          <a:p>
            <a:r>
              <a:rPr lang="en-US" dirty="0"/>
              <a:t>That is why </a:t>
            </a:r>
            <a:r>
              <a:rPr lang="en-US" dirty="0" err="1"/>
              <a:t>GloVe</a:t>
            </a:r>
            <a:r>
              <a:rPr lang="en-US" dirty="0"/>
              <a:t> + Random Forest (the highest Precision in its tier) did not win its tier. </a:t>
            </a:r>
          </a:p>
          <a:p>
            <a:r>
              <a:rPr lang="en-US" dirty="0"/>
              <a:t>It also explains an honest negative result: adding the engineered features or the YAKE keywords did not beat plain TF-IDF on Accuracy.</a:t>
            </a:r>
          </a:p>
          <a:p>
            <a:endParaRPr lang="en-US" dirty="0"/>
          </a:p>
          <a:p>
            <a:r>
              <a:rPr lang="en-US" b="1" dirty="0"/>
              <a:t>HOW:</a:t>
            </a:r>
          </a:p>
          <a:p>
            <a:r>
              <a:rPr lang="en-US" dirty="0"/>
              <a:t>Within each tier the vectorizer sits inside the pipeline, so it is refit within every cross-validation fold on training data only. </a:t>
            </a:r>
          </a:p>
          <a:p>
            <a:r>
              <a:rPr lang="en-US" b="1" dirty="0"/>
              <a:t>Classical tier: </a:t>
            </a:r>
            <a:r>
              <a:rPr lang="en-US" dirty="0"/>
              <a:t>Logistic Regression, Linear SVM and Naive Bayes on TF-IDF. </a:t>
            </a:r>
          </a:p>
          <a:p>
            <a:r>
              <a:rPr lang="en-US" b="1" dirty="0"/>
              <a:t>Dense tier: </a:t>
            </a:r>
            <a:r>
              <a:rPr lang="en-US" dirty="0"/>
              <a:t>Random Forest and </a:t>
            </a:r>
            <a:r>
              <a:rPr lang="en-US" dirty="0" err="1"/>
              <a:t>LightGBM</a:t>
            </a:r>
            <a:r>
              <a:rPr lang="en-US" dirty="0"/>
              <a:t> on </a:t>
            </a:r>
            <a:r>
              <a:rPr lang="en-US" dirty="0" err="1"/>
              <a:t>GloVe</a:t>
            </a:r>
            <a:r>
              <a:rPr lang="en-US" dirty="0"/>
              <a:t>, Word2Vec and </a:t>
            </a:r>
            <a:r>
              <a:rPr lang="en-US" dirty="0" err="1"/>
              <a:t>FastText</a:t>
            </a:r>
            <a:r>
              <a:rPr lang="en-US" dirty="0"/>
              <a:t> vectors. </a:t>
            </a:r>
          </a:p>
          <a:p>
            <a:r>
              <a:rPr lang="en-US" dirty="0"/>
              <a:t>Note that the deep-model scores come from a single validation split, whereas the others are 5-fold averages, so the two groups are not directly comparable until the test set.</a:t>
            </a:r>
          </a:p>
          <a:p>
            <a:endParaRPr lang="en-US" dirty="0"/>
          </a:p>
          <a:p>
            <a:r>
              <a:rPr lang="en-US" b="1" i="1" dirty="0"/>
              <a:t>ALSO, IN THE NOTEBOOK (not shown on this slide):</a:t>
            </a:r>
          </a:p>
          <a:p>
            <a:r>
              <a:rPr lang="en-US" dirty="0"/>
              <a:t>Naive Bayes 0.8011 and Linear SVM 0.7810 (the SVM has the best Recall in its tier at 0.7199); the feature-enhanced result (Accuracy 0.7982 but Recall up from 0.6577 to 0.6921); the per-tier comparison charts; and the planned-models overview table.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WHAT:</a:t>
            </a:r>
          </a:p>
          <a:p>
            <a:r>
              <a:rPr dirty="0"/>
              <a:t>Both deep models learn quickly and then overfit. </a:t>
            </a:r>
            <a:endParaRPr lang="en-IN" dirty="0"/>
          </a:p>
          <a:p>
            <a:r>
              <a:rPr dirty="0"/>
              <a:t>Each peaked at </a:t>
            </a:r>
            <a:r>
              <a:rPr b="1" dirty="0"/>
              <a:t>epoch 2 </a:t>
            </a:r>
            <a:r>
              <a:rPr dirty="0"/>
              <a:t>and the best checkpoint was kept: </a:t>
            </a:r>
            <a:r>
              <a:rPr dirty="0" err="1"/>
              <a:t>BiLSTM</a:t>
            </a:r>
            <a:r>
              <a:rPr dirty="0"/>
              <a:t> validation Accuracy 0.7931, DistilBERT 0.8209 (F1 0.7785).</a:t>
            </a:r>
          </a:p>
          <a:p>
            <a:endParaRPr dirty="0"/>
          </a:p>
          <a:p>
            <a:r>
              <a:rPr b="1" dirty="0"/>
              <a:t>WHY:</a:t>
            </a:r>
          </a:p>
          <a:p>
            <a:r>
              <a:rPr dirty="0"/>
              <a:t>Training loss kept falling while validation loss rose, which is the standard overfitting signal. </a:t>
            </a:r>
            <a:endParaRPr lang="en-IN" dirty="0"/>
          </a:p>
          <a:p>
            <a:r>
              <a:rPr dirty="0" err="1"/>
              <a:t>DistilBERT's</a:t>
            </a:r>
            <a:r>
              <a:rPr dirty="0"/>
              <a:t> training loss fell from 0.4615 to 0.2163 over four epochs while its validation loss rose from 0.4160 to 0.7222. </a:t>
            </a:r>
            <a:endParaRPr lang="en-IN" dirty="0"/>
          </a:p>
          <a:p>
            <a:r>
              <a:rPr dirty="0"/>
              <a:t>So stopping early and keeping the best state was necessary, not a precaution.</a:t>
            </a:r>
          </a:p>
          <a:p>
            <a:r>
              <a:rPr dirty="0" err="1"/>
              <a:t>DistilBERT's</a:t>
            </a:r>
            <a:r>
              <a:rPr dirty="0"/>
              <a:t> best state was chosen by validation Accuracy, the project's primary metric, rather than by loss alone. </a:t>
            </a:r>
            <a:endParaRPr lang="en-IN" dirty="0"/>
          </a:p>
          <a:p>
            <a:r>
              <a:rPr dirty="0"/>
              <a:t>Its lowest validation loss came a little earlier (epoch 1), but Accuracy peaked at epoch 2.</a:t>
            </a:r>
          </a:p>
          <a:p>
            <a:endParaRPr dirty="0"/>
          </a:p>
          <a:p>
            <a:r>
              <a:rPr b="1" dirty="0"/>
              <a:t>HOW:</a:t>
            </a:r>
          </a:p>
          <a:p>
            <a:r>
              <a:rPr b="1" dirty="0" err="1"/>
              <a:t>BiLSTM</a:t>
            </a:r>
            <a:r>
              <a:rPr b="1" dirty="0"/>
              <a:t>: </a:t>
            </a:r>
            <a:r>
              <a:rPr dirty="0"/>
              <a:t>tokenizer fitted on training text only, padded sequences, early stopping on validation loss, resumable checkpointing. </a:t>
            </a:r>
            <a:endParaRPr lang="en-IN" dirty="0"/>
          </a:p>
          <a:p>
            <a:r>
              <a:rPr b="1" dirty="0"/>
              <a:t>DistilBERT: </a:t>
            </a:r>
            <a:r>
              <a:rPr dirty="0"/>
              <a:t>pretrained tokenizer, maximum length 128, early stopping on validation Accuracy.</a:t>
            </a:r>
            <a:endParaRPr lang="en-IN" dirty="0"/>
          </a:p>
          <a:p>
            <a:r>
              <a:rPr lang="en-IN" dirty="0"/>
              <a:t>A full DistilBERT training run on CPU is slow, so the weights are saved to Hugging Face and the notebook reloads them in seconds.</a:t>
            </a:r>
          </a:p>
          <a:p>
            <a:endParaRPr dirty="0"/>
          </a:p>
          <a:p>
            <a:r>
              <a:rPr b="1" dirty="0"/>
              <a:t>IN PLAIN WORDS:</a:t>
            </a:r>
          </a:p>
          <a:p>
            <a:r>
              <a:rPr dirty="0"/>
              <a:t>Overfitting is memorizing instead of learning. </a:t>
            </a:r>
            <a:endParaRPr lang="en-IN" dirty="0"/>
          </a:p>
          <a:p>
            <a:r>
              <a:rPr dirty="0"/>
              <a:t>Training loss keeps falling because the model is getting better at the tweets it has seen. </a:t>
            </a:r>
            <a:endParaRPr lang="en-IN" dirty="0"/>
          </a:p>
          <a:p>
            <a:r>
              <a:rPr dirty="0"/>
              <a:t>Validation loss rises because it is getting worse at tweets it has not seen. </a:t>
            </a:r>
            <a:endParaRPr lang="en-IN" dirty="0"/>
          </a:p>
          <a:p>
            <a:r>
              <a:rPr dirty="0"/>
              <a:t>The point where validation Accuracy is highest is where to stop, and that checkpoint is the one saved.</a:t>
            </a:r>
          </a:p>
          <a:p>
            <a:endParaRPr dirty="0"/>
          </a:p>
          <a:p>
            <a:r>
              <a:rPr b="1" dirty="0"/>
              <a:t>Why DistilBERT and not full BERT?</a:t>
            </a:r>
            <a:r>
              <a:rPr lang="en-IN" dirty="0"/>
              <a:t>:</a:t>
            </a:r>
            <a:endParaRPr dirty="0"/>
          </a:p>
          <a:p>
            <a:r>
              <a:rPr dirty="0"/>
              <a:t>DistilBERT is a smaller, faster version of BERT that keeps most of its language understanding.</a:t>
            </a:r>
            <a:endParaRPr lang="en-IN" dirty="0"/>
          </a:p>
          <a:p>
            <a:r>
              <a:rPr dirty="0"/>
              <a:t>It is far cheaper to train on a CPU and to serve in a dashboard, which suits a project of this size.</a:t>
            </a:r>
          </a:p>
          <a:p>
            <a:endParaRPr dirty="0"/>
          </a:p>
          <a:p>
            <a:r>
              <a:rPr b="1" i="1" dirty="0"/>
              <a:t>ALSO, IN THE NOTEBOOK (not shown on this slide):</a:t>
            </a:r>
          </a:p>
          <a:p>
            <a:r>
              <a:rPr dirty="0"/>
              <a:t>Epoch-by-epoch tables for both models (</a:t>
            </a:r>
            <a:r>
              <a:rPr dirty="0" err="1"/>
              <a:t>BiLSTM</a:t>
            </a:r>
            <a:r>
              <a:rPr dirty="0"/>
              <a:t> training accuracy climbs from 0.6248 to 0.9719 while validation Accuracy falls to 0.7753), the checkpoint logic, and the note that </a:t>
            </a:r>
            <a:r>
              <a:rPr dirty="0" err="1"/>
              <a:t>DistilBERT's</a:t>
            </a:r>
            <a:r>
              <a:rPr dirty="0"/>
              <a:t> probabilities look somewhat over-confident on its mistakes, so the dashboard describes them as model scores, not calibrated probabilities.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On the 1,498 held-out test tweets, DistilBERT is first on both the primary metric (Accuracy 0.8144) and the secondary one (F1 0.7718). </a:t>
            </a:r>
            <a:endParaRPr lang="en-IN" dirty="0"/>
          </a:p>
          <a:p>
            <a:r>
              <a:rPr dirty="0"/>
              <a:t>All six finalists are far above the 0.574 majority-class baseline.</a:t>
            </a:r>
          </a:p>
          <a:p>
            <a:endParaRPr lang="en-IN" b="1" dirty="0"/>
          </a:p>
          <a:p>
            <a:r>
              <a:rPr b="1" dirty="0"/>
              <a:t>Ranking by Accuracy: </a:t>
            </a:r>
            <a:r>
              <a:rPr dirty="0"/>
              <a:t>DistilBERT 0.8144; Logistic Regression 0.8044; TF-IDF + Logistic Regression 0.8044; TF-IDF + YAKE + Logistic Regression 0.7997; </a:t>
            </a:r>
            <a:r>
              <a:rPr dirty="0" err="1"/>
              <a:t>BiLSTM</a:t>
            </a:r>
            <a:r>
              <a:rPr dirty="0"/>
              <a:t> 0.7917; </a:t>
            </a:r>
            <a:r>
              <a:rPr dirty="0" err="1"/>
              <a:t>GloVe</a:t>
            </a:r>
            <a:r>
              <a:rPr dirty="0"/>
              <a:t> + </a:t>
            </a:r>
            <a:r>
              <a:rPr dirty="0" err="1"/>
              <a:t>LightGBM</a:t>
            </a:r>
            <a:r>
              <a:rPr dirty="0"/>
              <a:t> 0.7897.</a:t>
            </a:r>
          </a:p>
          <a:p>
            <a:endParaRPr dirty="0"/>
          </a:p>
          <a:p>
            <a:r>
              <a:rPr dirty="0"/>
              <a:t>Accuracy is the share of all tweets answered correctly. </a:t>
            </a:r>
            <a:endParaRPr lang="en-IN" dirty="0"/>
          </a:p>
          <a:p>
            <a:r>
              <a:rPr dirty="0"/>
              <a:t>F1 balances two questions: of the tweets called disasters, how many really were (Precision), and of the real disasters, how many were found (Recall). </a:t>
            </a:r>
            <a:endParaRPr lang="en-IN" dirty="0"/>
          </a:p>
          <a:p>
            <a:r>
              <a:rPr dirty="0"/>
              <a:t>The majority-class baseline of 0.574 is what you would score by always answering "not a disaster".</a:t>
            </a:r>
          </a:p>
          <a:p>
            <a:endParaRPr dirty="0"/>
          </a:p>
          <a:p>
            <a:r>
              <a:rPr b="1" dirty="0"/>
              <a:t>Is 81% good?:</a:t>
            </a:r>
          </a:p>
          <a:p>
            <a:r>
              <a:rPr dirty="0"/>
              <a:t>It is well above the 57% baseline, and all six finalists land within about 1.5 points of each other. </a:t>
            </a:r>
            <a:endParaRPr lang="en-IN" dirty="0"/>
          </a:p>
          <a:p>
            <a:r>
              <a:rPr dirty="0"/>
              <a:t>That is a typical result for this noisy, short-text</a:t>
            </a:r>
            <a:r>
              <a:rPr lang="en-IN" dirty="0"/>
              <a:t> dataset.</a:t>
            </a:r>
          </a:p>
          <a:p>
            <a:endParaRPr dirty="0"/>
          </a:p>
          <a:p>
            <a:r>
              <a:rPr b="1" i="1" dirty="0"/>
              <a:t>ALSO, IN THE NOTEBOOK (not shown on this slide):</a:t>
            </a:r>
          </a:p>
          <a:p>
            <a:r>
              <a:rPr dirty="0"/>
              <a:t>The full consolidated table: Precision DistilBERT 0.8103, Logistic Regression 0.8324, </a:t>
            </a:r>
            <a:r>
              <a:rPr dirty="0" err="1"/>
              <a:t>BiLSTM</a:t>
            </a:r>
            <a:r>
              <a:rPr dirty="0"/>
              <a:t> 0.8396 (highest); Recall 0.7367, 0.6771 and 0.6317; ROC AUC 0.8749 against 0.8618. Every finalist predicts fewer disaster tweets than the roughly 638 in the test set (480 to 580), meaning they are cautious rather than alarmist.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WHAT:</a:t>
            </a:r>
          </a:p>
          <a:p>
            <a:r>
              <a:rPr dirty="0"/>
              <a:t>Accuracy alone hides the trade-off between missed disasters and false alarms. </a:t>
            </a:r>
            <a:endParaRPr lang="en-IN" dirty="0"/>
          </a:p>
          <a:p>
            <a:r>
              <a:rPr b="1" dirty="0"/>
              <a:t>The confusion matrices show it directly</a:t>
            </a:r>
            <a:r>
              <a:rPr dirty="0"/>
              <a:t>: </a:t>
            </a:r>
            <a:endParaRPr lang="en-IN" dirty="0"/>
          </a:p>
          <a:p>
            <a:r>
              <a:rPr dirty="0"/>
              <a:t>DistilBERT correctly identifies 470 of the 638 real disaster tweets (73.7%) and misses 168, the fewest of any finalist. </a:t>
            </a:r>
            <a:endParaRPr lang="en-IN" dirty="0"/>
          </a:p>
          <a:p>
            <a:r>
              <a:rPr dirty="0"/>
              <a:t>Logistic Regression finds 432 and misses 206.</a:t>
            </a:r>
          </a:p>
          <a:p>
            <a:endParaRPr dirty="0"/>
          </a:p>
          <a:p>
            <a:r>
              <a:rPr b="1" dirty="0"/>
              <a:t>WHY:</a:t>
            </a:r>
          </a:p>
          <a:p>
            <a:r>
              <a:rPr dirty="0"/>
              <a:t>The gain has a cost. </a:t>
            </a:r>
            <a:endParaRPr lang="en-IN" dirty="0"/>
          </a:p>
          <a:p>
            <a:r>
              <a:rPr dirty="0"/>
              <a:t>DistilBERT raises 110 false alarms against 87 for Logistic Regression and 77 for the </a:t>
            </a:r>
            <a:r>
              <a:rPr dirty="0" err="1"/>
              <a:t>BiLSTM</a:t>
            </a:r>
            <a:r>
              <a:rPr dirty="0"/>
              <a:t>. Compared with Logistic Regression, it catches 38 more real disasters for 23 more false alarms. </a:t>
            </a:r>
            <a:endParaRPr lang="en-IN" dirty="0"/>
          </a:p>
          <a:p>
            <a:r>
              <a:rPr dirty="0"/>
              <a:t>For disaster monitoring, a missed event usually costs more than a false alert, which </a:t>
            </a:r>
            <a:r>
              <a:rPr dirty="0" err="1"/>
              <a:t>favours</a:t>
            </a:r>
            <a:r>
              <a:rPr dirty="0"/>
              <a:t> the higher-Recall model, although the extra false alarms add review work for a human.</a:t>
            </a:r>
          </a:p>
          <a:p>
            <a:endParaRPr dirty="0"/>
          </a:p>
          <a:p>
            <a:r>
              <a:rPr b="1" dirty="0"/>
              <a:t>HOW:</a:t>
            </a:r>
          </a:p>
          <a:p>
            <a:r>
              <a:rPr dirty="0"/>
              <a:t>The slide shows the DistilBERT and Logistic Regression confusion matrices, the two being compared; the other four matrices and the ROC and Precision-Recall curves are in the notebook, and their key numbers are the cards. </a:t>
            </a:r>
            <a:endParaRPr lang="en-IN" dirty="0"/>
          </a:p>
          <a:p>
            <a:r>
              <a:rPr dirty="0"/>
              <a:t>ROC AUC does not depend on the 0.5 threshold, so it checks whether </a:t>
            </a:r>
            <a:r>
              <a:rPr dirty="0" err="1"/>
              <a:t>DistilBERT's</a:t>
            </a:r>
            <a:r>
              <a:rPr dirty="0"/>
              <a:t> edge is just a threshold effect: it has the highest AUC (0.875 against 0.862 for Logistic Regression and 0.852 for the </a:t>
            </a:r>
            <a:r>
              <a:rPr dirty="0" err="1"/>
              <a:t>BiLSTM</a:t>
            </a:r>
            <a:r>
              <a:rPr dirty="0"/>
              <a:t>) and the highest Average Precision (0.863 against 0.853). </a:t>
            </a:r>
            <a:endParaRPr lang="en-IN" dirty="0"/>
          </a:p>
          <a:p>
            <a:r>
              <a:rPr dirty="0"/>
              <a:t>Precision-Recall curves separate the models most in the high-recall region.</a:t>
            </a:r>
          </a:p>
          <a:p>
            <a:endParaRPr dirty="0"/>
          </a:p>
          <a:p>
            <a:r>
              <a:rPr b="1" dirty="0"/>
              <a:t>FIGURES NOT SHOWN ON THIS SLIDE (all in the notebook):</a:t>
            </a:r>
          </a:p>
          <a:p>
            <a:r>
              <a:rPr dirty="0"/>
              <a:t>The notebook has all six, each with counts and row percentages (the share of each actual class). Tweets caught / missed / false alarms: DistilBERT 470 / 168 / 110; Logistic Regression 432 / 206 / 87; TF-IDF + Logistic Regression 432 / 206 / 87 (the same four counts as Logistic Regression); TF-IDF + YAKE + Logistic Regression 440 / 198 / 102; </a:t>
            </a:r>
            <a:r>
              <a:rPr dirty="0" err="1"/>
              <a:t>BiLSTM</a:t>
            </a:r>
            <a:r>
              <a:rPr dirty="0"/>
              <a:t> 403 / 235 / 77; </a:t>
            </a:r>
            <a:r>
              <a:rPr dirty="0" err="1"/>
              <a:t>GloVe</a:t>
            </a:r>
            <a:r>
              <a:rPr dirty="0"/>
              <a:t> + </a:t>
            </a:r>
            <a:r>
              <a:rPr dirty="0" err="1"/>
              <a:t>LightGBM</a:t>
            </a:r>
            <a:r>
              <a:rPr dirty="0"/>
              <a:t> 438 / 200 / 115. So DistilBERT misses the fewest real disasters, the </a:t>
            </a:r>
            <a:r>
              <a:rPr dirty="0" err="1"/>
              <a:t>BiLSTM</a:t>
            </a:r>
            <a:r>
              <a:rPr dirty="0"/>
              <a:t> raises the fewest false alarms but misses the most, and </a:t>
            </a:r>
            <a:r>
              <a:rPr dirty="0" err="1"/>
              <a:t>GloVe</a:t>
            </a:r>
            <a:r>
              <a:rPr dirty="0"/>
              <a:t> + </a:t>
            </a:r>
            <a:r>
              <a:rPr dirty="0" err="1"/>
              <a:t>LightGBM</a:t>
            </a:r>
            <a:r>
              <a:rPr dirty="0"/>
              <a:t> raises the most false alarms. </a:t>
            </a:r>
            <a:endParaRPr lang="en-IN" dirty="0"/>
          </a:p>
          <a:p>
            <a:r>
              <a:rPr dirty="0"/>
              <a:t>Every finalist misses more disasters than it falsely flags, meaning all of them are cautious rather than alarmist.</a:t>
            </a:r>
          </a:p>
          <a:p>
            <a:r>
              <a:rPr b="1" dirty="0"/>
              <a:t>The ROC curves </a:t>
            </a:r>
            <a:r>
              <a:rPr dirty="0"/>
              <a:t>compare the six finalists across every possible threshold. </a:t>
            </a:r>
            <a:endParaRPr lang="en-IN" dirty="0"/>
          </a:p>
          <a:p>
            <a:r>
              <a:rPr dirty="0"/>
              <a:t>The ROC AUC values are DistilBERT 0.8749, Logistic Regression 0.8618, TF-IDF + Logistic Regression 0.8618, TF-IDF + YAKE + Logistic Regression 0.8568, </a:t>
            </a:r>
            <a:r>
              <a:rPr dirty="0" err="1"/>
              <a:t>GloVe</a:t>
            </a:r>
            <a:r>
              <a:rPr dirty="0"/>
              <a:t> + </a:t>
            </a:r>
            <a:r>
              <a:rPr dirty="0" err="1"/>
              <a:t>LightGBM</a:t>
            </a:r>
            <a:r>
              <a:rPr dirty="0"/>
              <a:t> 0.8535 and </a:t>
            </a:r>
            <a:r>
              <a:rPr dirty="0" err="1"/>
              <a:t>BiLSTM</a:t>
            </a:r>
            <a:r>
              <a:rPr dirty="0"/>
              <a:t> 0.8525. </a:t>
            </a:r>
          </a:p>
          <a:p>
            <a:r>
              <a:rPr b="1" dirty="0"/>
              <a:t>The Precision-Recall curves </a:t>
            </a:r>
            <a:r>
              <a:rPr dirty="0"/>
              <a:t>show Precision falling as Recall rises, with a dotted no-skill baseline at 42.6% (the share of real disasters in the test set). </a:t>
            </a:r>
            <a:r>
              <a:rPr dirty="0" err="1"/>
              <a:t>DistilBERT's</a:t>
            </a:r>
            <a:r>
              <a:rPr dirty="0"/>
              <a:t> Average Precision is 0.863 against 0.853 for Logistic Regression, and the curves separate most in the high-recall region. </a:t>
            </a:r>
            <a:endParaRPr lang="en-IN" dirty="0"/>
          </a:p>
          <a:p>
            <a:r>
              <a:rPr dirty="0"/>
              <a:t>The Precision-Recall view is useful here because the classes are not balanced (42.6% disasters).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Recommendation: </a:t>
            </a:r>
            <a:endParaRPr lang="en-IN" b="1" dirty="0"/>
          </a:p>
          <a:p>
            <a:r>
              <a:rPr lang="en-IN" dirty="0"/>
              <a:t>U</a:t>
            </a:r>
            <a:r>
              <a:rPr dirty="0"/>
              <a:t>se DistilBERT as the model behind the dashboard, and keep Logistic Regression on TF-IDF as a simple, lightweight alternative. </a:t>
            </a:r>
            <a:endParaRPr lang="en-IN" dirty="0"/>
          </a:p>
          <a:p>
            <a:r>
              <a:rPr dirty="0"/>
              <a:t>The slide pairs the recommendation with the three checks of whether the lead can be trusted.</a:t>
            </a:r>
            <a:endParaRPr lang="en-IN" dirty="0"/>
          </a:p>
          <a:p>
            <a:endParaRPr dirty="0"/>
          </a:p>
          <a:p>
            <a:r>
              <a:rPr b="1" dirty="0"/>
              <a:t>Metrics (DistilBERT against Logistic Regression): </a:t>
            </a:r>
            <a:endParaRPr lang="en-IN" b="1" dirty="0"/>
          </a:p>
          <a:p>
            <a:r>
              <a:rPr lang="en-IN" dirty="0"/>
              <a:t>T</a:t>
            </a:r>
            <a:r>
              <a:rPr dirty="0"/>
              <a:t>est Accuracy 0.8144 against 0.8044; F1 0.7718 against 0.7468; Recall 73.7% against 67.7%; ROC AUC 0.875 against 0.862; false alarms 110 against 87. </a:t>
            </a:r>
            <a:endParaRPr lang="en-IN" dirty="0"/>
          </a:p>
          <a:p>
            <a:r>
              <a:rPr dirty="0"/>
              <a:t>DistilBERT finds 38 more of the 638 real disaster tweets for 23 more false alarms.</a:t>
            </a:r>
          </a:p>
          <a:p>
            <a:endParaRPr dirty="0"/>
          </a:p>
          <a:p>
            <a:r>
              <a:rPr b="1" dirty="0"/>
              <a:t>The three checks: </a:t>
            </a:r>
            <a:endParaRPr lang="en-IN" b="1" dirty="0"/>
          </a:p>
          <a:p>
            <a:r>
              <a:rPr dirty="0"/>
              <a:t>(1) Selection versus test: every finalist's test Accuracy is within 0.01 of its selection Accuracy, so selection did not overfit (Pass).</a:t>
            </a:r>
            <a:endParaRPr lang="en-IN" dirty="0"/>
          </a:p>
          <a:p>
            <a:r>
              <a:rPr dirty="0"/>
              <a:t>(2) Uncertainty: </a:t>
            </a:r>
            <a:r>
              <a:rPr dirty="0" err="1"/>
              <a:t>DistilBERT's</a:t>
            </a:r>
            <a:r>
              <a:rPr dirty="0"/>
              <a:t> Accuracy is 0.8144 with a 95% interval of [0.7937, 0.8344], and its lead over Logistic Regression has an interval of [-0.0053, +0.0260] that includes zero (Near-tie). </a:t>
            </a:r>
            <a:endParaRPr lang="en-IN" dirty="0"/>
          </a:p>
          <a:p>
            <a:r>
              <a:rPr dirty="0"/>
              <a:t>(3) Robustness: Accuracy falls by at most 0.014 under heavy noise (Pass). </a:t>
            </a:r>
            <a:endParaRPr lang="en-IN" dirty="0"/>
          </a:p>
          <a:p>
            <a:r>
              <a:rPr i="1" dirty="0"/>
              <a:t>The chart on the slide shows the Accuracy change under each noise setting against the tolerance line at -0.02.</a:t>
            </a:r>
          </a:p>
          <a:p>
            <a:endParaRPr dirty="0"/>
          </a:p>
          <a:p>
            <a:r>
              <a:rPr b="1" dirty="0"/>
              <a:t>The honest verdict is a near-tie, and the recommendation is worded to match. </a:t>
            </a:r>
            <a:endParaRPr lang="en-IN" b="1" dirty="0"/>
          </a:p>
          <a:p>
            <a:r>
              <a:rPr dirty="0"/>
              <a:t>DistilBERT is highest on Accuracy, F1, Recall, ROC AUC and Average Precision, and on the rule agreed in advance (highest test Accuracy, then F1) it wins. </a:t>
            </a:r>
            <a:endParaRPr lang="en-IN" dirty="0"/>
          </a:p>
          <a:p>
            <a:r>
              <a:rPr dirty="0"/>
              <a:t>It led in 90.8% of the paired resamples, which is suggestive but short of the conventional 95%, so the evidence that it is better than Logistic Regression on Accuracy is moderate, not conclusive. Reporting that is a strength.</a:t>
            </a:r>
          </a:p>
          <a:p>
            <a:endParaRPr dirty="0"/>
          </a:p>
          <a:p>
            <a:r>
              <a:rPr b="1" dirty="0"/>
              <a:t>The extra Recall is why DistilBERT is still preferred: </a:t>
            </a:r>
            <a:endParaRPr lang="en-IN" b="1" dirty="0"/>
          </a:p>
          <a:p>
            <a:r>
              <a:rPr lang="en-IN" dirty="0"/>
              <a:t>I</a:t>
            </a:r>
            <a:r>
              <a:rPr dirty="0"/>
              <a:t>n a monitoring setting a missed event usually costs more than a false alarm. </a:t>
            </a:r>
            <a:endParaRPr lang="en-IN" dirty="0"/>
          </a:p>
          <a:p>
            <a:r>
              <a:rPr dirty="0"/>
              <a:t>The trade-offs: the Accuracy lead is small (+0.0100), it raises 23 more false alarms, and it is a larger model (about 268 MB, the size of the weights file on Hugging Face) that is slower to load. </a:t>
            </a:r>
            <a:endParaRPr lang="en-IN" dirty="0"/>
          </a:p>
          <a:p>
            <a:r>
              <a:rPr dirty="0"/>
              <a:t>If speed, size or cost matter more than the extra Recall, Logistic Regression is a reasonable choice: Accuracy 0.8044, 87 false alarms, and it runs almost instantly.</a:t>
            </a:r>
          </a:p>
          <a:p>
            <a:endParaRPr dirty="0"/>
          </a:p>
          <a:p>
            <a:r>
              <a:rPr dirty="0"/>
              <a:t>A bootstrap re-draws the 1,498 test tweets with replacement 2,000 times and recomputes the score each time. </a:t>
            </a:r>
            <a:endParaRPr lang="en-IN" dirty="0"/>
          </a:p>
          <a:p>
            <a:r>
              <a:rPr dirty="0"/>
              <a:t>The spread of those scores shows how much luck is in the number. </a:t>
            </a:r>
            <a:endParaRPr lang="en-IN" dirty="0"/>
          </a:p>
          <a:p>
            <a:r>
              <a:rPr dirty="0"/>
              <a:t>"Interval includes zero" means that on some resamples the other model is just as good or better, so the gap is not proven. </a:t>
            </a:r>
            <a:endParaRPr lang="en-IN" dirty="0"/>
          </a:p>
          <a:p>
            <a:r>
              <a:rPr dirty="0"/>
              <a:t>The noise test asks a different question: if some words are mistyped or missing, does the score collapse? </a:t>
            </a:r>
            <a:endParaRPr lang="en-IN" dirty="0"/>
          </a:p>
          <a:p>
            <a:r>
              <a:rPr dirty="0"/>
              <a:t>It does not; it drops by about one percentage point at most.</a:t>
            </a:r>
          </a:p>
          <a:p>
            <a:endParaRPr dirty="0"/>
          </a:p>
          <a:p>
            <a:r>
              <a:rPr b="1" dirty="0"/>
              <a:t>So is DistilBERT better or not?:</a:t>
            </a:r>
          </a:p>
          <a:p>
            <a:r>
              <a:rPr dirty="0"/>
              <a:t>It is the highest-scoring model, and it catches more real disasters, but the Accuracy lead is not statistically conclusive. </a:t>
            </a:r>
            <a:endParaRPr lang="en-IN" dirty="0"/>
          </a:p>
          <a:p>
            <a:r>
              <a:rPr dirty="0"/>
              <a:t>The honest wording is "best on the agreed rule, near-tie with Logistic Regression on Accuracy".</a:t>
            </a:r>
          </a:p>
          <a:p>
            <a:endParaRPr dirty="0"/>
          </a:p>
          <a:p>
            <a:r>
              <a:rPr b="1" i="1" dirty="0"/>
              <a:t>ALSO, IN THE NOTEBOOK (not shown on this slide):</a:t>
            </a:r>
          </a:p>
          <a:p>
            <a:r>
              <a:rPr dirty="0"/>
              <a:t>The two bootstrap charts: a histogram of </a:t>
            </a:r>
            <a:r>
              <a:rPr dirty="0" err="1"/>
              <a:t>DistilBERT's</a:t>
            </a:r>
            <a:r>
              <a:rPr dirty="0"/>
              <a:t> Accuracy across the 2,000 resamples (centered near 0.81 to 0.82, with the 95% interval marked at 0.7937 and 0.8344), and a histogram of the Accuracy difference against Logistic Regression, whose spread straddles the zero line (the lead is positive in 90.8% of resamples). </a:t>
            </a:r>
            <a:endParaRPr lang="en-IN" dirty="0"/>
          </a:p>
          <a:p>
            <a:r>
              <a:rPr dirty="0"/>
              <a:t>Also the selection-versus-test table for all six finalists with Consistent flags; the loss-curve table (the validation loss rise after the kept epoch: 0.1464 for </a:t>
            </a:r>
            <a:r>
              <a:rPr dirty="0" err="1"/>
              <a:t>BiLSTM</a:t>
            </a:r>
            <a:r>
              <a:rPr dirty="0"/>
              <a:t> and 0.2163 for DistilBERT); the validation verdict table (Pass, Near-tie, Pass); the reasoning for dropping two perturbations (uppercasing and hashtag removal) that would not have tested anything; the winner declaration; the final comparison chart and consolidated table; and the serialization of the final evaluation bundle that the dashboard reads.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WHAT:</a:t>
            </a:r>
          </a:p>
          <a:p>
            <a:r>
              <a:rPr dirty="0"/>
              <a:t>Before building the dashboard the model was checked on the kinds of messages real users will type. Two findings.</a:t>
            </a:r>
          </a:p>
          <a:p>
            <a:r>
              <a:rPr b="1" dirty="0"/>
              <a:t>First, </a:t>
            </a:r>
            <a:r>
              <a:rPr dirty="0"/>
              <a:t>the "Not sure" band. Only 17 of 1,498 test tweets (1.1%) score between 45% and 55%. </a:t>
            </a:r>
            <a:endParaRPr lang="en-IN" dirty="0"/>
          </a:p>
          <a:p>
            <a:r>
              <a:rPr dirty="0"/>
              <a:t>Accuracy there is 0.4118, against 0.8190 outside it (1,481 tweets), so the dashboard shows "Not sure" instead of forcing a confident answer where the model is close to guessing. </a:t>
            </a:r>
            <a:endParaRPr lang="en-IN" dirty="0"/>
          </a:p>
          <a:p>
            <a:r>
              <a:rPr dirty="0"/>
              <a:t>This only changes how an answer is shown; the reported Accuracy is unchanged.</a:t>
            </a:r>
          </a:p>
          <a:p>
            <a:r>
              <a:rPr b="1" dirty="0"/>
              <a:t>Second, </a:t>
            </a:r>
            <a:r>
              <a:rPr dirty="0"/>
              <a:t>a known limitation. </a:t>
            </a:r>
            <a:endParaRPr lang="en-IN" dirty="0"/>
          </a:p>
          <a:p>
            <a:r>
              <a:rPr dirty="0"/>
              <a:t>A stress test of five hand-written sentences showed that the model handles genuine reports and similes well ("Wildfire spreading fast near the highway, evacuations ordered" 99%, "She danced like a fire" 18%, "The students dance performance rocked the atmosphere" 4%) but calls "The mob flood the residency gates for the protest" a disaster (99%). </a:t>
            </a:r>
            <a:endParaRPr lang="en-IN" dirty="0"/>
          </a:p>
          <a:p>
            <a:r>
              <a:rPr dirty="0"/>
              <a:t>The one-word message "FATALITY!" scored 54%. </a:t>
            </a:r>
            <a:endParaRPr lang="en-IN" dirty="0"/>
          </a:p>
          <a:p>
            <a:r>
              <a:rPr dirty="0"/>
              <a:t>At the 0.5 cut-off that is a Disaster answer, but it falls inside the "Not sure" band, so the dashboard would show "Not sure" for it.</a:t>
            </a:r>
          </a:p>
          <a:p>
            <a:endParaRPr dirty="0"/>
          </a:p>
          <a:p>
            <a:r>
              <a:rPr b="1" dirty="0"/>
              <a:t>WHY:</a:t>
            </a:r>
          </a:p>
          <a:p>
            <a:r>
              <a:rPr dirty="0"/>
              <a:t>In the training tweets, words such as "fire" and "flood" mostly appear in real reports, so the model learned them as signals. </a:t>
            </a:r>
            <a:endParaRPr lang="en-IN" dirty="0"/>
          </a:p>
          <a:p>
            <a:r>
              <a:rPr dirty="0"/>
              <a:t>It is a limit of the training data, not a deployment bug. </a:t>
            </a:r>
            <a:endParaRPr lang="en-IN" dirty="0"/>
          </a:p>
          <a:p>
            <a:r>
              <a:rPr dirty="0"/>
              <a:t>A trial tested whether removing common words was the cause: a second DistilBERT trained on lightly cleaned original text (keeping words like "on" and "the") reached validation Accuracy 0.8309 against 0.8209, a difference within the roughly 1.3 point noise of about 900 validation tweets, and it still called the mob sentence a disaster (92%).</a:t>
            </a:r>
            <a:endParaRPr lang="en-IN" dirty="0"/>
          </a:p>
          <a:p>
            <a:r>
              <a:rPr dirty="0"/>
              <a:t>It scored "FATALITY!" much lower (4% against 54%), but that is a single example. </a:t>
            </a:r>
            <a:endParaRPr lang="en-IN" dirty="0"/>
          </a:p>
          <a:p>
            <a:r>
              <a:rPr dirty="0"/>
              <a:t>So the trial was documented, not adopted: it did not remove the weakness, and adopting it would have meant re-running the whole evaluation.</a:t>
            </a:r>
          </a:p>
          <a:p>
            <a:endParaRPr dirty="0"/>
          </a:p>
          <a:p>
            <a:r>
              <a:rPr b="1" dirty="0"/>
              <a:t>IN PLAIN WORDS:</a:t>
            </a:r>
          </a:p>
          <a:p>
            <a:r>
              <a:rPr dirty="0"/>
              <a:t>The "Not sure" band works like a referee saying "too close to call". </a:t>
            </a:r>
            <a:endParaRPr lang="en-IN" dirty="0"/>
          </a:p>
          <a:p>
            <a:r>
              <a:rPr dirty="0"/>
              <a:t>When the model gives 45% to 55%, it is right only about 41% of the time, which is worse than a coin flip on this data, so the dashboard declines to give a confident verdict.</a:t>
            </a:r>
          </a:p>
          <a:p>
            <a:endParaRPr dirty="0"/>
          </a:p>
          <a:p>
            <a:r>
              <a:rPr b="1" dirty="0"/>
              <a:t>HOW:</a:t>
            </a:r>
          </a:p>
          <a:p>
            <a:r>
              <a:rPr dirty="0"/>
              <a:t>Band: tweets with a predicted disaster probability from 0.45 to 0.55, with Accuracy computed inside and outside it. </a:t>
            </a:r>
            <a:endParaRPr lang="en-IN" dirty="0"/>
          </a:p>
          <a:p>
            <a:r>
              <a:rPr dirty="0"/>
              <a:t>Stress test: five hand-written sentences run through the selected model, an illustration and not a score.</a:t>
            </a:r>
          </a:p>
          <a:p>
            <a:endParaRPr dirty="0"/>
          </a:p>
          <a:p>
            <a:r>
              <a:rPr b="1" i="1" dirty="0"/>
              <a:t>ALSO, IN THE NOTEBOOK (not shown on this slide):</a:t>
            </a:r>
          </a:p>
          <a:p>
            <a:r>
              <a:rPr dirty="0"/>
              <a:t>The full trial table, saved model against trial model: "The students dance performance rocked the atmosphere" 4% to 6%, "The mob flood the residency gates for the protest" 99% to 92%, "She danced like a fire" 18% to 7%, "Wildfire spreading fast near the highway, evacuations ordered" 99% to 100%, and "FATALITY!" 54% to 4%. </a:t>
            </a:r>
            <a:endParaRPr lang="en-IN" dirty="0"/>
          </a:p>
          <a:p>
            <a:r>
              <a:rPr dirty="0"/>
              <a:t>Very short messages are easy to over-read, which is why the dashboard shows a warning for them. </a:t>
            </a:r>
            <a:endParaRPr lang="en-IN"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The </a:t>
            </a:r>
            <a:r>
              <a:rPr b="1" dirty="0" err="1"/>
              <a:t>Streamlit</a:t>
            </a:r>
            <a:r>
              <a:rPr b="1" dirty="0"/>
              <a:t> dashboard: </a:t>
            </a:r>
            <a:endParaRPr lang="en-IN" b="1" dirty="0"/>
          </a:p>
          <a:p>
            <a:r>
              <a:rPr lang="en-IN" dirty="0"/>
              <a:t>S</a:t>
            </a:r>
            <a:r>
              <a:rPr dirty="0"/>
              <a:t>elect one of eight examples from a dropdown, or type an English message of up to 280 characters, and it answers Disaster report, Not a disaster or Not sure, with a likelihood bar and a plain-language explanation.</a:t>
            </a:r>
          </a:p>
          <a:p>
            <a:endParaRPr dirty="0"/>
          </a:p>
          <a:p>
            <a:r>
              <a:rPr b="1" dirty="0"/>
              <a:t>WHY:</a:t>
            </a:r>
          </a:p>
          <a:p>
            <a:r>
              <a:rPr dirty="0"/>
              <a:t>The audience </a:t>
            </a:r>
            <a:r>
              <a:rPr dirty="0" err="1"/>
              <a:t>i</a:t>
            </a:r>
            <a:r>
              <a:rPr lang="en-IN" dirty="0"/>
              <a:t>n most cases is a </a:t>
            </a:r>
            <a:r>
              <a:rPr dirty="0"/>
              <a:t>non-technical person, so the page uses plain words. </a:t>
            </a:r>
            <a:endParaRPr lang="en-IN" dirty="0"/>
          </a:p>
          <a:p>
            <a:r>
              <a:rPr dirty="0"/>
              <a:t>The sidebar explains the project, how to use it, what the three answers mean and how reliable it is ("correct about 81 times out of 100"), including the limitation on figures of speech. </a:t>
            </a:r>
            <a:endParaRPr lang="en-IN" dirty="0"/>
          </a:p>
          <a:p>
            <a:r>
              <a:rPr dirty="0"/>
              <a:t>The dropdown lists only the sentences, not the expected answers, so the user chooses freely and sees the result for themselves.</a:t>
            </a:r>
          </a:p>
          <a:p>
            <a:endParaRPr dirty="0"/>
          </a:p>
          <a:p>
            <a:r>
              <a:rPr b="1" dirty="0"/>
              <a:t>HOW:</a:t>
            </a:r>
          </a:p>
          <a:p>
            <a:r>
              <a:rPr dirty="0"/>
              <a:t>The dashboard loads the saved DistilBERT from the local folder or from Hugging Face, cleans the text with the same steps as the notebook, and reads the probability of the disaster class. </a:t>
            </a:r>
            <a:endParaRPr lang="en-IN" dirty="0"/>
          </a:p>
          <a:p>
            <a:r>
              <a:rPr dirty="0"/>
              <a:t>The "Not sure" band is 45% to 55%. </a:t>
            </a:r>
            <a:endParaRPr lang="en-IN" dirty="0"/>
          </a:p>
          <a:p>
            <a:r>
              <a:rPr dirty="0"/>
              <a:t>Selecting an example fills the box and runs the check at once; a typed message runs when the user presses Check message. </a:t>
            </a:r>
            <a:endParaRPr lang="en-IN" dirty="0"/>
          </a:p>
          <a:p>
            <a:r>
              <a:rPr dirty="0"/>
              <a:t>Built with </a:t>
            </a:r>
            <a:r>
              <a:rPr dirty="0" err="1"/>
              <a:t>Streamlit</a:t>
            </a:r>
            <a:r>
              <a:rPr dirty="0"/>
              <a:t> and CPU-only </a:t>
            </a:r>
            <a:r>
              <a:rPr dirty="0" err="1"/>
              <a:t>PyTorch</a:t>
            </a:r>
            <a:r>
              <a:rPr dirty="0"/>
              <a:t>.</a:t>
            </a:r>
          </a:p>
          <a:p>
            <a:endParaRPr dirty="0"/>
          </a:p>
          <a:p>
            <a:r>
              <a:rPr b="1" dirty="0"/>
              <a:t>ABOUT THE SCREENSHOTS:</a:t>
            </a:r>
          </a:p>
          <a:p>
            <a:r>
              <a:rPr b="1" dirty="0"/>
              <a:t>Large image: </a:t>
            </a:r>
            <a:r>
              <a:rPr dirty="0"/>
              <a:t>the page before any check, so the result area still says "Your result will appear here". </a:t>
            </a:r>
            <a:endParaRPr lang="en-IN" dirty="0"/>
          </a:p>
          <a:p>
            <a:r>
              <a:rPr dirty="0"/>
              <a:t>Left: the sidebar with About the project, How to use it and What the answers mean. </a:t>
            </a:r>
            <a:endParaRPr lang="en-IN" dirty="0"/>
          </a:p>
          <a:p>
            <a:r>
              <a:rPr dirty="0"/>
              <a:t>Centre: the header, the message box and the Check message button, with the example dropdown above the box. </a:t>
            </a:r>
            <a:endParaRPr lang="en-IN" dirty="0"/>
          </a:p>
          <a:p>
            <a:r>
              <a:rPr b="1" dirty="0"/>
              <a:t>Small image: </a:t>
            </a:r>
            <a:r>
              <a:rPr dirty="0"/>
              <a:t>the dropdown opened, showing the eight examples with no hint of the answer. </a:t>
            </a:r>
            <a:endParaRPr lang="en-IN" dirty="0"/>
          </a:p>
          <a:p>
            <a:r>
              <a:rPr i="1" dirty="0"/>
              <a:t>The footer reminds users that this is a learning project and not an official alert system.</a:t>
            </a:r>
          </a:p>
          <a:p>
            <a:endParaRPr dirty="0"/>
          </a:p>
          <a:p>
            <a:r>
              <a:rPr b="1" i="1" dirty="0"/>
              <a:t>ALSO, ON THE DASHBOARD (not shown on this slide):</a:t>
            </a:r>
          </a:p>
          <a:p>
            <a:r>
              <a:rPr dirty="0"/>
              <a:t>The "Recent checks" list of the last five messages with their percentages, the reliability warning shown for very short messages, and the lower part of the sidebar</a:t>
            </a:r>
            <a:r>
              <a:rPr lang="en-IN" dirty="0"/>
              <a:t>.</a:t>
            </a:r>
            <a:endParaRPr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Three examples picked from the dropdown show the three possible answers.</a:t>
            </a:r>
          </a:p>
          <a:p>
            <a:r>
              <a:rPr b="1" dirty="0"/>
              <a:t>Disaster</a:t>
            </a:r>
            <a:r>
              <a:rPr dirty="0"/>
              <a:t>: "Wildfire spreading fast near the highway, evacuations ordered" gives 99% and "Looks like a disaster report". </a:t>
            </a:r>
            <a:endParaRPr lang="en-IN" dirty="0"/>
          </a:p>
          <a:p>
            <a:r>
              <a:rPr b="1" dirty="0"/>
              <a:t>Not a disaster</a:t>
            </a:r>
            <a:r>
              <a:rPr dirty="0"/>
              <a:t>: "She danced like a fire" gives 18% and "Not a disaster report". </a:t>
            </a:r>
            <a:endParaRPr lang="en-IN" dirty="0"/>
          </a:p>
          <a:p>
            <a:r>
              <a:rPr b="1" dirty="0"/>
              <a:t>Not sure: </a:t>
            </a:r>
            <a:r>
              <a:rPr dirty="0"/>
              <a:t>"Ready for this storm" gives 49% and "Not sure", with a message to treat it as a coin-flip and check the original source, plus a warning that very short messages are less reliable.</a:t>
            </a:r>
          </a:p>
          <a:p>
            <a:endParaRPr dirty="0"/>
          </a:p>
          <a:p>
            <a:r>
              <a:rPr dirty="0"/>
              <a:t>Each example tests something different: a genuine report, a figure of speech the model handles, and a short ambiguous message that lands in the 45% to 55% band. </a:t>
            </a:r>
            <a:endParaRPr lang="en-IN" dirty="0"/>
          </a:p>
          <a:p>
            <a:r>
              <a:rPr dirty="0"/>
              <a:t>The third is also honest about the limits. </a:t>
            </a:r>
            <a:endParaRPr lang="en-IN" dirty="0"/>
          </a:p>
          <a:p>
            <a:r>
              <a:rPr dirty="0"/>
              <a:t>The dropdown shows only the sentence, not the answer, so the user is not told what to expect.</a:t>
            </a:r>
          </a:p>
          <a:p>
            <a:endParaRPr dirty="0"/>
          </a:p>
          <a:p>
            <a:r>
              <a:rPr b="1" dirty="0"/>
              <a:t>HOW:</a:t>
            </a:r>
          </a:p>
          <a:p>
            <a:r>
              <a:rPr dirty="0"/>
              <a:t>Select an example from the dropdown and the box fills and the check runs at once; or type your own message and press Check message. </a:t>
            </a:r>
            <a:endParaRPr lang="en-IN" dirty="0"/>
          </a:p>
          <a:p>
            <a:r>
              <a:rPr dirty="0"/>
              <a:t>The </a:t>
            </a:r>
            <a:r>
              <a:rPr dirty="0" err="1"/>
              <a:t>colour</a:t>
            </a:r>
            <a:r>
              <a:rPr dirty="0"/>
              <a:t> of the result card (red, teal, amber) matches the answer. </a:t>
            </a:r>
            <a:endParaRPr lang="en-IN" dirty="0"/>
          </a:p>
          <a:p>
            <a:r>
              <a:rPr dirty="0"/>
              <a:t>The screenshots show the Result panel; the selected sentence is repeated in the grey quote at its foot.</a:t>
            </a:r>
          </a:p>
          <a:p>
            <a:endParaRPr dirty="0"/>
          </a:p>
          <a:p>
            <a:r>
              <a:rPr b="1" i="1" dirty="0"/>
              <a:t>ALSO, ON THE DASHBOARD (not shown on this slide):</a:t>
            </a:r>
          </a:p>
          <a:p>
            <a:r>
              <a:rPr dirty="0"/>
              <a:t>The dropdown holds eight examples. </a:t>
            </a:r>
            <a:endParaRPr lang="en-IN" dirty="0"/>
          </a:p>
          <a:p>
            <a:r>
              <a:rPr dirty="0"/>
              <a:t>Disaster: the wildfire sentence (99%), "Flood waters rising in the city, rescue boats are on the way" (99%) and "Earthquake of magnitude 6.1 strikes off the coast, buildings collapsed" (99%). </a:t>
            </a:r>
            <a:endParaRPr lang="en-IN" dirty="0"/>
          </a:p>
          <a:p>
            <a:r>
              <a:rPr dirty="0"/>
              <a:t>Not a disaster: "The students dance performance rocked the atmosphere" (4%), "She danced like a fire" (18%) and "This new song is fire, I have it on repeat" (9%). </a:t>
            </a:r>
            <a:endParaRPr lang="en-IN" dirty="0"/>
          </a:p>
          <a:p>
            <a:r>
              <a:rPr dirty="0"/>
              <a:t>Not sure: "Ready for this storm" (49%) and the one-word "FATALITY!" (54%). </a:t>
            </a:r>
            <a:endParaRPr lang="en-IN" dirty="0"/>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Eight real challenges from the project, each with what it taught us.</a:t>
            </a:r>
            <a:r>
              <a:rPr lang="en-IN" dirty="0"/>
              <a:t>:</a:t>
            </a:r>
          </a:p>
          <a:p>
            <a:endParaRPr dirty="0"/>
          </a:p>
          <a:p>
            <a:r>
              <a:rPr dirty="0"/>
              <a:t>1. Duplicates hidden by an id. </a:t>
            </a:r>
            <a:endParaRPr lang="en-IN" dirty="0"/>
          </a:p>
          <a:p>
            <a:r>
              <a:rPr dirty="0"/>
              <a:t>The id column is different on every row, so a check across all columns finds nothing. </a:t>
            </a:r>
            <a:endParaRPr lang="en-IN" dirty="0"/>
          </a:p>
          <a:p>
            <a:r>
              <a:rPr dirty="0"/>
              <a:t>The cleaning section checks on content in three passes (52 exact duplicates, 18 texts with conflicting labels, then remaining repeats). </a:t>
            </a:r>
            <a:endParaRPr lang="en-IN" dirty="0"/>
          </a:p>
          <a:p>
            <a:r>
              <a:rPr dirty="0"/>
              <a:t>The dataset went from 7,613 to 7,490 tweets, 123 rows removed. </a:t>
            </a:r>
            <a:endParaRPr lang="en-IN" dirty="0"/>
          </a:p>
          <a:p>
            <a:r>
              <a:rPr b="1" dirty="0"/>
              <a:t>Learning:</a:t>
            </a:r>
            <a:r>
              <a:rPr dirty="0"/>
              <a:t> </a:t>
            </a:r>
            <a:r>
              <a:rPr i="1" dirty="0"/>
              <a:t>define duplicates by content, and clean before modelling.</a:t>
            </a:r>
          </a:p>
          <a:p>
            <a:endParaRPr dirty="0"/>
          </a:p>
          <a:p>
            <a:r>
              <a:rPr dirty="0"/>
              <a:t>2. A third of the locations missing. </a:t>
            </a:r>
            <a:endParaRPr lang="en-IN" dirty="0"/>
          </a:p>
          <a:p>
            <a:r>
              <a:rPr dirty="0"/>
              <a:t>2,476 tweets (33.06%) have no location. </a:t>
            </a:r>
            <a:endParaRPr lang="en-IN" dirty="0"/>
          </a:p>
          <a:p>
            <a:r>
              <a:rPr dirty="0"/>
              <a:t>Instead of leaving them empty, the notebook runs named-entity recognition (</a:t>
            </a:r>
            <a:r>
              <a:rPr dirty="0" err="1"/>
              <a:t>spaCy</a:t>
            </a:r>
            <a:r>
              <a:rPr dirty="0"/>
              <a:t>) on the tweet text and keeps only place-type results that are short and clean (at most three words, plain ASCII, no symbols such as # @ /). </a:t>
            </a:r>
            <a:endParaRPr lang="en-IN" dirty="0"/>
          </a:p>
          <a:p>
            <a:r>
              <a:rPr dirty="0"/>
              <a:t>This recovered 412 real place names; 2,064 stay "unknown", and a location_source column records which is which. </a:t>
            </a:r>
            <a:endParaRPr lang="en-IN" dirty="0"/>
          </a:p>
          <a:p>
            <a:r>
              <a:rPr b="1" dirty="0"/>
              <a:t>Learning:</a:t>
            </a:r>
            <a:r>
              <a:rPr dirty="0"/>
              <a:t> </a:t>
            </a:r>
            <a:r>
              <a:rPr i="1" dirty="0"/>
              <a:t>recover what can be recovered, and be honest about the rest.</a:t>
            </a:r>
          </a:p>
          <a:p>
            <a:endParaRPr dirty="0"/>
          </a:p>
          <a:p>
            <a:r>
              <a:rPr dirty="0"/>
              <a:t>3. Sentiment on cleaned text. </a:t>
            </a:r>
            <a:endParaRPr lang="en-IN" dirty="0"/>
          </a:p>
          <a:p>
            <a:r>
              <a:rPr dirty="0"/>
              <a:t>The sentiment tool (VADER) partly relies on punctuation and capital letters for tone, and our cleaning removes both. </a:t>
            </a:r>
            <a:endParaRPr lang="en-IN" dirty="0"/>
          </a:p>
          <a:p>
            <a:r>
              <a:rPr dirty="0"/>
              <a:t>So sentiment is scored on the raw tweet before cleaning, and the original text column is kept for that reason. </a:t>
            </a:r>
            <a:endParaRPr lang="en-IN" dirty="0"/>
          </a:p>
          <a:p>
            <a:r>
              <a:rPr b="1" dirty="0"/>
              <a:t>Learning: </a:t>
            </a:r>
            <a:r>
              <a:rPr i="1" dirty="0"/>
              <a:t>the order of steps changes the feature. Honest note: the notebook explains this choice but does not measure how different the scores would have been, so do not quote a number.</a:t>
            </a:r>
          </a:p>
          <a:p>
            <a:endParaRPr i="1" dirty="0"/>
          </a:p>
          <a:p>
            <a:r>
              <a:rPr dirty="0"/>
              <a:t>4. Leakage into the test set. </a:t>
            </a:r>
            <a:endParaRPr lang="en-IN" dirty="0"/>
          </a:p>
          <a:p>
            <a:r>
              <a:rPr dirty="0"/>
              <a:t>If vectorizers or encoders are fitted on all the data, the test tweets quietly influence the features. </a:t>
            </a:r>
            <a:endParaRPr lang="en-IN" dirty="0"/>
          </a:p>
          <a:p>
            <a:r>
              <a:rPr dirty="0"/>
              <a:t>The notebook splits first, refits every vectorizer and embedding on the training data only, drops id and the label columns from the features, and fits the categorical encoders on training only. </a:t>
            </a:r>
            <a:r>
              <a:rPr b="1" dirty="0"/>
              <a:t>Learning</a:t>
            </a:r>
            <a:r>
              <a:rPr dirty="0"/>
              <a:t>: </a:t>
            </a:r>
            <a:r>
              <a:rPr i="1" dirty="0"/>
              <a:t>split first, fit later.</a:t>
            </a:r>
          </a:p>
          <a:p>
            <a:endParaRPr dirty="0"/>
          </a:p>
          <a:p>
            <a:r>
              <a:rPr dirty="0"/>
              <a:t>5. Overfitting after epoch 2. </a:t>
            </a:r>
            <a:endParaRPr lang="en-IN" dirty="0"/>
          </a:p>
          <a:p>
            <a:r>
              <a:rPr dirty="0"/>
              <a:t>The </a:t>
            </a:r>
            <a:r>
              <a:rPr dirty="0" err="1"/>
              <a:t>BiLSTM's</a:t>
            </a:r>
            <a:r>
              <a:rPr dirty="0"/>
              <a:t> best epoch is also its lowest validation loss (0.4744), and its loss then rises. </a:t>
            </a:r>
            <a:endParaRPr lang="en-IN" dirty="0"/>
          </a:p>
          <a:p>
            <a:r>
              <a:rPr dirty="0" err="1"/>
              <a:t>DistilBERT's</a:t>
            </a:r>
            <a:r>
              <a:rPr dirty="0"/>
              <a:t> validation loss goes </a:t>
            </a:r>
            <a:r>
              <a:rPr lang="en-IN" dirty="0"/>
              <a:t>0.4160 (epoch 1), 0.5059 (epoch 2, the kept checkpoint), 0.6596 (epoch 3), 0.7222 (epoch 4).</a:t>
            </a:r>
            <a:r>
              <a:rPr dirty="0"/>
              <a:t>). </a:t>
            </a:r>
            <a:endParaRPr lang="en-IN" dirty="0"/>
          </a:p>
          <a:p>
            <a:r>
              <a:rPr b="1" dirty="0"/>
              <a:t>Learning: </a:t>
            </a:r>
            <a:r>
              <a:rPr i="1" dirty="0"/>
              <a:t>keep the best checkpoint by the primary metric (Accuracy), not the last epoch.</a:t>
            </a:r>
          </a:p>
          <a:p>
            <a:endParaRPr dirty="0"/>
          </a:p>
          <a:p>
            <a:r>
              <a:rPr dirty="0"/>
              <a:t>6. Slow CPU training. </a:t>
            </a:r>
            <a:endParaRPr lang="en-IN" dirty="0"/>
          </a:p>
          <a:p>
            <a:r>
              <a:rPr dirty="0"/>
              <a:t>The Colab GPU failed to </a:t>
            </a:r>
            <a:r>
              <a:rPr dirty="0" err="1"/>
              <a:t>initialise</a:t>
            </a:r>
            <a:r>
              <a:rPr dirty="0"/>
              <a:t>, so the notebook has a FORCE_CPU switch and DistilBERT trained on the CPU (batch size 8, no FP16). </a:t>
            </a:r>
            <a:endParaRPr lang="en-IN" dirty="0"/>
          </a:p>
          <a:p>
            <a:r>
              <a:rPr dirty="0"/>
              <a:t>The wait was long, and the model had to be saved properly once it finished. </a:t>
            </a:r>
            <a:endParaRPr lang="en-IN" dirty="0"/>
          </a:p>
          <a:p>
            <a:r>
              <a:rPr dirty="0"/>
              <a:t>Training now saves checkpoints, resumes from the last one if interrupted, backs the model up to Hugging Face when a token is available, and every later step reloads saved artifacts through the Local, Drive, GitHub cascade instead of retraining.</a:t>
            </a:r>
            <a:endParaRPr lang="en-IN" dirty="0"/>
          </a:p>
          <a:p>
            <a:r>
              <a:rPr b="1" dirty="0"/>
              <a:t>Result</a:t>
            </a:r>
            <a:r>
              <a:rPr dirty="0"/>
              <a:t>: </a:t>
            </a:r>
            <a:r>
              <a:rPr i="1" dirty="0"/>
              <a:t>the notebook can be rerun in seconds on CPU or GPU, and the saved model is what the dashboard loads. </a:t>
            </a:r>
            <a:endParaRPr lang="en-IN" i="1" dirty="0"/>
          </a:p>
          <a:p>
            <a:r>
              <a:rPr b="1" dirty="0"/>
              <a:t>Learning: </a:t>
            </a:r>
            <a:r>
              <a:rPr lang="en-US" i="1" dirty="0"/>
              <a:t>persist everything expensive, then reload. </a:t>
            </a:r>
          </a:p>
          <a:p>
            <a:endParaRPr dirty="0"/>
          </a:p>
          <a:p>
            <a:r>
              <a:rPr dirty="0"/>
              <a:t>7. Context beats keywords. </a:t>
            </a:r>
            <a:endParaRPr lang="en-IN" dirty="0"/>
          </a:p>
          <a:p>
            <a:r>
              <a:rPr dirty="0"/>
              <a:t>The most frequent bigram in the non-disaster class is "body bag", so disaster words alone do not decide the label. In the stress test, "The mob flood the residency gates for the protest" scores 99% as a disaster, while "She danced like a fire" (18%) and the students dance sentence (4%) are handled correctly. </a:t>
            </a:r>
            <a:endParaRPr lang="en-IN" dirty="0"/>
          </a:p>
          <a:p>
            <a:r>
              <a:rPr b="1" dirty="0"/>
              <a:t>Learning:</a:t>
            </a:r>
            <a:r>
              <a:rPr dirty="0"/>
              <a:t> </a:t>
            </a:r>
            <a:r>
              <a:rPr i="1" dirty="0"/>
              <a:t>it is a limit of the training data, so test it, document it and show it.</a:t>
            </a:r>
          </a:p>
          <a:p>
            <a:endParaRPr dirty="0"/>
          </a:p>
          <a:p>
            <a:r>
              <a:rPr dirty="0"/>
              <a:t>8. A near-tie.</a:t>
            </a:r>
            <a:endParaRPr lang="en-IN" dirty="0"/>
          </a:p>
          <a:p>
            <a:r>
              <a:rPr dirty="0"/>
              <a:t> </a:t>
            </a:r>
            <a:r>
              <a:rPr dirty="0" err="1"/>
              <a:t>DistilBERT's</a:t>
            </a:r>
            <a:r>
              <a:rPr dirty="0"/>
              <a:t> Accuracy lead over the runner-up is 0.0100 (about 15 of 1,498 test tweets). </a:t>
            </a:r>
            <a:endParaRPr lang="en-IN" dirty="0"/>
          </a:p>
          <a:p>
            <a:r>
              <a:rPr dirty="0"/>
              <a:t>The bootstrap interval for that lead is [-0.0053, +0.0260], which includes zero. </a:t>
            </a:r>
            <a:endParaRPr lang="en-IN" dirty="0"/>
          </a:p>
          <a:p>
            <a:r>
              <a:rPr b="1" dirty="0"/>
              <a:t>Learning</a:t>
            </a:r>
            <a:r>
              <a:rPr dirty="0"/>
              <a:t>:</a:t>
            </a:r>
            <a:r>
              <a:rPr i="1" dirty="0"/>
              <a:t> do not oversell a small lead; report the interval, and say the choice also rests on the other metrics and the cost of errors.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Conclusion: </a:t>
            </a:r>
            <a:endParaRPr lang="en-IN" b="1" dirty="0"/>
          </a:p>
          <a:p>
            <a:r>
              <a:rPr dirty="0"/>
              <a:t>DistilBERT is the best-performing model (test Accuracy 0.8144, F1 0.7718), by a margin small enough that Logistic Regression remains a reasonable alternative, with a documented weakness on figurative language. </a:t>
            </a:r>
            <a:endParaRPr lang="en-IN" dirty="0"/>
          </a:p>
          <a:p>
            <a:r>
              <a:rPr dirty="0"/>
              <a:t>Six model families were compared on the same held-out tweets, the winner was validated, and the dashboard says "Not sure" where the model is close to guessing.</a:t>
            </a:r>
          </a:p>
          <a:p>
            <a:endParaRPr b="1" dirty="0"/>
          </a:p>
          <a:p>
            <a:r>
              <a:rPr b="1" dirty="0"/>
              <a:t>Future scope</a:t>
            </a:r>
            <a:r>
              <a:rPr lang="en-IN" b="1" dirty="0"/>
              <a:t> :</a:t>
            </a:r>
          </a:p>
          <a:p>
            <a:r>
              <a:rPr dirty="0"/>
              <a:t>1. </a:t>
            </a:r>
            <a:r>
              <a:rPr b="1" dirty="0"/>
              <a:t>Handle figures of speech</a:t>
            </a:r>
            <a:r>
              <a:rPr dirty="0"/>
              <a:t>. Fixing this properly means adding labelled figurative examples to the training data. That is new data and outside this project's scope, so the project tests the weakness, documents it, shows it on the dashboard and lists it as future work. If added, the extra data must be clearly disclosed and the model re-tested on the same untouched test set.</a:t>
            </a:r>
          </a:p>
          <a:p>
            <a:r>
              <a:rPr dirty="0"/>
              <a:t>2. </a:t>
            </a:r>
            <a:r>
              <a:rPr b="1" dirty="0"/>
              <a:t>Docker and an API</a:t>
            </a:r>
            <a:r>
              <a:rPr dirty="0"/>
              <a:t>. The dashboard is deployed on </a:t>
            </a:r>
            <a:r>
              <a:rPr dirty="0" err="1"/>
              <a:t>Streamlit</a:t>
            </a:r>
            <a:r>
              <a:rPr dirty="0"/>
              <a:t> with the model weights on Hugging Face. A next step is to package the dashboard and model in a Docker container, so it runs the same on any server, and to expose the model through a REST API so other systems can call it without the dashboard.</a:t>
            </a:r>
          </a:p>
          <a:p>
            <a:r>
              <a:rPr dirty="0"/>
              <a:t>3. </a:t>
            </a:r>
            <a:r>
              <a:rPr b="1" dirty="0"/>
              <a:t>Live monitoring (business use</a:t>
            </a:r>
            <a:r>
              <a:rPr dirty="0"/>
              <a:t>). Connect the model to a live stream of public posts and alert an emergency-response or news team when disaster-like reports rise. This needs a data feed and an agreed alert rule, and the model's "Not sure" band would route uncertain posts to a human reviewer.</a:t>
            </a:r>
          </a:p>
          <a:p>
            <a:r>
              <a:rPr dirty="0"/>
              <a:t>4. </a:t>
            </a:r>
            <a:r>
              <a:rPr b="1" dirty="0"/>
              <a:t>Batch upload and map view</a:t>
            </a:r>
            <a:r>
              <a:rPr dirty="0"/>
              <a:t>. Upload a CSV of many messages at once and get a result for each. Where a place is available (the notebook recovers place names from the text), plot the reports on a map so responders see where messages cluster.</a:t>
            </a:r>
          </a:p>
          <a:p>
            <a:r>
              <a:rPr dirty="0"/>
              <a:t>5. </a:t>
            </a:r>
            <a:r>
              <a:rPr b="1" dirty="0"/>
              <a:t>Retrain and monitor</a:t>
            </a:r>
            <a:r>
              <a:rPr dirty="0"/>
              <a:t>. Language and events change, so the model should be refreshed with new labelled events and checked over time for drift, comparing fresh results with today's test results (Accuracy 0.8144). Refreshing is also the natural point to re-check the near-tie with several training seeds.</a:t>
            </a:r>
          </a:p>
          <a:p>
            <a:r>
              <a:rPr dirty="0"/>
              <a:t>6. </a:t>
            </a:r>
            <a:r>
              <a:rPr b="1" dirty="0"/>
              <a:t>More languages</a:t>
            </a:r>
            <a:r>
              <a:rPr dirty="0"/>
              <a:t>. The dashboard and model are English only; a multilingual model and multilingual labelled tweets would extend coverage to other regions.</a:t>
            </a:r>
          </a:p>
          <a:p>
            <a:endParaRPr dirty="0"/>
          </a:p>
          <a:p>
            <a:r>
              <a:rPr i="1" dirty="0"/>
              <a:t>Smaller dashboard idea</a:t>
            </a:r>
            <a:r>
              <a:rPr lang="en-IN" i="1" dirty="0"/>
              <a:t>: </a:t>
            </a:r>
            <a:r>
              <a:rPr i="1" dirty="0"/>
              <a:t>the one-word message "FATALITY!" scored 54%, inside the "Not sure" band, so single words are easy to over-read. A minimum-length warning would help.</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b="1" dirty="0"/>
              <a:t>The links are clickable: </a:t>
            </a:r>
            <a:endParaRPr lang="en-IN" b="1" dirty="0"/>
          </a:p>
          <a:p>
            <a:r>
              <a:rPr dirty="0"/>
              <a:t>GitHub (github.com/S-Yousuf-S/NHIS_Project7: notebook, shared utility module, dashboard, requirements files and README), the live dashboard (disaster-tweet-</a:t>
            </a:r>
            <a:r>
              <a:rPr dirty="0" err="1"/>
              <a:t>checker.streamlit.app</a:t>
            </a:r>
            <a:r>
              <a:rPr dirty="0"/>
              <a:t>) and the model weights on Hugging Face (</a:t>
            </a:r>
            <a:r>
              <a:rPr dirty="0" err="1"/>
              <a:t>ysakkaf</a:t>
            </a:r>
            <a:r>
              <a:rPr dirty="0"/>
              <a:t>/nhis-project7-distilbert, the selected model). </a:t>
            </a:r>
            <a:endParaRPr lang="en-IN" dirty="0"/>
          </a:p>
          <a:p>
            <a:r>
              <a:rPr dirty="0"/>
              <a:t>A second repository, </a:t>
            </a:r>
            <a:r>
              <a:rPr dirty="0" err="1"/>
              <a:t>ysakkaf</a:t>
            </a:r>
            <a:r>
              <a:rPr dirty="0"/>
              <a:t>/nhis-project7-distilbert-raw, holds the trial model that was documented but not adopted. </a:t>
            </a:r>
            <a:endParaRPr lang="en-IN" dirty="0"/>
          </a:p>
          <a:p>
            <a:r>
              <a:rPr dirty="0"/>
              <a:t>The dataset is twitter_disaster.csv (7,613 tweets), supplied with the project brief.</a:t>
            </a:r>
          </a:p>
          <a:p>
            <a:endParaRPr dirty="0"/>
          </a:p>
          <a:p>
            <a:r>
              <a:rPr dirty="0"/>
              <a:t>References (four, two with links): the </a:t>
            </a:r>
            <a:r>
              <a:rPr dirty="0" err="1"/>
              <a:t>GeeksforGeeks</a:t>
            </a:r>
            <a:r>
              <a:rPr dirty="0"/>
              <a:t> article on DistilBERT in NLP, which explains the model the project fine-tunes; Hutto and Gilbert (2014) for VADER, the sentiment scores; Campos et al. (2020) for YAKE, the keyword extraction; and Abhishek Jain, "Text Classification in NLP", on Medium, a general guide to text classification.</a:t>
            </a:r>
            <a:endParaRPr lang="en-IN" dirty="0"/>
          </a:p>
          <a:p>
            <a:endParaRPr dirty="0"/>
          </a:p>
          <a:p>
            <a:r>
              <a:rPr b="1" i="1" dirty="0"/>
              <a:t>APPENDIX SCREENSHOT: A MESSAGE TYPED BY THE USER</a:t>
            </a:r>
          </a:p>
          <a:p>
            <a:r>
              <a:rPr dirty="0"/>
              <a:t>Instead of choosing an example, the user typed "The Titanic ship sank in the ocean", which scores 98% and "Looks like a disaster report". The "Recent checks" list below the result keeps the last five messages with a </a:t>
            </a:r>
            <a:r>
              <a:rPr dirty="0" err="1"/>
              <a:t>coloured</a:t>
            </a:r>
            <a:r>
              <a:rPr dirty="0"/>
              <a:t> dot (red disaster, teal not a disaster, amber not sure) and the percentage: the Titanic sentence 98%, "I just saw the Titanic sink. What a great movie it was." 10%, "Ready for this storm" 49%, the students' dance performance 4% and the earthquake example 99%.</a:t>
            </a:r>
          </a:p>
          <a:p>
            <a:r>
              <a:rPr dirty="0"/>
              <a:t>The pair shows what the model actually reads. It judges the words in the message, not whether an event is happening now</a:t>
            </a:r>
            <a:r>
              <a:rPr lang="en-IN" dirty="0"/>
              <a:t>; </a:t>
            </a:r>
            <a:r>
              <a:rPr dirty="0"/>
              <a:t>a historical event written like news scores as a disaster, and the same event framed as a comment on a film scores low. It is two sentences, not a test, and should not be read as more than an illustration.</a:t>
            </a:r>
          </a:p>
          <a:p>
            <a:endParaRPr dirty="0"/>
          </a:p>
          <a:p>
            <a:r>
              <a:rPr b="1" dirty="0" err="1"/>
              <a:t>Licences</a:t>
            </a:r>
            <a:r>
              <a:rPr b="1" dirty="0"/>
              <a:t>: </a:t>
            </a:r>
            <a:r>
              <a:rPr dirty="0"/>
              <a:t>the project's code is MIT; DistilBERT is Apache 2.0; the pretrained </a:t>
            </a:r>
            <a:r>
              <a:rPr dirty="0" err="1"/>
              <a:t>GloVe</a:t>
            </a:r>
            <a:r>
              <a:rPr dirty="0"/>
              <a:t> Twitter vectors used in one experiment are published for public use. Tweets belong to their original authors.</a:t>
            </a:r>
          </a:p>
          <a:p>
            <a:endParaRPr lang="en-IN" dirty="0"/>
          </a:p>
          <a:p>
            <a:r>
              <a:rPr dirty="0"/>
              <a:t>Thank you.</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hyperlink" Target="https://disaster-tweet-checker.streamlit.app/" TargetMode="Externa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hyperlink" Target="https://www.geeksforgeeks.org/nlp/distilbert-in-natural-language-processing/" TargetMode="External"/><Relationship Id="rId3" Type="http://schemas.openxmlformats.org/officeDocument/2006/relationships/image" Target="../media/image1.png"/><Relationship Id="rId7" Type="http://schemas.openxmlformats.org/officeDocument/2006/relationships/hyperlink" Target="https://huggingface.co/ysakkaf/nhis-project7-distilbert"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s://disaster-tweet-checker.streamlit.app/" TargetMode="External"/><Relationship Id="rId5" Type="http://schemas.openxmlformats.org/officeDocument/2006/relationships/hyperlink" Target="https://github.com/S-Yousuf-S/NHIS_Project7" TargetMode="External"/><Relationship Id="rId4" Type="http://schemas.openxmlformats.org/officeDocument/2006/relationships/image" Target="../media/image17.png"/><Relationship Id="rId9" Type="http://schemas.openxmlformats.org/officeDocument/2006/relationships/hyperlink" Target="https://medium.com/@abhishekjainindore24/text-classification-in-nlp-1750118d59b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30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14305F"/>
              </a:gs>
              <a:gs pos="100000">
                <a:srgbClr val="1F6FDC"/>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804672" y="2711434"/>
            <a:ext cx="10515600" cy="794064"/>
          </a:xfrm>
          <a:prstGeom prst="rect">
            <a:avLst/>
          </a:prstGeom>
          <a:noFill/>
        </p:spPr>
        <p:txBody>
          <a:bodyPr wrap="square" lIns="45720" tIns="27432" rIns="45720" bIns="27432" anchor="t">
            <a:spAutoFit/>
          </a:bodyPr>
          <a:lstStyle/>
          <a:p>
            <a:pPr algn="ctr"/>
            <a:r>
              <a:rPr sz="4800" b="1" i="0" dirty="0">
                <a:solidFill>
                  <a:srgbClr val="FFFFFF"/>
                </a:solidFill>
                <a:latin typeface="Bahnschrift"/>
              </a:rPr>
              <a:t>DISASTER TWEET</a:t>
            </a:r>
            <a:r>
              <a:rPr lang="en-IN" sz="4800" b="1" i="0" dirty="0">
                <a:solidFill>
                  <a:srgbClr val="FFFFFF"/>
                </a:solidFill>
                <a:latin typeface="Bahnschrift"/>
              </a:rPr>
              <a:t> </a:t>
            </a:r>
            <a:r>
              <a:rPr sz="4800" b="1" i="0" dirty="0">
                <a:solidFill>
                  <a:srgbClr val="FFFFFF"/>
                </a:solidFill>
                <a:latin typeface="Bahnschrift"/>
              </a:rPr>
              <a:t>CLASSIFICATION</a:t>
            </a:r>
          </a:p>
        </p:txBody>
      </p:sp>
      <p:sp>
        <p:nvSpPr>
          <p:cNvPr id="5" name="TextBox 4"/>
          <p:cNvSpPr txBox="1"/>
          <p:nvPr/>
        </p:nvSpPr>
        <p:spPr>
          <a:xfrm>
            <a:off x="822960" y="3592241"/>
            <a:ext cx="10515600" cy="393954"/>
          </a:xfrm>
          <a:prstGeom prst="rect">
            <a:avLst/>
          </a:prstGeom>
          <a:noFill/>
        </p:spPr>
        <p:txBody>
          <a:bodyPr wrap="square" lIns="45720" tIns="27432" rIns="45720" bIns="27432" anchor="t">
            <a:spAutoFit/>
          </a:bodyPr>
          <a:lstStyle/>
          <a:p>
            <a:pPr algn="ctr"/>
            <a:r>
              <a:rPr sz="2200" b="0" i="1" dirty="0">
                <a:solidFill>
                  <a:srgbClr val="BEE3FF"/>
                </a:solidFill>
                <a:latin typeface="Segoe UI" panose="020B0502040204020203" pitchFamily="34" charset="0"/>
                <a:cs typeface="Segoe UI" panose="020B0502040204020203" pitchFamily="34" charset="0"/>
              </a:rPr>
              <a:t>Telling real emergency reports from everyday language</a:t>
            </a:r>
          </a:p>
        </p:txBody>
      </p:sp>
      <p:sp>
        <p:nvSpPr>
          <p:cNvPr id="7" name="Rectangle 6"/>
          <p:cNvSpPr/>
          <p:nvPr/>
        </p:nvSpPr>
        <p:spPr>
          <a:xfrm>
            <a:off x="5441172" y="5833675"/>
            <a:ext cx="146304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74047" y="5989810"/>
            <a:ext cx="2597289" cy="363176"/>
          </a:xfrm>
          <a:prstGeom prst="rect">
            <a:avLst/>
          </a:prstGeom>
          <a:noFill/>
        </p:spPr>
        <p:txBody>
          <a:bodyPr wrap="square" lIns="45720" tIns="27432" rIns="45720" bIns="27432" anchor="t">
            <a:spAutoFit/>
          </a:bodyPr>
          <a:lstStyle/>
          <a:p>
            <a:pPr algn="ctr"/>
            <a:r>
              <a:rPr sz="2000" b="1" i="0" dirty="0">
                <a:solidFill>
                  <a:srgbClr val="FFFFFF"/>
                </a:solidFill>
                <a:latin typeface="Bahnschrift" panose="020B0502040204020203" pitchFamily="34" charset="0"/>
              </a:rPr>
              <a:t>Yousuf S. R. Sakkaf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615"/>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Problem &amp; Dataset</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502920" y="1508760"/>
            <a:ext cx="2651760" cy="1143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1208" y="1636776"/>
            <a:ext cx="64008" cy="88696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554480"/>
            <a:ext cx="2377440" cy="571500"/>
          </a:xfrm>
          <a:prstGeom prst="rect">
            <a:avLst/>
          </a:prstGeom>
          <a:noFill/>
        </p:spPr>
        <p:txBody>
          <a:bodyPr wrap="square" lIns="45720" tIns="27432" rIns="45720" bIns="27432" anchor="b">
            <a:spAutoFit/>
          </a:bodyPr>
          <a:lstStyle/>
          <a:p>
            <a:pPr algn="l"/>
            <a:r>
              <a:rPr sz="3000" b="1" i="0" dirty="0">
                <a:solidFill>
                  <a:srgbClr val="1F6FDC"/>
                </a:solidFill>
                <a:latin typeface="Bahnschrift"/>
              </a:rPr>
              <a:t>7,613</a:t>
            </a:r>
          </a:p>
        </p:txBody>
      </p:sp>
      <p:sp>
        <p:nvSpPr>
          <p:cNvPr id="11" name="TextBox 10"/>
          <p:cNvSpPr txBox="1"/>
          <p:nvPr/>
        </p:nvSpPr>
        <p:spPr>
          <a:xfrm>
            <a:off x="685800" y="2103120"/>
            <a:ext cx="2377440" cy="525780"/>
          </a:xfrm>
          <a:prstGeom prst="rect">
            <a:avLst/>
          </a:prstGeom>
          <a:noFill/>
        </p:spPr>
        <p:txBody>
          <a:bodyPr wrap="square" lIns="45720" tIns="27432" rIns="45720" bIns="27432" anchor="t">
            <a:spAutoFit/>
          </a:bodyPr>
          <a:lstStyle/>
          <a:p>
            <a:pPr algn="l"/>
            <a:r>
              <a:rPr sz="1200" b="1" i="0" dirty="0">
                <a:solidFill>
                  <a:srgbClr val="14305F"/>
                </a:solidFill>
                <a:latin typeface="Segoe UI"/>
              </a:rPr>
              <a:t>Tweets collected</a:t>
            </a:r>
          </a:p>
          <a:p>
            <a:pPr algn="l"/>
            <a:r>
              <a:rPr sz="1050" b="0" i="0" dirty="0">
                <a:solidFill>
                  <a:srgbClr val="5B7194"/>
                </a:solidFill>
                <a:latin typeface="Segoe UI"/>
              </a:rPr>
              <a:t>5 columns: id, keyword, location, text, target</a:t>
            </a:r>
          </a:p>
        </p:txBody>
      </p:sp>
      <p:sp>
        <p:nvSpPr>
          <p:cNvPr id="12" name="Rounded Rectangle 11"/>
          <p:cNvSpPr/>
          <p:nvPr/>
        </p:nvSpPr>
        <p:spPr>
          <a:xfrm>
            <a:off x="3291840" y="1508760"/>
            <a:ext cx="2651760" cy="1143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10128" y="1636776"/>
            <a:ext cx="64008" cy="88696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0" y="1554480"/>
            <a:ext cx="2377440" cy="571500"/>
          </a:xfrm>
          <a:prstGeom prst="rect">
            <a:avLst/>
          </a:prstGeom>
          <a:noFill/>
        </p:spPr>
        <p:txBody>
          <a:bodyPr wrap="square" lIns="45720" tIns="27432" rIns="45720" bIns="27432" anchor="b">
            <a:spAutoFit/>
          </a:bodyPr>
          <a:lstStyle/>
          <a:p>
            <a:pPr algn="l"/>
            <a:r>
              <a:rPr sz="3000" b="1" i="0" dirty="0">
                <a:solidFill>
                  <a:srgbClr val="1F6FDC"/>
                </a:solidFill>
                <a:latin typeface="Bahnschrift"/>
              </a:rPr>
              <a:t>7,490</a:t>
            </a:r>
          </a:p>
        </p:txBody>
      </p:sp>
      <p:sp>
        <p:nvSpPr>
          <p:cNvPr id="15" name="TextBox 14"/>
          <p:cNvSpPr txBox="1"/>
          <p:nvPr/>
        </p:nvSpPr>
        <p:spPr>
          <a:xfrm>
            <a:off x="3474720" y="2103120"/>
            <a:ext cx="2377440" cy="525780"/>
          </a:xfrm>
          <a:prstGeom prst="rect">
            <a:avLst/>
          </a:prstGeom>
          <a:noFill/>
        </p:spPr>
        <p:txBody>
          <a:bodyPr wrap="square" lIns="45720" tIns="27432" rIns="45720" bIns="27432" anchor="t">
            <a:spAutoFit/>
          </a:bodyPr>
          <a:lstStyle/>
          <a:p>
            <a:pPr algn="l"/>
            <a:r>
              <a:rPr sz="1200" b="1" i="0" dirty="0">
                <a:solidFill>
                  <a:srgbClr val="14305F"/>
                </a:solidFill>
                <a:latin typeface="Segoe UI"/>
              </a:rPr>
              <a:t>After cleaning</a:t>
            </a:r>
          </a:p>
          <a:p>
            <a:pPr algn="l"/>
            <a:r>
              <a:rPr sz="1050" b="0" i="0" dirty="0">
                <a:solidFill>
                  <a:srgbClr val="5B7194"/>
                </a:solidFill>
                <a:latin typeface="Segoe UI"/>
              </a:rPr>
              <a:t>123 repeats &amp; conflicts removed</a:t>
            </a:r>
          </a:p>
        </p:txBody>
      </p:sp>
      <p:sp>
        <p:nvSpPr>
          <p:cNvPr id="16" name="Rounded Rectangle 15"/>
          <p:cNvSpPr/>
          <p:nvPr/>
        </p:nvSpPr>
        <p:spPr>
          <a:xfrm>
            <a:off x="502920" y="2788920"/>
            <a:ext cx="2651760" cy="1143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1208" y="2916936"/>
            <a:ext cx="64008" cy="886968"/>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2834639"/>
            <a:ext cx="2377440" cy="571500"/>
          </a:xfrm>
          <a:prstGeom prst="rect">
            <a:avLst/>
          </a:prstGeom>
          <a:noFill/>
        </p:spPr>
        <p:txBody>
          <a:bodyPr wrap="square" lIns="45720" tIns="27432" rIns="45720" bIns="27432" anchor="b">
            <a:spAutoFit/>
          </a:bodyPr>
          <a:lstStyle/>
          <a:p>
            <a:pPr algn="l"/>
            <a:r>
              <a:rPr sz="3000" b="1" i="0" dirty="0">
                <a:solidFill>
                  <a:srgbClr val="EF5B5B"/>
                </a:solidFill>
                <a:latin typeface="Bahnschrift"/>
              </a:rPr>
              <a:t>42.6%</a:t>
            </a:r>
          </a:p>
        </p:txBody>
      </p:sp>
      <p:sp>
        <p:nvSpPr>
          <p:cNvPr id="19" name="TextBox 18"/>
          <p:cNvSpPr txBox="1"/>
          <p:nvPr/>
        </p:nvSpPr>
        <p:spPr>
          <a:xfrm>
            <a:off x="685800" y="3383279"/>
            <a:ext cx="2377440" cy="525780"/>
          </a:xfrm>
          <a:prstGeom prst="rect">
            <a:avLst/>
          </a:prstGeom>
          <a:noFill/>
        </p:spPr>
        <p:txBody>
          <a:bodyPr wrap="square" lIns="45720" tIns="27432" rIns="45720" bIns="27432" anchor="t">
            <a:spAutoFit/>
          </a:bodyPr>
          <a:lstStyle/>
          <a:p>
            <a:pPr algn="l"/>
            <a:r>
              <a:rPr sz="1200" b="1" i="0" dirty="0">
                <a:solidFill>
                  <a:srgbClr val="14305F"/>
                </a:solidFill>
                <a:latin typeface="Segoe UI"/>
              </a:rPr>
              <a:t>Real disaster tweets</a:t>
            </a:r>
          </a:p>
          <a:p>
            <a:pPr algn="l"/>
            <a:r>
              <a:rPr sz="1050" b="0" i="0" dirty="0">
                <a:solidFill>
                  <a:srgbClr val="5B7194"/>
                </a:solidFill>
                <a:latin typeface="Segoe UI"/>
              </a:rPr>
              <a:t>3,191 of 7,490</a:t>
            </a:r>
          </a:p>
        </p:txBody>
      </p:sp>
      <p:sp>
        <p:nvSpPr>
          <p:cNvPr id="20" name="Rounded Rectangle 19"/>
          <p:cNvSpPr/>
          <p:nvPr/>
        </p:nvSpPr>
        <p:spPr>
          <a:xfrm>
            <a:off x="3291840" y="2788920"/>
            <a:ext cx="2651760" cy="1143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310128" y="2916936"/>
            <a:ext cx="64008" cy="88696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74720" y="2834639"/>
            <a:ext cx="2377440" cy="571500"/>
          </a:xfrm>
          <a:prstGeom prst="rect">
            <a:avLst/>
          </a:prstGeom>
          <a:noFill/>
        </p:spPr>
        <p:txBody>
          <a:bodyPr wrap="square" lIns="45720" tIns="27432" rIns="45720" bIns="27432" anchor="b">
            <a:spAutoFit/>
          </a:bodyPr>
          <a:lstStyle/>
          <a:p>
            <a:pPr algn="l"/>
            <a:r>
              <a:rPr sz="3000" b="1" i="0" dirty="0">
                <a:solidFill>
                  <a:srgbClr val="F5A623"/>
                </a:solidFill>
                <a:latin typeface="Bahnschrift"/>
              </a:rPr>
              <a:t>57.4%</a:t>
            </a:r>
          </a:p>
        </p:txBody>
      </p:sp>
      <p:sp>
        <p:nvSpPr>
          <p:cNvPr id="23" name="TextBox 22"/>
          <p:cNvSpPr txBox="1"/>
          <p:nvPr/>
        </p:nvSpPr>
        <p:spPr>
          <a:xfrm>
            <a:off x="3474720" y="3383279"/>
            <a:ext cx="2377440" cy="525780"/>
          </a:xfrm>
          <a:prstGeom prst="rect">
            <a:avLst/>
          </a:prstGeom>
          <a:noFill/>
        </p:spPr>
        <p:txBody>
          <a:bodyPr wrap="square" lIns="45720" tIns="27432" rIns="45720" bIns="27432" anchor="t">
            <a:spAutoFit/>
          </a:bodyPr>
          <a:lstStyle/>
          <a:p>
            <a:pPr algn="l"/>
            <a:r>
              <a:rPr sz="1200" b="1" i="0" dirty="0">
                <a:solidFill>
                  <a:srgbClr val="14305F"/>
                </a:solidFill>
                <a:latin typeface="Segoe UI"/>
              </a:rPr>
              <a:t>Majority-class baseline</a:t>
            </a:r>
          </a:p>
          <a:p>
            <a:pPr algn="l"/>
            <a:r>
              <a:rPr sz="1050" b="0" i="0" dirty="0">
                <a:solidFill>
                  <a:srgbClr val="5B7194"/>
                </a:solidFill>
                <a:latin typeface="Segoe UI"/>
              </a:rPr>
              <a:t>Always guessing "not a disaster"</a:t>
            </a:r>
          </a:p>
        </p:txBody>
      </p:sp>
      <p:sp>
        <p:nvSpPr>
          <p:cNvPr id="24" name="Rounded Rectangle 23"/>
          <p:cNvSpPr/>
          <p:nvPr/>
        </p:nvSpPr>
        <p:spPr>
          <a:xfrm>
            <a:off x="502920" y="4069080"/>
            <a:ext cx="5440680" cy="22402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21208" y="4197096"/>
            <a:ext cx="64008" cy="19842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4088" y="4707549"/>
            <a:ext cx="5120640" cy="963341"/>
          </a:xfrm>
          <a:prstGeom prst="rect">
            <a:avLst/>
          </a:prstGeom>
          <a:noFill/>
        </p:spPr>
        <p:txBody>
          <a:bodyPr wrap="square" lIns="45720" tIns="27432" rIns="45720" bIns="27432" anchor="ctr">
            <a:spAutoFit/>
          </a:bodyPr>
          <a:lstStyle/>
          <a:p>
            <a:pPr algn="l">
              <a:spcAft>
                <a:spcPts val="300"/>
              </a:spcAft>
            </a:pPr>
            <a:r>
              <a:rPr sz="1500" b="1" i="0" dirty="0">
                <a:solidFill>
                  <a:srgbClr val="14B8A6"/>
                </a:solidFill>
                <a:latin typeface="Bahnschrift"/>
              </a:rPr>
              <a:t>Why it is hard</a:t>
            </a:r>
          </a:p>
          <a:p>
            <a:pPr algn="l">
              <a:spcAft>
                <a:spcPts val="300"/>
              </a:spcAft>
            </a:pPr>
            <a:r>
              <a:rPr sz="1300" b="0" i="0" dirty="0">
                <a:solidFill>
                  <a:srgbClr val="14305F"/>
                </a:solidFill>
                <a:latin typeface="Segoe UI"/>
              </a:rPr>
              <a:t>"Fire", "flood" and "Armageddon" appear in jokes, songs and exaggeration as often as in real reports.</a:t>
            </a:r>
          </a:p>
          <a:p>
            <a:pPr algn="l">
              <a:spcAft>
                <a:spcPts val="300"/>
              </a:spcAft>
            </a:pPr>
            <a:r>
              <a:rPr sz="1300" b="0" i="0" dirty="0">
                <a:solidFill>
                  <a:srgbClr val="14305F"/>
                </a:solidFill>
                <a:latin typeface="Segoe UI"/>
              </a:rPr>
              <a:t>Any real model has to beat the 57.4% baseline by a clear margin.</a:t>
            </a:r>
          </a:p>
        </p:txBody>
      </p:sp>
      <p:sp>
        <p:nvSpPr>
          <p:cNvPr id="27" name="Rounded Rectangle 26"/>
          <p:cNvSpPr/>
          <p:nvPr/>
        </p:nvSpPr>
        <p:spPr>
          <a:xfrm>
            <a:off x="6172200" y="1508760"/>
            <a:ext cx="5532120" cy="48006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c58_crop.png"/>
          <p:cNvPicPr>
            <a:picLocks noChangeAspect="1"/>
          </p:cNvPicPr>
          <p:nvPr/>
        </p:nvPicPr>
        <p:blipFill>
          <a:blip r:embed="rId4"/>
          <a:stretch>
            <a:fillRect/>
          </a:stretch>
        </p:blipFill>
        <p:spPr>
          <a:xfrm>
            <a:off x="6245352" y="1697145"/>
            <a:ext cx="5385816" cy="44238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1735"/>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Analytical Framework</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502920" y="1600200"/>
            <a:ext cx="1737360" cy="21031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40080" y="1737360"/>
            <a:ext cx="566928" cy="566928"/>
          </a:xfrm>
          <a:prstGeom prst="ellipse">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737360"/>
            <a:ext cx="566928" cy="566928"/>
          </a:xfrm>
          <a:prstGeom prst="rect">
            <a:avLst/>
          </a:prstGeom>
          <a:noFill/>
        </p:spPr>
        <p:txBody>
          <a:bodyPr wrap="square" lIns="0" tIns="27432" rIns="0" bIns="27432" anchor="ctr">
            <a:spAutoFit/>
          </a:bodyPr>
          <a:lstStyle/>
          <a:p>
            <a:pPr algn="ctr"/>
            <a:r>
              <a:rPr sz="1700" b="1" i="0">
                <a:solidFill>
                  <a:srgbClr val="FFFFFF"/>
                </a:solidFill>
                <a:latin typeface="Bahnschrift"/>
              </a:rPr>
              <a:t>01</a:t>
            </a:r>
          </a:p>
        </p:txBody>
      </p:sp>
      <p:sp>
        <p:nvSpPr>
          <p:cNvPr id="11" name="TextBox 10"/>
          <p:cNvSpPr txBox="1"/>
          <p:nvPr/>
        </p:nvSpPr>
        <p:spPr>
          <a:xfrm>
            <a:off x="594360" y="2423160"/>
            <a:ext cx="1554480" cy="548640"/>
          </a:xfrm>
          <a:prstGeom prst="rect">
            <a:avLst/>
          </a:prstGeom>
          <a:noFill/>
        </p:spPr>
        <p:txBody>
          <a:bodyPr wrap="square" lIns="45720" tIns="27432" rIns="45720" bIns="27432" anchor="t">
            <a:spAutoFit/>
          </a:bodyPr>
          <a:lstStyle/>
          <a:p>
            <a:pPr algn="l"/>
            <a:r>
              <a:rPr sz="1700" b="1" i="0">
                <a:solidFill>
                  <a:srgbClr val="1F6FDC"/>
                </a:solidFill>
                <a:latin typeface="Bahnschrift"/>
              </a:rPr>
              <a:t>Clean</a:t>
            </a:r>
          </a:p>
        </p:txBody>
      </p:sp>
      <p:sp>
        <p:nvSpPr>
          <p:cNvPr id="12" name="TextBox 11"/>
          <p:cNvSpPr txBox="1"/>
          <p:nvPr/>
        </p:nvSpPr>
        <p:spPr>
          <a:xfrm>
            <a:off x="594360" y="2971800"/>
            <a:ext cx="1554480" cy="685800"/>
          </a:xfrm>
          <a:prstGeom prst="rect">
            <a:avLst/>
          </a:prstGeom>
          <a:noFill/>
        </p:spPr>
        <p:txBody>
          <a:bodyPr wrap="square" lIns="45720" tIns="27432" rIns="45720" bIns="27432" anchor="t">
            <a:spAutoFit/>
          </a:bodyPr>
          <a:lstStyle/>
          <a:p>
            <a:pPr algn="l"/>
            <a:r>
              <a:rPr sz="1200" b="0" i="0">
                <a:solidFill>
                  <a:srgbClr val="5B7194"/>
                </a:solidFill>
                <a:latin typeface="Segoe UI"/>
              </a:rPr>
              <a:t>Duplicates, labels, locations</a:t>
            </a:r>
          </a:p>
        </p:txBody>
      </p:sp>
      <p:sp>
        <p:nvSpPr>
          <p:cNvPr id="13" name="Rounded Rectangle 12"/>
          <p:cNvSpPr/>
          <p:nvPr/>
        </p:nvSpPr>
        <p:spPr>
          <a:xfrm>
            <a:off x="2368296" y="1600200"/>
            <a:ext cx="1737360" cy="21031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505456" y="1737360"/>
            <a:ext cx="566928" cy="566928"/>
          </a:xfrm>
          <a:prstGeom prst="ellipse">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05456" y="1737360"/>
            <a:ext cx="566928" cy="566928"/>
          </a:xfrm>
          <a:prstGeom prst="rect">
            <a:avLst/>
          </a:prstGeom>
          <a:noFill/>
        </p:spPr>
        <p:txBody>
          <a:bodyPr wrap="square" lIns="0" tIns="27432" rIns="0" bIns="27432" anchor="ctr">
            <a:spAutoFit/>
          </a:bodyPr>
          <a:lstStyle/>
          <a:p>
            <a:pPr algn="ctr"/>
            <a:r>
              <a:rPr sz="1700" b="1" i="0">
                <a:solidFill>
                  <a:srgbClr val="FFFFFF"/>
                </a:solidFill>
                <a:latin typeface="Bahnschrift"/>
              </a:rPr>
              <a:t>02</a:t>
            </a:r>
          </a:p>
        </p:txBody>
      </p:sp>
      <p:sp>
        <p:nvSpPr>
          <p:cNvPr id="16" name="TextBox 15"/>
          <p:cNvSpPr txBox="1"/>
          <p:nvPr/>
        </p:nvSpPr>
        <p:spPr>
          <a:xfrm>
            <a:off x="2459736" y="2423160"/>
            <a:ext cx="1554480" cy="548640"/>
          </a:xfrm>
          <a:prstGeom prst="rect">
            <a:avLst/>
          </a:prstGeom>
          <a:noFill/>
        </p:spPr>
        <p:txBody>
          <a:bodyPr wrap="square" lIns="45720" tIns="27432" rIns="45720" bIns="27432" anchor="t">
            <a:spAutoFit/>
          </a:bodyPr>
          <a:lstStyle/>
          <a:p>
            <a:pPr algn="l"/>
            <a:r>
              <a:rPr sz="1700" b="1" i="0">
                <a:solidFill>
                  <a:srgbClr val="1F6FDC"/>
                </a:solidFill>
                <a:latin typeface="Bahnschrift"/>
              </a:rPr>
              <a:t>Engineer &amp; Explore</a:t>
            </a:r>
          </a:p>
        </p:txBody>
      </p:sp>
      <p:sp>
        <p:nvSpPr>
          <p:cNvPr id="17" name="TextBox 16"/>
          <p:cNvSpPr txBox="1"/>
          <p:nvPr/>
        </p:nvSpPr>
        <p:spPr>
          <a:xfrm>
            <a:off x="2459736" y="2971800"/>
            <a:ext cx="1554480" cy="685800"/>
          </a:xfrm>
          <a:prstGeom prst="rect">
            <a:avLst/>
          </a:prstGeom>
          <a:noFill/>
        </p:spPr>
        <p:txBody>
          <a:bodyPr wrap="square" lIns="45720" tIns="27432" rIns="45720" bIns="27432" anchor="t">
            <a:spAutoFit/>
          </a:bodyPr>
          <a:lstStyle/>
          <a:p>
            <a:pPr algn="l"/>
            <a:r>
              <a:rPr sz="1200" b="0" i="0">
                <a:solidFill>
                  <a:srgbClr val="5B7194"/>
                </a:solidFill>
                <a:latin typeface="Segoe UI"/>
              </a:rPr>
              <a:t>24 columns, full EDA</a:t>
            </a:r>
          </a:p>
        </p:txBody>
      </p:sp>
      <p:sp>
        <p:nvSpPr>
          <p:cNvPr id="18" name="Rounded Rectangle 17"/>
          <p:cNvSpPr/>
          <p:nvPr/>
        </p:nvSpPr>
        <p:spPr>
          <a:xfrm>
            <a:off x="4233672" y="1600200"/>
            <a:ext cx="1737360" cy="21031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370832" y="1737360"/>
            <a:ext cx="566928" cy="56692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70832" y="1737360"/>
            <a:ext cx="566928" cy="566928"/>
          </a:xfrm>
          <a:prstGeom prst="rect">
            <a:avLst/>
          </a:prstGeom>
          <a:noFill/>
        </p:spPr>
        <p:txBody>
          <a:bodyPr wrap="square" lIns="0" tIns="27432" rIns="0" bIns="27432" anchor="ctr">
            <a:spAutoFit/>
          </a:bodyPr>
          <a:lstStyle/>
          <a:p>
            <a:pPr algn="ctr"/>
            <a:r>
              <a:rPr sz="1700" b="1" i="0">
                <a:solidFill>
                  <a:srgbClr val="FFFFFF"/>
                </a:solidFill>
                <a:latin typeface="Bahnschrift"/>
              </a:rPr>
              <a:t>03</a:t>
            </a:r>
          </a:p>
        </p:txBody>
      </p:sp>
      <p:sp>
        <p:nvSpPr>
          <p:cNvPr id="21" name="TextBox 20"/>
          <p:cNvSpPr txBox="1"/>
          <p:nvPr/>
        </p:nvSpPr>
        <p:spPr>
          <a:xfrm>
            <a:off x="4325112" y="2423160"/>
            <a:ext cx="1554480" cy="548640"/>
          </a:xfrm>
          <a:prstGeom prst="rect">
            <a:avLst/>
          </a:prstGeom>
          <a:noFill/>
        </p:spPr>
        <p:txBody>
          <a:bodyPr wrap="square" lIns="45720" tIns="27432" rIns="45720" bIns="27432" anchor="t">
            <a:spAutoFit/>
          </a:bodyPr>
          <a:lstStyle/>
          <a:p>
            <a:pPr algn="l"/>
            <a:r>
              <a:rPr sz="1700" b="1" i="0">
                <a:solidFill>
                  <a:srgbClr val="3B82F6"/>
                </a:solidFill>
                <a:latin typeface="Bahnschrift"/>
              </a:rPr>
              <a:t>Represent Text</a:t>
            </a:r>
          </a:p>
        </p:txBody>
      </p:sp>
      <p:sp>
        <p:nvSpPr>
          <p:cNvPr id="22" name="TextBox 21"/>
          <p:cNvSpPr txBox="1"/>
          <p:nvPr/>
        </p:nvSpPr>
        <p:spPr>
          <a:xfrm>
            <a:off x="4325112" y="2971800"/>
            <a:ext cx="1554480" cy="685800"/>
          </a:xfrm>
          <a:prstGeom prst="rect">
            <a:avLst/>
          </a:prstGeom>
          <a:noFill/>
        </p:spPr>
        <p:txBody>
          <a:bodyPr wrap="square" lIns="45720" tIns="27432" rIns="45720" bIns="27432" anchor="t">
            <a:spAutoFit/>
          </a:bodyPr>
          <a:lstStyle/>
          <a:p>
            <a:pPr algn="l"/>
            <a:r>
              <a:rPr sz="1200" b="0" i="0">
                <a:solidFill>
                  <a:srgbClr val="5B7194"/>
                </a:solidFill>
                <a:latin typeface="Segoe UI"/>
              </a:rPr>
              <a:t>6 ways to turn words into numbers</a:t>
            </a:r>
          </a:p>
        </p:txBody>
      </p:sp>
      <p:sp>
        <p:nvSpPr>
          <p:cNvPr id="23" name="Rounded Rectangle 22"/>
          <p:cNvSpPr/>
          <p:nvPr/>
        </p:nvSpPr>
        <p:spPr>
          <a:xfrm>
            <a:off x="6099048" y="1600200"/>
            <a:ext cx="1737360" cy="21031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236208" y="1737360"/>
            <a:ext cx="566928" cy="566928"/>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36208" y="1737360"/>
            <a:ext cx="566928" cy="566928"/>
          </a:xfrm>
          <a:prstGeom prst="rect">
            <a:avLst/>
          </a:prstGeom>
          <a:noFill/>
        </p:spPr>
        <p:txBody>
          <a:bodyPr wrap="square" lIns="0" tIns="27432" rIns="0" bIns="27432" anchor="ctr">
            <a:spAutoFit/>
          </a:bodyPr>
          <a:lstStyle/>
          <a:p>
            <a:pPr algn="ctr"/>
            <a:r>
              <a:rPr sz="1700" b="1" i="0">
                <a:solidFill>
                  <a:srgbClr val="FFFFFF"/>
                </a:solidFill>
                <a:latin typeface="Bahnschrift"/>
              </a:rPr>
              <a:t>04</a:t>
            </a:r>
          </a:p>
        </p:txBody>
      </p:sp>
      <p:sp>
        <p:nvSpPr>
          <p:cNvPr id="26" name="TextBox 25"/>
          <p:cNvSpPr txBox="1"/>
          <p:nvPr/>
        </p:nvSpPr>
        <p:spPr>
          <a:xfrm>
            <a:off x="6190488" y="2423160"/>
            <a:ext cx="1554480" cy="548640"/>
          </a:xfrm>
          <a:prstGeom prst="rect">
            <a:avLst/>
          </a:prstGeom>
          <a:noFill/>
        </p:spPr>
        <p:txBody>
          <a:bodyPr wrap="square" lIns="45720" tIns="27432" rIns="45720" bIns="27432" anchor="t">
            <a:spAutoFit/>
          </a:bodyPr>
          <a:lstStyle/>
          <a:p>
            <a:pPr algn="l"/>
            <a:r>
              <a:rPr sz="1700" b="1" i="0">
                <a:solidFill>
                  <a:srgbClr val="14B8A6"/>
                </a:solidFill>
                <a:latin typeface="Bahnschrift"/>
              </a:rPr>
              <a:t>Build Models</a:t>
            </a:r>
          </a:p>
        </p:txBody>
      </p:sp>
      <p:sp>
        <p:nvSpPr>
          <p:cNvPr id="27" name="TextBox 26"/>
          <p:cNvSpPr txBox="1"/>
          <p:nvPr/>
        </p:nvSpPr>
        <p:spPr>
          <a:xfrm>
            <a:off x="6190488" y="2971800"/>
            <a:ext cx="1554480" cy="685800"/>
          </a:xfrm>
          <a:prstGeom prst="rect">
            <a:avLst/>
          </a:prstGeom>
          <a:noFill/>
        </p:spPr>
        <p:txBody>
          <a:bodyPr wrap="square" lIns="45720" tIns="27432" rIns="45720" bIns="27432" anchor="t">
            <a:spAutoFit/>
          </a:bodyPr>
          <a:lstStyle/>
          <a:p>
            <a:pPr algn="l"/>
            <a:r>
              <a:rPr sz="1200" b="0" i="0">
                <a:solidFill>
                  <a:srgbClr val="5B7194"/>
                </a:solidFill>
                <a:latin typeface="Segoe UI"/>
              </a:rPr>
              <a:t>6 tiers, 6 finalists</a:t>
            </a:r>
          </a:p>
        </p:txBody>
      </p:sp>
      <p:sp>
        <p:nvSpPr>
          <p:cNvPr id="28" name="Rounded Rectangle 27"/>
          <p:cNvSpPr/>
          <p:nvPr/>
        </p:nvSpPr>
        <p:spPr>
          <a:xfrm>
            <a:off x="7964424" y="1600200"/>
            <a:ext cx="1737360" cy="21031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101584" y="1737360"/>
            <a:ext cx="566928" cy="566928"/>
          </a:xfrm>
          <a:prstGeom prst="ellipse">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01584" y="1737360"/>
            <a:ext cx="566928" cy="566928"/>
          </a:xfrm>
          <a:prstGeom prst="rect">
            <a:avLst/>
          </a:prstGeom>
          <a:noFill/>
        </p:spPr>
        <p:txBody>
          <a:bodyPr wrap="square" lIns="0" tIns="27432" rIns="0" bIns="27432" anchor="ctr">
            <a:spAutoFit/>
          </a:bodyPr>
          <a:lstStyle/>
          <a:p>
            <a:pPr algn="ctr"/>
            <a:r>
              <a:rPr sz="1700" b="1" i="0">
                <a:solidFill>
                  <a:srgbClr val="FFFFFF"/>
                </a:solidFill>
                <a:latin typeface="Bahnschrift"/>
              </a:rPr>
              <a:t>05</a:t>
            </a:r>
          </a:p>
        </p:txBody>
      </p:sp>
      <p:sp>
        <p:nvSpPr>
          <p:cNvPr id="31" name="TextBox 30"/>
          <p:cNvSpPr txBox="1"/>
          <p:nvPr/>
        </p:nvSpPr>
        <p:spPr>
          <a:xfrm>
            <a:off x="8055864" y="2423160"/>
            <a:ext cx="1554480" cy="548640"/>
          </a:xfrm>
          <a:prstGeom prst="rect">
            <a:avLst/>
          </a:prstGeom>
          <a:noFill/>
        </p:spPr>
        <p:txBody>
          <a:bodyPr wrap="square" lIns="45720" tIns="27432" rIns="45720" bIns="27432" anchor="t">
            <a:spAutoFit/>
          </a:bodyPr>
          <a:lstStyle/>
          <a:p>
            <a:pPr algn="l"/>
            <a:r>
              <a:rPr sz="1700" b="1" i="0">
                <a:solidFill>
                  <a:srgbClr val="0E9F6E"/>
                </a:solidFill>
                <a:latin typeface="Bahnschrift"/>
              </a:rPr>
              <a:t>Evaluate Once</a:t>
            </a:r>
          </a:p>
        </p:txBody>
      </p:sp>
      <p:sp>
        <p:nvSpPr>
          <p:cNvPr id="32" name="TextBox 31"/>
          <p:cNvSpPr txBox="1"/>
          <p:nvPr/>
        </p:nvSpPr>
        <p:spPr>
          <a:xfrm>
            <a:off x="8055864" y="2971800"/>
            <a:ext cx="1554480" cy="685800"/>
          </a:xfrm>
          <a:prstGeom prst="rect">
            <a:avLst/>
          </a:prstGeom>
          <a:noFill/>
        </p:spPr>
        <p:txBody>
          <a:bodyPr wrap="square" lIns="45720" tIns="27432" rIns="45720" bIns="27432" anchor="t">
            <a:spAutoFit/>
          </a:bodyPr>
          <a:lstStyle/>
          <a:p>
            <a:pPr algn="l"/>
            <a:r>
              <a:rPr sz="1200" b="0" i="0">
                <a:solidFill>
                  <a:srgbClr val="5B7194"/>
                </a:solidFill>
                <a:latin typeface="Segoe UI"/>
              </a:rPr>
              <a:t>Held-out test tweets</a:t>
            </a:r>
          </a:p>
        </p:txBody>
      </p:sp>
      <p:sp>
        <p:nvSpPr>
          <p:cNvPr id="33" name="Rounded Rectangle 32"/>
          <p:cNvSpPr/>
          <p:nvPr/>
        </p:nvSpPr>
        <p:spPr>
          <a:xfrm>
            <a:off x="9829800" y="1600200"/>
            <a:ext cx="1737360" cy="21031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966960" y="1737360"/>
            <a:ext cx="566928" cy="566928"/>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966960" y="1737360"/>
            <a:ext cx="566928" cy="566928"/>
          </a:xfrm>
          <a:prstGeom prst="rect">
            <a:avLst/>
          </a:prstGeom>
          <a:noFill/>
        </p:spPr>
        <p:txBody>
          <a:bodyPr wrap="square" lIns="0" tIns="27432" rIns="0" bIns="27432" anchor="ctr">
            <a:spAutoFit/>
          </a:bodyPr>
          <a:lstStyle/>
          <a:p>
            <a:pPr algn="ctr"/>
            <a:r>
              <a:rPr sz="1700" b="1" i="0">
                <a:solidFill>
                  <a:srgbClr val="FFFFFF"/>
                </a:solidFill>
                <a:latin typeface="Bahnschrift"/>
              </a:rPr>
              <a:t>06</a:t>
            </a:r>
          </a:p>
        </p:txBody>
      </p:sp>
      <p:sp>
        <p:nvSpPr>
          <p:cNvPr id="36" name="TextBox 35"/>
          <p:cNvSpPr txBox="1"/>
          <p:nvPr/>
        </p:nvSpPr>
        <p:spPr>
          <a:xfrm>
            <a:off x="9921240" y="2423160"/>
            <a:ext cx="1554480" cy="548640"/>
          </a:xfrm>
          <a:prstGeom prst="rect">
            <a:avLst/>
          </a:prstGeom>
          <a:noFill/>
        </p:spPr>
        <p:txBody>
          <a:bodyPr wrap="square" lIns="45720" tIns="27432" rIns="45720" bIns="27432" anchor="t">
            <a:spAutoFit/>
          </a:bodyPr>
          <a:lstStyle/>
          <a:p>
            <a:pPr algn="l"/>
            <a:r>
              <a:rPr sz="1700" b="1" i="0">
                <a:solidFill>
                  <a:srgbClr val="14B8A6"/>
                </a:solidFill>
                <a:latin typeface="Bahnschrift"/>
              </a:rPr>
              <a:t>Deploy</a:t>
            </a:r>
          </a:p>
        </p:txBody>
      </p:sp>
      <p:sp>
        <p:nvSpPr>
          <p:cNvPr id="37" name="TextBox 36"/>
          <p:cNvSpPr txBox="1"/>
          <p:nvPr/>
        </p:nvSpPr>
        <p:spPr>
          <a:xfrm>
            <a:off x="9921240" y="2971800"/>
            <a:ext cx="1554480" cy="685800"/>
          </a:xfrm>
          <a:prstGeom prst="rect">
            <a:avLst/>
          </a:prstGeom>
          <a:noFill/>
        </p:spPr>
        <p:txBody>
          <a:bodyPr wrap="square" lIns="45720" tIns="27432" rIns="45720" bIns="27432" anchor="t">
            <a:spAutoFit/>
          </a:bodyPr>
          <a:lstStyle/>
          <a:p>
            <a:pPr algn="l"/>
            <a:r>
              <a:rPr sz="1200" b="0" i="0">
                <a:solidFill>
                  <a:srgbClr val="5B7194"/>
                </a:solidFill>
                <a:latin typeface="Segoe UI"/>
              </a:rPr>
              <a:t>Streamlit dashboard</a:t>
            </a:r>
          </a:p>
        </p:txBody>
      </p:sp>
      <p:sp>
        <p:nvSpPr>
          <p:cNvPr id="38" name="Rounded Rectangle 37"/>
          <p:cNvSpPr/>
          <p:nvPr/>
        </p:nvSpPr>
        <p:spPr>
          <a:xfrm>
            <a:off x="502920" y="4069080"/>
            <a:ext cx="11064240" cy="23317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1520" y="4160521"/>
            <a:ext cx="10698480" cy="411480"/>
          </a:xfrm>
          <a:prstGeom prst="rect">
            <a:avLst/>
          </a:prstGeom>
          <a:noFill/>
        </p:spPr>
        <p:txBody>
          <a:bodyPr wrap="square" lIns="45720" tIns="27432" rIns="45720" bIns="27432" anchor="t">
            <a:spAutoFit/>
          </a:bodyPr>
          <a:lstStyle/>
          <a:p>
            <a:pPr algn="l"/>
            <a:r>
              <a:rPr sz="1800" b="1" i="0">
                <a:solidFill>
                  <a:srgbClr val="14305F"/>
                </a:solidFill>
                <a:latin typeface="Bahnschrift"/>
              </a:rPr>
              <a:t>The one rule that governs everything</a:t>
            </a:r>
          </a:p>
        </p:txBody>
      </p:sp>
      <p:sp>
        <p:nvSpPr>
          <p:cNvPr id="40" name="Rounded Rectangle 39"/>
          <p:cNvSpPr/>
          <p:nvPr/>
        </p:nvSpPr>
        <p:spPr>
          <a:xfrm>
            <a:off x="731520" y="4663441"/>
            <a:ext cx="3291840" cy="150876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49808" y="4791457"/>
            <a:ext cx="64008" cy="125272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14400" y="4709161"/>
            <a:ext cx="3017520" cy="754380"/>
          </a:xfrm>
          <a:prstGeom prst="rect">
            <a:avLst/>
          </a:prstGeom>
          <a:noFill/>
        </p:spPr>
        <p:txBody>
          <a:bodyPr wrap="square" lIns="45720" tIns="27432" rIns="45720" bIns="27432" anchor="b">
            <a:spAutoFit/>
          </a:bodyPr>
          <a:lstStyle/>
          <a:p>
            <a:pPr algn="l"/>
            <a:r>
              <a:rPr sz="3000" b="1" i="0">
                <a:solidFill>
                  <a:srgbClr val="1F6FDC"/>
                </a:solidFill>
                <a:latin typeface="Bahnschrift"/>
              </a:rPr>
              <a:t>5,992</a:t>
            </a:r>
          </a:p>
        </p:txBody>
      </p:sp>
      <p:sp>
        <p:nvSpPr>
          <p:cNvPr id="43" name="TextBox 42"/>
          <p:cNvSpPr txBox="1"/>
          <p:nvPr/>
        </p:nvSpPr>
        <p:spPr>
          <a:xfrm>
            <a:off x="914400" y="5447996"/>
            <a:ext cx="3017520" cy="694029"/>
          </a:xfrm>
          <a:prstGeom prst="rect">
            <a:avLst/>
          </a:prstGeom>
          <a:noFill/>
        </p:spPr>
        <p:txBody>
          <a:bodyPr wrap="square" lIns="45720" tIns="27432" rIns="45720" bIns="27432" anchor="t">
            <a:spAutoFit/>
          </a:bodyPr>
          <a:lstStyle/>
          <a:p>
            <a:pPr algn="l"/>
            <a:r>
              <a:rPr sz="1200" b="1" i="0">
                <a:solidFill>
                  <a:srgbClr val="14305F"/>
                </a:solidFill>
                <a:latin typeface="Segoe UI"/>
              </a:rPr>
              <a:t>Training tweets (80%)</a:t>
            </a:r>
          </a:p>
          <a:p>
            <a:pPr algn="l"/>
            <a:r>
              <a:rPr sz="1050" b="0" i="0">
                <a:solidFill>
                  <a:srgbClr val="5B7194"/>
                </a:solidFill>
                <a:latin typeface="Segoe UI"/>
              </a:rPr>
              <a:t>All fitting and selection happen here</a:t>
            </a:r>
          </a:p>
        </p:txBody>
      </p:sp>
      <p:sp>
        <p:nvSpPr>
          <p:cNvPr id="44" name="Rounded Rectangle 43"/>
          <p:cNvSpPr/>
          <p:nvPr/>
        </p:nvSpPr>
        <p:spPr>
          <a:xfrm>
            <a:off x="4206240" y="4663441"/>
            <a:ext cx="3291840" cy="150876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224527" y="4791457"/>
            <a:ext cx="64008" cy="1252728"/>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389120" y="4709161"/>
            <a:ext cx="3017520" cy="754380"/>
          </a:xfrm>
          <a:prstGeom prst="rect">
            <a:avLst/>
          </a:prstGeom>
          <a:noFill/>
        </p:spPr>
        <p:txBody>
          <a:bodyPr wrap="square" lIns="45720" tIns="27432" rIns="45720" bIns="27432" anchor="b">
            <a:spAutoFit/>
          </a:bodyPr>
          <a:lstStyle/>
          <a:p>
            <a:pPr algn="l"/>
            <a:r>
              <a:rPr sz="3000" b="1" i="0">
                <a:solidFill>
                  <a:srgbClr val="0E9F6E"/>
                </a:solidFill>
                <a:latin typeface="Bahnschrift"/>
              </a:rPr>
              <a:t>1,498</a:t>
            </a:r>
          </a:p>
        </p:txBody>
      </p:sp>
      <p:sp>
        <p:nvSpPr>
          <p:cNvPr id="47" name="TextBox 46"/>
          <p:cNvSpPr txBox="1"/>
          <p:nvPr/>
        </p:nvSpPr>
        <p:spPr>
          <a:xfrm>
            <a:off x="4389120" y="5447996"/>
            <a:ext cx="3017520" cy="694029"/>
          </a:xfrm>
          <a:prstGeom prst="rect">
            <a:avLst/>
          </a:prstGeom>
          <a:noFill/>
        </p:spPr>
        <p:txBody>
          <a:bodyPr wrap="square" lIns="45720" tIns="27432" rIns="45720" bIns="27432" anchor="t">
            <a:spAutoFit/>
          </a:bodyPr>
          <a:lstStyle/>
          <a:p>
            <a:pPr algn="l"/>
            <a:r>
              <a:rPr sz="1200" b="1" i="0">
                <a:solidFill>
                  <a:srgbClr val="14305F"/>
                </a:solidFill>
                <a:latin typeface="Segoe UI"/>
              </a:rPr>
              <a:t>Held-out test tweets (20%)</a:t>
            </a:r>
          </a:p>
          <a:p>
            <a:pPr algn="l"/>
            <a:r>
              <a:rPr sz="1050" b="0" i="0">
                <a:solidFill>
                  <a:srgbClr val="5B7194"/>
                </a:solidFill>
                <a:latin typeface="Segoe UI"/>
              </a:rPr>
              <a:t>Untouched until final evaluation</a:t>
            </a:r>
          </a:p>
        </p:txBody>
      </p:sp>
      <p:sp>
        <p:nvSpPr>
          <p:cNvPr id="48" name="Rounded Rectangle 47"/>
          <p:cNvSpPr/>
          <p:nvPr/>
        </p:nvSpPr>
        <p:spPr>
          <a:xfrm>
            <a:off x="7680960" y="4663441"/>
            <a:ext cx="3596640" cy="150876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699248" y="4791457"/>
            <a:ext cx="64008" cy="125272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863840" y="4709161"/>
            <a:ext cx="3520440" cy="754380"/>
          </a:xfrm>
          <a:prstGeom prst="rect">
            <a:avLst/>
          </a:prstGeom>
          <a:noFill/>
        </p:spPr>
        <p:txBody>
          <a:bodyPr wrap="square" lIns="45720" tIns="27432" rIns="45720" bIns="27432" anchor="b">
            <a:spAutoFit/>
          </a:bodyPr>
          <a:lstStyle/>
          <a:p>
            <a:pPr algn="l"/>
            <a:r>
              <a:rPr sz="3000" b="1" i="0">
                <a:solidFill>
                  <a:srgbClr val="14B8A6"/>
                </a:solidFill>
                <a:latin typeface="Bahnschrift"/>
              </a:rPr>
              <a:t>5-fold CV</a:t>
            </a:r>
          </a:p>
        </p:txBody>
      </p:sp>
      <p:sp>
        <p:nvSpPr>
          <p:cNvPr id="51" name="TextBox 50"/>
          <p:cNvSpPr txBox="1"/>
          <p:nvPr/>
        </p:nvSpPr>
        <p:spPr>
          <a:xfrm>
            <a:off x="7863840" y="5447996"/>
            <a:ext cx="3520440" cy="694029"/>
          </a:xfrm>
          <a:prstGeom prst="rect">
            <a:avLst/>
          </a:prstGeom>
          <a:noFill/>
        </p:spPr>
        <p:txBody>
          <a:bodyPr wrap="square" lIns="45720" tIns="27432" rIns="45720" bIns="27432" anchor="t">
            <a:spAutoFit/>
          </a:bodyPr>
          <a:lstStyle/>
          <a:p>
            <a:pPr algn="l"/>
            <a:r>
              <a:rPr sz="1200" b="1" i="0">
                <a:solidFill>
                  <a:srgbClr val="14305F"/>
                </a:solidFill>
                <a:latin typeface="Segoe UI"/>
              </a:rPr>
              <a:t>Model selection inside each tier</a:t>
            </a:r>
          </a:p>
          <a:p>
            <a:pPr algn="l"/>
            <a:r>
              <a:rPr sz="1050" b="0" i="0">
                <a:solidFill>
                  <a:srgbClr val="5B7194"/>
                </a:solidFill>
                <a:latin typeface="Segoe UI"/>
              </a:rPr>
              <a:t>Training data only, Accuracy first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1735"/>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Data Cleaning</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502920" y="1554480"/>
            <a:ext cx="3611880" cy="14173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1208" y="1682495"/>
            <a:ext cx="64008" cy="1161288"/>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600200"/>
            <a:ext cx="3337560" cy="708660"/>
          </a:xfrm>
          <a:prstGeom prst="rect">
            <a:avLst/>
          </a:prstGeom>
          <a:noFill/>
        </p:spPr>
        <p:txBody>
          <a:bodyPr wrap="square" lIns="45720" tIns="27432" rIns="45720" bIns="27432" anchor="b">
            <a:spAutoFit/>
          </a:bodyPr>
          <a:lstStyle/>
          <a:p>
            <a:pPr algn="l"/>
            <a:r>
              <a:rPr sz="3800" b="1" i="0">
                <a:solidFill>
                  <a:srgbClr val="EF5B5B"/>
                </a:solidFill>
                <a:latin typeface="Bahnschrift"/>
              </a:rPr>
              <a:t>123</a:t>
            </a:r>
          </a:p>
        </p:txBody>
      </p:sp>
      <p:sp>
        <p:nvSpPr>
          <p:cNvPr id="11" name="TextBox 10"/>
          <p:cNvSpPr txBox="1"/>
          <p:nvPr/>
        </p:nvSpPr>
        <p:spPr>
          <a:xfrm>
            <a:off x="685800" y="2291486"/>
            <a:ext cx="3337560" cy="651967"/>
          </a:xfrm>
          <a:prstGeom prst="rect">
            <a:avLst/>
          </a:prstGeom>
          <a:noFill/>
        </p:spPr>
        <p:txBody>
          <a:bodyPr wrap="square" lIns="45720" tIns="27432" rIns="45720" bIns="27432" anchor="t">
            <a:spAutoFit/>
          </a:bodyPr>
          <a:lstStyle/>
          <a:p>
            <a:pPr algn="l"/>
            <a:r>
              <a:rPr sz="1200" b="1" i="0">
                <a:solidFill>
                  <a:srgbClr val="14305F"/>
                </a:solidFill>
                <a:latin typeface="Segoe UI"/>
              </a:rPr>
              <a:t>Tweets removed (1.6%)</a:t>
            </a:r>
          </a:p>
          <a:p>
            <a:pPr algn="l"/>
            <a:r>
              <a:rPr sz="1050" b="0" i="0">
                <a:solidFill>
                  <a:srgbClr val="5B7194"/>
                </a:solidFill>
                <a:latin typeface="Segoe UI"/>
              </a:rPr>
              <a:t>7,613 → 7,490 uniquely labelled tweets</a:t>
            </a:r>
          </a:p>
        </p:txBody>
      </p:sp>
      <p:sp>
        <p:nvSpPr>
          <p:cNvPr id="12" name="Rounded Rectangle 11"/>
          <p:cNvSpPr/>
          <p:nvPr/>
        </p:nvSpPr>
        <p:spPr>
          <a:xfrm>
            <a:off x="4297680" y="1554480"/>
            <a:ext cx="3611880" cy="14173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15968" y="1682495"/>
            <a:ext cx="64008" cy="1161288"/>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0560" y="1600200"/>
            <a:ext cx="3337560" cy="708660"/>
          </a:xfrm>
          <a:prstGeom prst="rect">
            <a:avLst/>
          </a:prstGeom>
          <a:noFill/>
        </p:spPr>
        <p:txBody>
          <a:bodyPr wrap="square" lIns="45720" tIns="27432" rIns="45720" bIns="27432" anchor="b">
            <a:spAutoFit/>
          </a:bodyPr>
          <a:lstStyle/>
          <a:p>
            <a:pPr algn="l"/>
            <a:r>
              <a:rPr sz="3800" b="1" i="0">
                <a:solidFill>
                  <a:srgbClr val="0E9F6E"/>
                </a:solidFill>
                <a:latin typeface="Bahnschrift"/>
              </a:rPr>
              <a:t>412</a:t>
            </a:r>
          </a:p>
        </p:txBody>
      </p:sp>
      <p:sp>
        <p:nvSpPr>
          <p:cNvPr id="15" name="TextBox 14"/>
          <p:cNvSpPr txBox="1"/>
          <p:nvPr/>
        </p:nvSpPr>
        <p:spPr>
          <a:xfrm>
            <a:off x="4480560" y="2291486"/>
            <a:ext cx="3337560" cy="651967"/>
          </a:xfrm>
          <a:prstGeom prst="rect">
            <a:avLst/>
          </a:prstGeom>
          <a:noFill/>
        </p:spPr>
        <p:txBody>
          <a:bodyPr wrap="square" lIns="45720" tIns="27432" rIns="45720" bIns="27432" anchor="t">
            <a:spAutoFit/>
          </a:bodyPr>
          <a:lstStyle/>
          <a:p>
            <a:pPr algn="l"/>
            <a:r>
              <a:rPr sz="1200" b="1" i="0">
                <a:solidFill>
                  <a:srgbClr val="14305F"/>
                </a:solidFill>
                <a:latin typeface="Segoe UI"/>
              </a:rPr>
              <a:t>Locations recovered from text</a:t>
            </a:r>
          </a:p>
          <a:p>
            <a:pPr algn="l"/>
            <a:r>
              <a:rPr sz="1050" b="0" i="0">
                <a:solidFill>
                  <a:srgbClr val="5B7194"/>
                </a:solidFill>
                <a:latin typeface="Segoe UI"/>
              </a:rPr>
              <a:t>2,064 stay honestly "unknown"</a:t>
            </a:r>
          </a:p>
        </p:txBody>
      </p:sp>
      <p:sp>
        <p:nvSpPr>
          <p:cNvPr id="16" name="Rounded Rectangle 15"/>
          <p:cNvSpPr/>
          <p:nvPr/>
        </p:nvSpPr>
        <p:spPr>
          <a:xfrm>
            <a:off x="8092440" y="1554480"/>
            <a:ext cx="3566160" cy="14173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10727" y="1682495"/>
            <a:ext cx="64008" cy="1161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19" y="1600200"/>
            <a:ext cx="3291840" cy="708660"/>
          </a:xfrm>
          <a:prstGeom prst="rect">
            <a:avLst/>
          </a:prstGeom>
          <a:noFill/>
        </p:spPr>
        <p:txBody>
          <a:bodyPr wrap="square" lIns="45720" tIns="27432" rIns="45720" bIns="27432" anchor="b">
            <a:spAutoFit/>
          </a:bodyPr>
          <a:lstStyle/>
          <a:p>
            <a:pPr algn="l"/>
            <a:r>
              <a:rPr sz="3800" b="1" i="0">
                <a:solidFill>
                  <a:srgbClr val="F5A623"/>
                </a:solidFill>
                <a:latin typeface="Bahnschrift"/>
              </a:rPr>
              <a:t>56</a:t>
            </a:r>
          </a:p>
        </p:txBody>
      </p:sp>
      <p:sp>
        <p:nvSpPr>
          <p:cNvPr id="19" name="TextBox 18"/>
          <p:cNvSpPr txBox="1"/>
          <p:nvPr/>
        </p:nvSpPr>
        <p:spPr>
          <a:xfrm>
            <a:off x="8275319" y="2291486"/>
            <a:ext cx="3291840" cy="651967"/>
          </a:xfrm>
          <a:prstGeom prst="rect">
            <a:avLst/>
          </a:prstGeom>
          <a:noFill/>
        </p:spPr>
        <p:txBody>
          <a:bodyPr wrap="square" lIns="45720" tIns="27432" rIns="45720" bIns="27432" anchor="t">
            <a:spAutoFit/>
          </a:bodyPr>
          <a:lstStyle/>
          <a:p>
            <a:pPr algn="l"/>
            <a:r>
              <a:rPr sz="1200" b="1" i="0">
                <a:solidFill>
                  <a:srgbClr val="14305F"/>
                </a:solidFill>
                <a:latin typeface="Segoe UI"/>
              </a:rPr>
              <a:t>Missing keywords → "unknown"</a:t>
            </a:r>
          </a:p>
          <a:p>
            <a:pPr algn="l"/>
            <a:r>
              <a:rPr sz="1050" b="0" i="0">
                <a:solidFill>
                  <a:srgbClr val="5B7194"/>
                </a:solidFill>
                <a:latin typeface="Segoe UI"/>
              </a:rPr>
              <a:t>Not invented</a:t>
            </a:r>
          </a:p>
        </p:txBody>
      </p:sp>
      <p:graphicFrame>
        <p:nvGraphicFramePr>
          <p:cNvPr id="20" name="Table 19"/>
          <p:cNvGraphicFramePr>
            <a:graphicFrameLocks noGrp="1"/>
          </p:cNvGraphicFramePr>
          <p:nvPr>
            <p:extLst>
              <p:ext uri="{D42A27DB-BD31-4B8C-83A1-F6EECF244321}">
                <p14:modId xmlns:p14="http://schemas.microsoft.com/office/powerpoint/2010/main" val="3962742213"/>
              </p:ext>
            </p:extLst>
          </p:nvPr>
        </p:nvGraphicFramePr>
        <p:xfrm>
          <a:off x="502920" y="3374136"/>
          <a:ext cx="6035040" cy="2286000"/>
        </p:xfrm>
        <a:graphic>
          <a:graphicData uri="http://schemas.openxmlformats.org/drawingml/2006/table">
            <a:tbl>
              <a:tblPr>
                <a:tableStyleId>{5940675A-B579-460E-94D1-54222C63F5DA}</a:tableStyleId>
              </a:tblPr>
              <a:tblGrid>
                <a:gridCol w="42062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57200">
                <a:tc>
                  <a:txBody>
                    <a:bodyPr/>
                    <a:lstStyle/>
                    <a:p>
                      <a:pPr algn="l"/>
                      <a:r>
                        <a:rPr sz="1300" b="1">
                          <a:solidFill>
                            <a:srgbClr val="FFFFFF"/>
                          </a:solidFill>
                          <a:latin typeface="Segoe UI"/>
                        </a:rPr>
                        <a:t>Duplicate type</a:t>
                      </a:r>
                    </a:p>
                  </a:txBody>
                  <a:tcPr marL="73152" marR="73152" marT="27432" marB="27432" anchor="ctr">
                    <a:solidFill>
                      <a:srgbClr val="1F6FDC"/>
                    </a:solidFill>
                  </a:tcPr>
                </a:tc>
                <a:tc>
                  <a:txBody>
                    <a:bodyPr/>
                    <a:lstStyle/>
                    <a:p>
                      <a:pPr algn="ctr"/>
                      <a:r>
                        <a:rPr sz="1300" b="1">
                          <a:solidFill>
                            <a:srgbClr val="FFFFFF"/>
                          </a:solidFill>
                          <a:latin typeface="Segoe UI"/>
                        </a:rPr>
                        <a:t>Tweets</a:t>
                      </a:r>
                    </a:p>
                  </a:txBody>
                  <a:tcPr marL="73152" marR="73152" marT="27432" marB="27432" anchor="ctr">
                    <a:solidFill>
                      <a:srgbClr val="1F6FDC"/>
                    </a:solidFill>
                  </a:tcPr>
                </a:tc>
                <a:extLst>
                  <a:ext uri="{0D108BD9-81ED-4DB2-BD59-A6C34878D82A}">
                    <a16:rowId xmlns:a16="http://schemas.microsoft.com/office/drawing/2014/main" val="10000"/>
                  </a:ext>
                </a:extLst>
              </a:tr>
              <a:tr h="457200">
                <a:tc>
                  <a:txBody>
                    <a:bodyPr/>
                    <a:lstStyle/>
                    <a:p>
                      <a:pPr algn="l"/>
                      <a:r>
                        <a:rPr sz="1300" b="0">
                          <a:solidFill>
                            <a:srgbClr val="14305F"/>
                          </a:solidFill>
                          <a:latin typeface="Segoe UI"/>
                        </a:rPr>
                        <a:t>Exact duplicate texts</a:t>
                      </a:r>
                    </a:p>
                  </a:txBody>
                  <a:tcPr marL="73152" marR="73152" marT="27432" marB="27432" anchor="ctr">
                    <a:solidFill>
                      <a:srgbClr val="FFFFFF"/>
                    </a:solidFill>
                  </a:tcPr>
                </a:tc>
                <a:tc>
                  <a:txBody>
                    <a:bodyPr/>
                    <a:lstStyle/>
                    <a:p>
                      <a:pPr algn="ctr"/>
                      <a:r>
                        <a:rPr sz="1300" b="0" dirty="0">
                          <a:solidFill>
                            <a:srgbClr val="14305F"/>
                          </a:solidFill>
                          <a:latin typeface="Segoe UI"/>
                        </a:rPr>
                        <a:t>52</a:t>
                      </a:r>
                    </a:p>
                  </a:txBody>
                  <a:tcPr marL="73152" marR="73152" marT="27432" marB="27432" anchor="ctr">
                    <a:solidFill>
                      <a:srgbClr val="FFFFFF"/>
                    </a:solidFill>
                  </a:tcPr>
                </a:tc>
                <a:extLst>
                  <a:ext uri="{0D108BD9-81ED-4DB2-BD59-A6C34878D82A}">
                    <a16:rowId xmlns:a16="http://schemas.microsoft.com/office/drawing/2014/main" val="10001"/>
                  </a:ext>
                </a:extLst>
              </a:tr>
              <a:tr h="457200">
                <a:tc>
                  <a:txBody>
                    <a:bodyPr/>
                    <a:lstStyle/>
                    <a:p>
                      <a:pPr algn="l"/>
                      <a:r>
                        <a:rPr sz="1300" b="0">
                          <a:solidFill>
                            <a:srgbClr val="14305F"/>
                          </a:solidFill>
                          <a:latin typeface="Segoe UI"/>
                        </a:rPr>
                        <a:t>Texts with conflicting labels</a:t>
                      </a:r>
                    </a:p>
                  </a:txBody>
                  <a:tcPr marL="73152" marR="73152" marT="27432" marB="27432" anchor="ctr">
                    <a:solidFill>
                      <a:srgbClr val="F0F6FF"/>
                    </a:solidFill>
                  </a:tcPr>
                </a:tc>
                <a:tc>
                  <a:txBody>
                    <a:bodyPr/>
                    <a:lstStyle/>
                    <a:p>
                      <a:pPr algn="ctr"/>
                      <a:r>
                        <a:rPr sz="1300" b="0" dirty="0">
                          <a:solidFill>
                            <a:srgbClr val="14305F"/>
                          </a:solidFill>
                          <a:latin typeface="Segoe UI"/>
                        </a:rPr>
                        <a:t>18</a:t>
                      </a:r>
                    </a:p>
                  </a:txBody>
                  <a:tcPr marL="73152" marR="73152" marT="27432" marB="27432" anchor="ctr">
                    <a:solidFill>
                      <a:srgbClr val="F0F6FF"/>
                    </a:solidFill>
                  </a:tcPr>
                </a:tc>
                <a:extLst>
                  <a:ext uri="{0D108BD9-81ED-4DB2-BD59-A6C34878D82A}">
                    <a16:rowId xmlns:a16="http://schemas.microsoft.com/office/drawing/2014/main" val="10002"/>
                  </a:ext>
                </a:extLst>
              </a:tr>
              <a:tr h="457200">
                <a:tc>
                  <a:txBody>
                    <a:bodyPr/>
                    <a:lstStyle/>
                    <a:p>
                      <a:pPr algn="l"/>
                      <a:r>
                        <a:rPr sz="1300" b="0">
                          <a:solidFill>
                            <a:srgbClr val="14305F"/>
                          </a:solidFill>
                          <a:latin typeface="Segoe UI"/>
                        </a:rPr>
                        <a:t>Further repeats of kept texts</a:t>
                      </a:r>
                    </a:p>
                  </a:txBody>
                  <a:tcPr marL="73152" marR="73152" marT="27432" marB="27432" anchor="ctr">
                    <a:solidFill>
                      <a:srgbClr val="FFFFFF"/>
                    </a:solidFill>
                  </a:tcPr>
                </a:tc>
                <a:tc>
                  <a:txBody>
                    <a:bodyPr/>
                    <a:lstStyle/>
                    <a:p>
                      <a:pPr algn="ctr"/>
                      <a:r>
                        <a:rPr sz="1300" b="0">
                          <a:solidFill>
                            <a:srgbClr val="14305F"/>
                          </a:solidFill>
                          <a:latin typeface="Segoe UI"/>
                        </a:rPr>
                        <a:t>45</a:t>
                      </a:r>
                    </a:p>
                  </a:txBody>
                  <a:tcPr marL="73152" marR="73152" marT="27432" marB="27432" anchor="ctr">
                    <a:solidFill>
                      <a:srgbClr val="FFFFFF"/>
                    </a:solidFill>
                  </a:tcPr>
                </a:tc>
                <a:extLst>
                  <a:ext uri="{0D108BD9-81ED-4DB2-BD59-A6C34878D82A}">
                    <a16:rowId xmlns:a16="http://schemas.microsoft.com/office/drawing/2014/main" val="10003"/>
                  </a:ext>
                </a:extLst>
              </a:tr>
              <a:tr h="457200">
                <a:tc>
                  <a:txBody>
                    <a:bodyPr/>
                    <a:lstStyle/>
                    <a:p>
                      <a:pPr algn="l"/>
                      <a:r>
                        <a:rPr sz="1300" b="1">
                          <a:solidFill>
                            <a:srgbClr val="14305F"/>
                          </a:solidFill>
                          <a:latin typeface="Segoe UI"/>
                        </a:rPr>
                        <a:t>Total removed</a:t>
                      </a:r>
                    </a:p>
                  </a:txBody>
                  <a:tcPr marL="73152" marR="73152" marT="27432" marB="27432" anchor="ctr">
                    <a:solidFill>
                      <a:srgbClr val="E4F7F1"/>
                    </a:solidFill>
                  </a:tcPr>
                </a:tc>
                <a:tc>
                  <a:txBody>
                    <a:bodyPr/>
                    <a:lstStyle/>
                    <a:p>
                      <a:pPr algn="ctr"/>
                      <a:r>
                        <a:rPr sz="1300" b="1" dirty="0">
                          <a:solidFill>
                            <a:srgbClr val="14305F"/>
                          </a:solidFill>
                          <a:latin typeface="Segoe UI"/>
                        </a:rPr>
                        <a:t>123</a:t>
                      </a:r>
                    </a:p>
                  </a:txBody>
                  <a:tcPr marL="73152" marR="73152" marT="27432" marB="27432" anchor="ctr">
                    <a:solidFill>
                      <a:srgbClr val="E4F7F1"/>
                    </a:solidFill>
                  </a:tcPr>
                </a:tc>
                <a:extLst>
                  <a:ext uri="{0D108BD9-81ED-4DB2-BD59-A6C34878D82A}">
                    <a16:rowId xmlns:a16="http://schemas.microsoft.com/office/drawing/2014/main" val="10004"/>
                  </a:ext>
                </a:extLst>
              </a:tr>
            </a:tbl>
          </a:graphicData>
        </a:graphic>
      </p:graphicFrame>
      <p:sp>
        <p:nvSpPr>
          <p:cNvPr id="21" name="Rounded Rectangle 20"/>
          <p:cNvSpPr/>
          <p:nvPr/>
        </p:nvSpPr>
        <p:spPr>
          <a:xfrm>
            <a:off x="6766560" y="3374136"/>
            <a:ext cx="4892040" cy="2286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784848" y="3502152"/>
            <a:ext cx="64008" cy="2029967"/>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67728" y="3447288"/>
            <a:ext cx="4572000" cy="2139696"/>
          </a:xfrm>
          <a:prstGeom prst="rect">
            <a:avLst/>
          </a:prstGeom>
          <a:noFill/>
        </p:spPr>
        <p:txBody>
          <a:bodyPr wrap="square" lIns="45720" tIns="27432" rIns="45720" bIns="27432" anchor="ctr">
            <a:spAutoFit/>
          </a:bodyPr>
          <a:lstStyle/>
          <a:p>
            <a:pPr algn="l">
              <a:spcAft>
                <a:spcPts val="300"/>
              </a:spcAft>
            </a:pPr>
            <a:r>
              <a:rPr sz="1500" b="1" i="0">
                <a:solidFill>
                  <a:srgbClr val="1F6FDC"/>
                </a:solidFill>
                <a:latin typeface="Bahnschrift"/>
              </a:rPr>
              <a:t>The key lesson</a:t>
            </a:r>
          </a:p>
          <a:p>
            <a:pPr algn="l">
              <a:spcAft>
                <a:spcPts val="300"/>
              </a:spcAft>
            </a:pPr>
            <a:r>
              <a:rPr sz="1300" b="0" i="0">
                <a:solidFill>
                  <a:srgbClr val="14305F"/>
                </a:solidFill>
                <a:latin typeface="Segoe UI"/>
              </a:rPr>
              <a:t>The id column is unique per row, so an all-column duplicate check finds nothing.</a:t>
            </a:r>
          </a:p>
          <a:p>
            <a:pPr algn="l">
              <a:spcAft>
                <a:spcPts val="300"/>
              </a:spcAft>
            </a:pPr>
            <a:r>
              <a:rPr sz="1300" b="0" i="0">
                <a:solidFill>
                  <a:srgbClr val="14305F"/>
                </a:solidFill>
                <a:latin typeface="Segoe UI"/>
              </a:rPr>
              <a:t>Judged on the text itself, 123 tweets were repeats or contradictions.</a:t>
            </a:r>
          </a:p>
        </p:txBody>
      </p:sp>
      <p:sp>
        <p:nvSpPr>
          <p:cNvPr id="24" name="TextBox 23"/>
          <p:cNvSpPr txBox="1"/>
          <p:nvPr/>
        </p:nvSpPr>
        <p:spPr>
          <a:xfrm>
            <a:off x="502920" y="6062472"/>
            <a:ext cx="11155680" cy="255455"/>
          </a:xfrm>
          <a:prstGeom prst="rect">
            <a:avLst/>
          </a:prstGeom>
          <a:noFill/>
        </p:spPr>
        <p:txBody>
          <a:bodyPr wrap="square" lIns="45720" tIns="27432" rIns="45720" bIns="27432" anchor="t">
            <a:spAutoFit/>
          </a:bodyPr>
          <a:lstStyle/>
          <a:p>
            <a:pPr algn="ctr"/>
            <a:r>
              <a:rPr lang="en-IN" sz="1300" b="1" i="1" dirty="0">
                <a:solidFill>
                  <a:srgbClr val="5B7194"/>
                </a:solidFill>
                <a:latin typeface="Segoe UI"/>
              </a:rPr>
              <a:t>Place names found by named-entity recognition were filtered: spans over three words, or containing symbols such as # @ /, were rejected.</a:t>
            </a:r>
            <a:endParaRPr sz="1300" b="1" i="1" dirty="0">
              <a:solidFill>
                <a:srgbClr val="5B7194"/>
              </a:solidFill>
              <a:latin typeface="Segoe U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55680" cy="1005840"/>
          </a:xfrm>
          <a:prstGeom prst="rect">
            <a:avLst/>
          </a:prstGeom>
          <a:noFill/>
        </p:spPr>
        <p:txBody>
          <a:bodyPr wrap="square" lIns="45720" tIns="27432" rIns="45720" bIns="27432" anchor="ctr">
            <a:spAutoFit/>
          </a:bodyPr>
          <a:lstStyle/>
          <a:p>
            <a:pPr algn="ctr"/>
            <a:r>
              <a:rPr sz="4000" b="1" i="0">
                <a:solidFill>
                  <a:srgbClr val="FFFFFF"/>
                </a:solidFill>
                <a:latin typeface="Bahnschrift"/>
              </a:rPr>
              <a:t>Feature Engineering</a:t>
            </a:r>
          </a:p>
        </p:txBody>
      </p:sp>
      <p:pic>
        <p:nvPicPr>
          <p:cNvPr id="4" name="Picture 3" descr="logo.png"/>
          <p:cNvPicPr>
            <a:picLocks noChangeAspect="1"/>
          </p:cNvPicPr>
          <p:nvPr/>
        </p:nvPicPr>
        <p:blipFill>
          <a:blip r:embed="rId3"/>
          <a:stretch>
            <a:fillRect/>
          </a:stretch>
        </p:blipFill>
        <p:spPr>
          <a:xfrm>
            <a:off x="11247120" y="274320"/>
            <a:ext cx="658368" cy="658368"/>
          </a:xfrm>
          <a:prstGeom prst="rect">
            <a:avLst/>
          </a:prstGeom>
        </p:spPr>
      </p:pic>
      <p:sp>
        <p:nvSpPr>
          <p:cNvPr id="5" name="Rounded Rectangle 4"/>
          <p:cNvSpPr/>
          <p:nvPr/>
        </p:nvSpPr>
        <p:spPr>
          <a:xfrm>
            <a:off x="502920" y="1554480"/>
            <a:ext cx="2743200" cy="123444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1682495"/>
            <a:ext cx="64008" cy="97840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00200"/>
            <a:ext cx="2468880" cy="617220"/>
          </a:xfrm>
          <a:prstGeom prst="rect">
            <a:avLst/>
          </a:prstGeom>
          <a:noFill/>
        </p:spPr>
        <p:txBody>
          <a:bodyPr wrap="square" lIns="45720" tIns="27432" rIns="45720" bIns="27432" anchor="b">
            <a:spAutoFit/>
          </a:bodyPr>
          <a:lstStyle/>
          <a:p>
            <a:pPr algn="l"/>
            <a:r>
              <a:rPr sz="3400" b="1" i="0">
                <a:solidFill>
                  <a:srgbClr val="1F6FDC"/>
                </a:solidFill>
                <a:latin typeface="Bahnschrift"/>
              </a:rPr>
              <a:t>7 → 24</a:t>
            </a:r>
          </a:p>
        </p:txBody>
      </p:sp>
      <p:sp>
        <p:nvSpPr>
          <p:cNvPr id="8" name="TextBox 7"/>
          <p:cNvSpPr txBox="1"/>
          <p:nvPr/>
        </p:nvSpPr>
        <p:spPr>
          <a:xfrm>
            <a:off x="685800" y="2196388"/>
            <a:ext cx="2468880" cy="567842"/>
          </a:xfrm>
          <a:prstGeom prst="rect">
            <a:avLst/>
          </a:prstGeom>
          <a:noFill/>
        </p:spPr>
        <p:txBody>
          <a:bodyPr wrap="square" lIns="45720" tIns="27432" rIns="45720" bIns="27432" anchor="t">
            <a:spAutoFit/>
          </a:bodyPr>
          <a:lstStyle/>
          <a:p>
            <a:pPr algn="l"/>
            <a:r>
              <a:rPr sz="1200" b="1" i="0">
                <a:solidFill>
                  <a:srgbClr val="14305F"/>
                </a:solidFill>
                <a:latin typeface="Segoe UI"/>
              </a:rPr>
              <a:t>Columns</a:t>
            </a:r>
          </a:p>
          <a:p>
            <a:pPr algn="l"/>
            <a:r>
              <a:rPr sz="1050" b="0" i="0">
                <a:solidFill>
                  <a:srgbClr val="5B7194"/>
                </a:solidFill>
                <a:latin typeface="Segoe UI"/>
              </a:rPr>
              <a:t>New columns kept permanently</a:t>
            </a:r>
          </a:p>
        </p:txBody>
      </p:sp>
      <p:sp>
        <p:nvSpPr>
          <p:cNvPr id="9" name="Rounded Rectangle 8"/>
          <p:cNvSpPr/>
          <p:nvPr/>
        </p:nvSpPr>
        <p:spPr>
          <a:xfrm>
            <a:off x="502920" y="3200400"/>
            <a:ext cx="2743200" cy="123444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1208" y="3328416"/>
            <a:ext cx="64008" cy="97840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3246120"/>
            <a:ext cx="2468880" cy="617220"/>
          </a:xfrm>
          <a:prstGeom prst="rect">
            <a:avLst/>
          </a:prstGeom>
          <a:noFill/>
        </p:spPr>
        <p:txBody>
          <a:bodyPr wrap="square" lIns="45720" tIns="27432" rIns="45720" bIns="27432" anchor="b">
            <a:spAutoFit/>
          </a:bodyPr>
          <a:lstStyle/>
          <a:p>
            <a:pPr algn="l"/>
            <a:r>
              <a:rPr sz="3400" b="1" i="0">
                <a:solidFill>
                  <a:srgbClr val="14B8A6"/>
                </a:solidFill>
                <a:latin typeface="Bahnschrift"/>
              </a:rPr>
              <a:t>107</a:t>
            </a:r>
          </a:p>
        </p:txBody>
      </p:sp>
      <p:sp>
        <p:nvSpPr>
          <p:cNvPr id="12" name="TextBox 11"/>
          <p:cNvSpPr txBox="1"/>
          <p:nvPr/>
        </p:nvSpPr>
        <p:spPr>
          <a:xfrm>
            <a:off x="685800" y="3842308"/>
            <a:ext cx="2468880" cy="567842"/>
          </a:xfrm>
          <a:prstGeom prst="rect">
            <a:avLst/>
          </a:prstGeom>
          <a:noFill/>
        </p:spPr>
        <p:txBody>
          <a:bodyPr wrap="square" lIns="45720" tIns="27432" rIns="45720" bIns="27432" anchor="t">
            <a:spAutoFit/>
          </a:bodyPr>
          <a:lstStyle/>
          <a:p>
            <a:pPr algn="l"/>
            <a:r>
              <a:rPr sz="1200" b="1" i="0">
                <a:solidFill>
                  <a:srgbClr val="14305F"/>
                </a:solidFill>
                <a:latin typeface="Segoe UI"/>
              </a:rPr>
              <a:t>Median characters</a:t>
            </a:r>
          </a:p>
          <a:p>
            <a:pPr algn="l"/>
            <a:r>
              <a:rPr sz="1050" b="0" i="0">
                <a:solidFill>
                  <a:srgbClr val="5B7194"/>
                </a:solidFill>
                <a:latin typeface="Segoe UI"/>
              </a:rPr>
              <a:t>15 words per tweet</a:t>
            </a:r>
          </a:p>
        </p:txBody>
      </p:sp>
      <p:sp>
        <p:nvSpPr>
          <p:cNvPr id="13" name="Rounded Rectangle 12"/>
          <p:cNvSpPr/>
          <p:nvPr/>
        </p:nvSpPr>
        <p:spPr>
          <a:xfrm>
            <a:off x="3429000" y="1554480"/>
            <a:ext cx="4023360" cy="128016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47288" y="1682495"/>
            <a:ext cx="64008" cy="1024127"/>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0168" y="1627632"/>
            <a:ext cx="3703320" cy="1133856"/>
          </a:xfrm>
          <a:prstGeom prst="rect">
            <a:avLst/>
          </a:prstGeom>
          <a:noFill/>
        </p:spPr>
        <p:txBody>
          <a:bodyPr wrap="square" lIns="45720" tIns="27432" rIns="45720" bIns="27432" anchor="ctr">
            <a:spAutoFit/>
          </a:bodyPr>
          <a:lstStyle/>
          <a:p>
            <a:pPr algn="l">
              <a:spcAft>
                <a:spcPts val="300"/>
              </a:spcAft>
            </a:pPr>
            <a:r>
              <a:rPr sz="1500" b="1" i="0">
                <a:solidFill>
                  <a:srgbClr val="1F6FDC"/>
                </a:solidFill>
                <a:latin typeface="Bahnschrift"/>
              </a:rPr>
              <a:t>Structure</a:t>
            </a:r>
          </a:p>
          <a:p>
            <a:pPr algn="l">
              <a:spcAft>
                <a:spcPts val="300"/>
              </a:spcAft>
            </a:pPr>
            <a:r>
              <a:rPr sz="1200" b="0" i="0">
                <a:solidFill>
                  <a:srgbClr val="14305F"/>
                </a:solidFill>
                <a:latin typeface="Segoe UI"/>
              </a:rPr>
              <a:t>Characters, words, hashtags, mentions, links, capitals, punctuation, digits</a:t>
            </a:r>
          </a:p>
        </p:txBody>
      </p:sp>
      <p:sp>
        <p:nvSpPr>
          <p:cNvPr id="16" name="Rounded Rectangle 15"/>
          <p:cNvSpPr/>
          <p:nvPr/>
        </p:nvSpPr>
        <p:spPr>
          <a:xfrm>
            <a:off x="7589520" y="1554480"/>
            <a:ext cx="4023360" cy="128016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07808" y="1682495"/>
            <a:ext cx="64008" cy="1024127"/>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90688" y="1627632"/>
            <a:ext cx="3703320" cy="1133856"/>
          </a:xfrm>
          <a:prstGeom prst="rect">
            <a:avLst/>
          </a:prstGeom>
          <a:noFill/>
        </p:spPr>
        <p:txBody>
          <a:bodyPr wrap="square" lIns="45720" tIns="27432" rIns="45720" bIns="27432" anchor="ctr">
            <a:spAutoFit/>
          </a:bodyPr>
          <a:lstStyle/>
          <a:p>
            <a:pPr algn="l">
              <a:spcAft>
                <a:spcPts val="300"/>
              </a:spcAft>
            </a:pPr>
            <a:r>
              <a:rPr sz="1500" b="1" i="0" dirty="0">
                <a:solidFill>
                  <a:srgbClr val="EF5B5B"/>
                </a:solidFill>
                <a:latin typeface="Bahnschrift"/>
              </a:rPr>
              <a:t>Sentiment</a:t>
            </a:r>
          </a:p>
          <a:p>
            <a:pPr algn="l">
              <a:spcAft>
                <a:spcPts val="300"/>
              </a:spcAft>
            </a:pPr>
            <a:r>
              <a:rPr sz="1200" b="0" i="0" dirty="0">
                <a:solidFill>
                  <a:srgbClr val="14305F"/>
                </a:solidFill>
                <a:latin typeface="Segoe UI"/>
              </a:rPr>
              <a:t>VADER positive / neutral / negative scores and an overall label</a:t>
            </a:r>
          </a:p>
        </p:txBody>
      </p:sp>
      <p:sp>
        <p:nvSpPr>
          <p:cNvPr id="19" name="Rounded Rectangle 18"/>
          <p:cNvSpPr/>
          <p:nvPr/>
        </p:nvSpPr>
        <p:spPr>
          <a:xfrm>
            <a:off x="3429000" y="3200400"/>
            <a:ext cx="4023360" cy="128016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47288" y="3328416"/>
            <a:ext cx="64008" cy="102412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30168" y="3273552"/>
            <a:ext cx="3703320" cy="1133856"/>
          </a:xfrm>
          <a:prstGeom prst="rect">
            <a:avLst/>
          </a:prstGeom>
          <a:noFill/>
        </p:spPr>
        <p:txBody>
          <a:bodyPr wrap="square" lIns="45720" tIns="27432" rIns="45720" bIns="27432" anchor="ctr">
            <a:spAutoFit/>
          </a:bodyPr>
          <a:lstStyle/>
          <a:p>
            <a:pPr algn="l">
              <a:spcAft>
                <a:spcPts val="300"/>
              </a:spcAft>
            </a:pPr>
            <a:r>
              <a:rPr sz="1500" b="1" i="0">
                <a:solidFill>
                  <a:srgbClr val="F5A623"/>
                </a:solidFill>
                <a:latin typeface="Bahnschrift"/>
              </a:rPr>
              <a:t>Disaster type</a:t>
            </a:r>
          </a:p>
          <a:p>
            <a:pPr algn="l">
              <a:spcAft>
                <a:spcPts val="300"/>
              </a:spcAft>
            </a:pPr>
            <a:r>
              <a:rPr sz="1200" b="0" i="0">
                <a:solidFill>
                  <a:srgbClr val="14305F"/>
                </a:solidFill>
                <a:latin typeface="Segoe UI"/>
              </a:rPr>
              <a:t>13 rule-based themes, e.g. Severe Weather, Fire &amp; Wildfire</a:t>
            </a:r>
          </a:p>
        </p:txBody>
      </p:sp>
      <p:sp>
        <p:nvSpPr>
          <p:cNvPr id="22" name="Rounded Rectangle 21"/>
          <p:cNvSpPr/>
          <p:nvPr/>
        </p:nvSpPr>
        <p:spPr>
          <a:xfrm>
            <a:off x="7589520" y="3200400"/>
            <a:ext cx="4023360" cy="128016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607808" y="3328416"/>
            <a:ext cx="64008" cy="1024127"/>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90688" y="3273552"/>
            <a:ext cx="3703320" cy="1133856"/>
          </a:xfrm>
          <a:prstGeom prst="rect">
            <a:avLst/>
          </a:prstGeom>
          <a:noFill/>
        </p:spPr>
        <p:txBody>
          <a:bodyPr wrap="square" lIns="45720" tIns="27432" rIns="45720" bIns="27432" anchor="ctr">
            <a:spAutoFit/>
          </a:bodyPr>
          <a:lstStyle/>
          <a:p>
            <a:pPr algn="l">
              <a:spcAft>
                <a:spcPts val="300"/>
              </a:spcAft>
            </a:pPr>
            <a:r>
              <a:rPr sz="1500" b="1" i="0">
                <a:solidFill>
                  <a:srgbClr val="14B8A6"/>
                </a:solidFill>
                <a:latin typeface="Bahnschrift"/>
              </a:rPr>
              <a:t>Clean text</a:t>
            </a:r>
          </a:p>
          <a:p>
            <a:pPr algn="l">
              <a:spcAft>
                <a:spcPts val="300"/>
              </a:spcAft>
            </a:pPr>
            <a:r>
              <a:rPr sz="1200" b="0" i="0">
                <a:solidFill>
                  <a:srgbClr val="14305F"/>
                </a:solidFill>
                <a:latin typeface="Segoe UI"/>
              </a:rPr>
              <a:t>Lowercased, stop words removed, lemmatised tokens</a:t>
            </a:r>
          </a:p>
        </p:txBody>
      </p:sp>
      <p:sp>
        <p:nvSpPr>
          <p:cNvPr id="25" name="Rounded Rectangle 24"/>
          <p:cNvSpPr/>
          <p:nvPr/>
        </p:nvSpPr>
        <p:spPr>
          <a:xfrm>
            <a:off x="502920" y="4873752"/>
            <a:ext cx="6949440" cy="16002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4937760"/>
            <a:ext cx="6583680" cy="365760"/>
          </a:xfrm>
          <a:prstGeom prst="rect">
            <a:avLst/>
          </a:prstGeom>
          <a:noFill/>
        </p:spPr>
        <p:txBody>
          <a:bodyPr wrap="square" lIns="45720" tIns="27432" rIns="45720" bIns="27432" anchor="t">
            <a:spAutoFit/>
          </a:bodyPr>
          <a:lstStyle/>
          <a:p>
            <a:pPr algn="l"/>
            <a:r>
              <a:rPr sz="1600" b="1" i="0">
                <a:solidFill>
                  <a:srgbClr val="14305F"/>
                </a:solidFill>
                <a:latin typeface="Bahnschrift"/>
              </a:rPr>
              <a:t>What the features show</a:t>
            </a:r>
          </a:p>
        </p:txBody>
      </p:sp>
      <p:sp>
        <p:nvSpPr>
          <p:cNvPr id="27" name="TextBox 26"/>
          <p:cNvSpPr txBox="1"/>
          <p:nvPr/>
        </p:nvSpPr>
        <p:spPr>
          <a:xfrm>
            <a:off x="731520" y="5394960"/>
            <a:ext cx="3291840" cy="1005840"/>
          </a:xfrm>
          <a:prstGeom prst="rect">
            <a:avLst/>
          </a:prstGeom>
          <a:noFill/>
        </p:spPr>
        <p:txBody>
          <a:bodyPr wrap="square" lIns="45720" tIns="27432" rIns="45720" bIns="27432" anchor="t">
            <a:spAutoFit/>
          </a:bodyPr>
          <a:lstStyle/>
          <a:p>
            <a:pPr algn="l"/>
            <a:r>
              <a:rPr sz="2600" b="1" i="0">
                <a:solidFill>
                  <a:srgbClr val="EF5B5B"/>
                </a:solidFill>
                <a:latin typeface="Bahnschrift"/>
              </a:rPr>
              <a:t>49%</a:t>
            </a:r>
            <a:r>
              <a:rPr sz="1300" b="0" i="0">
                <a:solidFill>
                  <a:srgbClr val="14305F"/>
                </a:solidFill>
                <a:latin typeface="Segoe UI"/>
              </a:rPr>
              <a:t>  of tweets are negative</a:t>
            </a:r>
          </a:p>
          <a:p>
            <a:pPr algn="l"/>
            <a:r>
              <a:rPr sz="1150" b="0" i="0">
                <a:solidFill>
                  <a:srgbClr val="5B7194"/>
                </a:solidFill>
                <a:latin typeface="Segoe UI"/>
              </a:rPr>
              <a:t>vs 26% positive, 25% neutral</a:t>
            </a:r>
          </a:p>
        </p:txBody>
      </p:sp>
      <p:sp>
        <p:nvSpPr>
          <p:cNvPr id="28" name="TextBox 27"/>
          <p:cNvSpPr txBox="1"/>
          <p:nvPr/>
        </p:nvSpPr>
        <p:spPr>
          <a:xfrm>
            <a:off x="4069080" y="5394960"/>
            <a:ext cx="3337560" cy="1005840"/>
          </a:xfrm>
          <a:prstGeom prst="rect">
            <a:avLst/>
          </a:prstGeom>
          <a:noFill/>
        </p:spPr>
        <p:txBody>
          <a:bodyPr wrap="square" lIns="45720" tIns="27432" rIns="45720" bIns="27432" anchor="t">
            <a:spAutoFit/>
          </a:bodyPr>
          <a:lstStyle/>
          <a:p>
            <a:pPr algn="l"/>
            <a:r>
              <a:rPr sz="2600" b="1" i="0">
                <a:solidFill>
                  <a:srgbClr val="0E9F6E"/>
                </a:solidFill>
                <a:latin typeface="Bahnschrift"/>
              </a:rPr>
              <a:t>0</a:t>
            </a:r>
            <a:r>
              <a:rPr sz="1300" b="0" i="0">
                <a:solidFill>
                  <a:srgbClr val="14305F"/>
                </a:solidFill>
                <a:latin typeface="Segoe UI"/>
              </a:rPr>
              <a:t>  missing values</a:t>
            </a:r>
          </a:p>
          <a:p>
            <a:pPr algn="l"/>
            <a:r>
              <a:rPr sz="1150" b="0" i="0">
                <a:solidFill>
                  <a:srgbClr val="5B7194"/>
                </a:solidFill>
                <a:latin typeface="Segoe UI"/>
              </a:rPr>
              <a:t>in any of the 17 new columns after validation</a:t>
            </a:r>
          </a:p>
        </p:txBody>
      </p:sp>
      <p:sp>
        <p:nvSpPr>
          <p:cNvPr id="29" name="Rounded Rectangle 28"/>
          <p:cNvSpPr/>
          <p:nvPr/>
        </p:nvSpPr>
        <p:spPr>
          <a:xfrm>
            <a:off x="7589520" y="4873752"/>
            <a:ext cx="4023360" cy="16002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607808" y="5001768"/>
            <a:ext cx="64008" cy="1344168"/>
          </a:xfrm>
          <a:prstGeom prst="rect">
            <a:avLst/>
          </a:prstGeom>
          <a:solidFill>
            <a:srgbClr val="143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90688" y="4946904"/>
            <a:ext cx="3703320" cy="1453896"/>
          </a:xfrm>
          <a:prstGeom prst="rect">
            <a:avLst/>
          </a:prstGeom>
          <a:noFill/>
        </p:spPr>
        <p:txBody>
          <a:bodyPr wrap="square" lIns="45720" tIns="27432" rIns="45720" bIns="27432" anchor="ctr">
            <a:spAutoFit/>
          </a:bodyPr>
          <a:lstStyle/>
          <a:p>
            <a:pPr algn="l">
              <a:spcAft>
                <a:spcPts val="300"/>
              </a:spcAft>
            </a:pPr>
            <a:r>
              <a:rPr sz="1500" b="1" i="0">
                <a:solidFill>
                  <a:srgbClr val="14305F"/>
                </a:solidFill>
                <a:latin typeface="Bahnschrift"/>
              </a:rPr>
              <a:t>Created is not the same as useful</a:t>
            </a:r>
          </a:p>
          <a:p>
            <a:pPr algn="l">
              <a:spcAft>
                <a:spcPts val="300"/>
              </a:spcAft>
            </a:pPr>
            <a:r>
              <a:rPr sz="1200" b="0" i="0">
                <a:solidFill>
                  <a:srgbClr val="14305F"/>
                </a:solidFill>
                <a:latin typeface="Segoe UI"/>
              </a:rPr>
              <a:t>Each feature is only a candidate. The EDA slides test whether it relates to the target before any modelling.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3447"/>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EDA — What Separates Disasters</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502920" y="1508760"/>
            <a:ext cx="5486400" cy="3749039"/>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90_0.png"/>
          <p:cNvPicPr>
            <a:picLocks noChangeAspect="1"/>
          </p:cNvPicPr>
          <p:nvPr/>
        </p:nvPicPr>
        <p:blipFill>
          <a:blip r:embed="rId4"/>
          <a:stretch>
            <a:fillRect/>
          </a:stretch>
        </p:blipFill>
        <p:spPr>
          <a:xfrm>
            <a:off x="576072" y="1636777"/>
            <a:ext cx="5340096" cy="3621022"/>
          </a:xfrm>
          <a:prstGeom prst="rect">
            <a:avLst/>
          </a:prstGeom>
        </p:spPr>
      </p:pic>
      <p:sp>
        <p:nvSpPr>
          <p:cNvPr id="10" name="Rounded Rectangle 9"/>
          <p:cNvSpPr/>
          <p:nvPr/>
        </p:nvSpPr>
        <p:spPr>
          <a:xfrm>
            <a:off x="6172200" y="1508760"/>
            <a:ext cx="5486400" cy="3749039"/>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93_0.png"/>
          <p:cNvPicPr>
            <a:picLocks noChangeAspect="1"/>
          </p:cNvPicPr>
          <p:nvPr/>
        </p:nvPicPr>
        <p:blipFill>
          <a:blip r:embed="rId5"/>
          <a:stretch>
            <a:fillRect/>
          </a:stretch>
        </p:blipFill>
        <p:spPr>
          <a:xfrm>
            <a:off x="6245352" y="1968760"/>
            <a:ext cx="5340096" cy="2883158"/>
          </a:xfrm>
          <a:prstGeom prst="rect">
            <a:avLst/>
          </a:prstGeom>
        </p:spPr>
      </p:pic>
      <p:sp>
        <p:nvSpPr>
          <p:cNvPr id="12" name="Rounded Rectangle 11"/>
          <p:cNvSpPr/>
          <p:nvPr/>
        </p:nvSpPr>
        <p:spPr>
          <a:xfrm>
            <a:off x="502920" y="5568696"/>
            <a:ext cx="3566160" cy="9144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1208" y="5696712"/>
            <a:ext cx="64008" cy="658368"/>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5614416"/>
            <a:ext cx="3291840" cy="457200"/>
          </a:xfrm>
          <a:prstGeom prst="rect">
            <a:avLst/>
          </a:prstGeom>
          <a:noFill/>
        </p:spPr>
        <p:txBody>
          <a:bodyPr wrap="square" lIns="45720" tIns="27432" rIns="45720" bIns="27432" anchor="b">
            <a:spAutoFit/>
          </a:bodyPr>
          <a:lstStyle/>
          <a:p>
            <a:pPr algn="l"/>
            <a:r>
              <a:rPr sz="2400" b="1" i="0">
                <a:solidFill>
                  <a:srgbClr val="EF5B5B"/>
                </a:solidFill>
                <a:latin typeface="Bahnschrift"/>
              </a:rPr>
              <a:t>67% vs 42%</a:t>
            </a:r>
          </a:p>
        </p:txBody>
      </p:sp>
      <p:sp>
        <p:nvSpPr>
          <p:cNvPr id="15" name="TextBox 14"/>
          <p:cNvSpPr txBox="1"/>
          <p:nvPr/>
        </p:nvSpPr>
        <p:spPr>
          <a:xfrm>
            <a:off x="685800" y="6044184"/>
            <a:ext cx="3291840" cy="420624"/>
          </a:xfrm>
          <a:prstGeom prst="rect">
            <a:avLst/>
          </a:prstGeom>
          <a:noFill/>
        </p:spPr>
        <p:txBody>
          <a:bodyPr wrap="square" lIns="45720" tIns="27432" rIns="45720" bIns="27432" anchor="t">
            <a:spAutoFit/>
          </a:bodyPr>
          <a:lstStyle/>
          <a:p>
            <a:pPr algn="l"/>
            <a:r>
              <a:rPr sz="1200" b="1" i="0">
                <a:solidFill>
                  <a:srgbClr val="14305F"/>
                </a:solidFill>
                <a:latin typeface="Segoe UI"/>
              </a:rPr>
              <a:t>Disaster vs other tweets with a link</a:t>
            </a:r>
          </a:p>
        </p:txBody>
      </p:sp>
      <p:sp>
        <p:nvSpPr>
          <p:cNvPr id="16" name="Rounded Rectangle 15"/>
          <p:cNvSpPr/>
          <p:nvPr/>
        </p:nvSpPr>
        <p:spPr>
          <a:xfrm>
            <a:off x="4297680" y="5568696"/>
            <a:ext cx="3566160" cy="9144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15968" y="5696712"/>
            <a:ext cx="64008" cy="65836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80560" y="5614416"/>
            <a:ext cx="3291840" cy="457200"/>
          </a:xfrm>
          <a:prstGeom prst="rect">
            <a:avLst/>
          </a:prstGeom>
          <a:noFill/>
        </p:spPr>
        <p:txBody>
          <a:bodyPr wrap="square" lIns="45720" tIns="27432" rIns="45720" bIns="27432" anchor="b">
            <a:spAutoFit/>
          </a:bodyPr>
          <a:lstStyle/>
          <a:p>
            <a:pPr algn="l"/>
            <a:r>
              <a:rPr sz="2400" b="1" i="0">
                <a:solidFill>
                  <a:srgbClr val="1F6FDC"/>
                </a:solidFill>
                <a:latin typeface="Bahnschrift"/>
              </a:rPr>
              <a:t>31% vs 21%</a:t>
            </a:r>
          </a:p>
        </p:txBody>
      </p:sp>
      <p:sp>
        <p:nvSpPr>
          <p:cNvPr id="19" name="TextBox 18"/>
          <p:cNvSpPr txBox="1"/>
          <p:nvPr/>
        </p:nvSpPr>
        <p:spPr>
          <a:xfrm>
            <a:off x="4480560" y="6044184"/>
            <a:ext cx="3291840" cy="420624"/>
          </a:xfrm>
          <a:prstGeom prst="rect">
            <a:avLst/>
          </a:prstGeom>
          <a:noFill/>
        </p:spPr>
        <p:txBody>
          <a:bodyPr wrap="square" lIns="45720" tIns="27432" rIns="45720" bIns="27432" anchor="t">
            <a:spAutoFit/>
          </a:bodyPr>
          <a:lstStyle/>
          <a:p>
            <a:pPr algn="l"/>
            <a:r>
              <a:rPr sz="1200" b="1" i="0">
                <a:solidFill>
                  <a:srgbClr val="14305F"/>
                </a:solidFill>
                <a:latin typeface="Segoe UI"/>
              </a:rPr>
              <a:t>Other vs disaster tweets with a mention</a:t>
            </a:r>
          </a:p>
        </p:txBody>
      </p:sp>
      <p:sp>
        <p:nvSpPr>
          <p:cNvPr id="20" name="Rounded Rectangle 19"/>
          <p:cNvSpPr/>
          <p:nvPr/>
        </p:nvSpPr>
        <p:spPr>
          <a:xfrm>
            <a:off x="8092440" y="5568696"/>
            <a:ext cx="3566160" cy="9144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10727" y="5696712"/>
            <a:ext cx="64008" cy="65836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5319" y="5614416"/>
            <a:ext cx="3291840" cy="457200"/>
          </a:xfrm>
          <a:prstGeom prst="rect">
            <a:avLst/>
          </a:prstGeom>
          <a:noFill/>
        </p:spPr>
        <p:txBody>
          <a:bodyPr wrap="square" lIns="45720" tIns="27432" rIns="45720" bIns="27432" anchor="b">
            <a:spAutoFit/>
          </a:bodyPr>
          <a:lstStyle/>
          <a:p>
            <a:pPr algn="l"/>
            <a:r>
              <a:rPr sz="2400" b="1" i="0">
                <a:solidFill>
                  <a:srgbClr val="F5A623"/>
                </a:solidFill>
                <a:latin typeface="Bahnschrift"/>
              </a:rPr>
              <a:t>−0.27 vs −0.05</a:t>
            </a:r>
          </a:p>
        </p:txBody>
      </p:sp>
      <p:sp>
        <p:nvSpPr>
          <p:cNvPr id="23" name="TextBox 22"/>
          <p:cNvSpPr txBox="1"/>
          <p:nvPr/>
        </p:nvSpPr>
        <p:spPr>
          <a:xfrm>
            <a:off x="8275319" y="6044184"/>
            <a:ext cx="3291840" cy="420624"/>
          </a:xfrm>
          <a:prstGeom prst="rect">
            <a:avLst/>
          </a:prstGeom>
          <a:noFill/>
        </p:spPr>
        <p:txBody>
          <a:bodyPr wrap="square" lIns="45720" tIns="27432" rIns="45720" bIns="27432" anchor="t">
            <a:spAutoFit/>
          </a:bodyPr>
          <a:lstStyle/>
          <a:p>
            <a:pPr algn="l"/>
            <a:r>
              <a:rPr sz="1200" b="1" i="0">
                <a:solidFill>
                  <a:srgbClr val="14305F"/>
                </a:solidFill>
                <a:latin typeface="Segoe UI"/>
              </a:rPr>
              <a:t>Average sentiment, disaster vs other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55680" cy="1005840"/>
          </a:xfrm>
          <a:prstGeom prst="rect">
            <a:avLst/>
          </a:prstGeom>
          <a:noFill/>
        </p:spPr>
        <p:txBody>
          <a:bodyPr wrap="square" lIns="45720" tIns="27432" rIns="45720" bIns="27432" anchor="ctr">
            <a:spAutoFit/>
          </a:bodyPr>
          <a:lstStyle/>
          <a:p>
            <a:pPr algn="ctr"/>
            <a:r>
              <a:rPr sz="4000" b="1" i="0">
                <a:solidFill>
                  <a:srgbClr val="FFFFFF"/>
                </a:solidFill>
                <a:latin typeface="Bahnschrift"/>
              </a:rPr>
              <a:t>EDA — Keywords</a:t>
            </a:r>
          </a:p>
        </p:txBody>
      </p:sp>
      <p:pic>
        <p:nvPicPr>
          <p:cNvPr id="4" name="Picture 3" descr="logo.png"/>
          <p:cNvPicPr>
            <a:picLocks noChangeAspect="1"/>
          </p:cNvPicPr>
          <p:nvPr/>
        </p:nvPicPr>
        <p:blipFill>
          <a:blip r:embed="rId3"/>
          <a:stretch>
            <a:fillRect/>
          </a:stretch>
        </p:blipFill>
        <p:spPr>
          <a:xfrm>
            <a:off x="11247120" y="274320"/>
            <a:ext cx="658368" cy="658368"/>
          </a:xfrm>
          <a:prstGeom prst="rect">
            <a:avLst/>
          </a:prstGeom>
        </p:spPr>
      </p:pic>
      <p:sp>
        <p:nvSpPr>
          <p:cNvPr id="7" name="Rounded Rectangle 6"/>
          <p:cNvSpPr/>
          <p:nvPr/>
        </p:nvSpPr>
        <p:spPr>
          <a:xfrm>
            <a:off x="502920" y="1508760"/>
            <a:ext cx="8221202" cy="48006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508760"/>
            <a:ext cx="8221202" cy="48006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87_0.png"/>
          <p:cNvPicPr>
            <a:picLocks noChangeAspect="1"/>
          </p:cNvPicPr>
          <p:nvPr/>
        </p:nvPicPr>
        <p:blipFill>
          <a:blip r:embed="rId4"/>
          <a:stretch>
            <a:fillRect/>
          </a:stretch>
        </p:blipFill>
        <p:spPr>
          <a:xfrm>
            <a:off x="646051" y="1581912"/>
            <a:ext cx="7899484" cy="4654296"/>
          </a:xfrm>
          <a:prstGeom prst="rect">
            <a:avLst/>
          </a:prstGeom>
        </p:spPr>
      </p:pic>
      <p:sp>
        <p:nvSpPr>
          <p:cNvPr id="10" name="Rounded Rectangle 9"/>
          <p:cNvSpPr/>
          <p:nvPr/>
        </p:nvSpPr>
        <p:spPr>
          <a:xfrm>
            <a:off x="9248969" y="1508760"/>
            <a:ext cx="2440111" cy="150876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267257" y="1636776"/>
            <a:ext cx="48572" cy="1252728"/>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28687" y="1793011"/>
            <a:ext cx="2080673" cy="940257"/>
          </a:xfrm>
          <a:prstGeom prst="rect">
            <a:avLst/>
          </a:prstGeom>
          <a:noFill/>
        </p:spPr>
        <p:txBody>
          <a:bodyPr wrap="square" lIns="45720" tIns="27432" rIns="45720" bIns="27432" anchor="ctr">
            <a:spAutoFit/>
          </a:bodyPr>
          <a:lstStyle/>
          <a:p>
            <a:pPr algn="l">
              <a:spcAft>
                <a:spcPts val="300"/>
              </a:spcAft>
            </a:pPr>
            <a:r>
              <a:rPr sz="1500" b="1" i="0" dirty="0">
                <a:solidFill>
                  <a:srgbClr val="EF5B5B"/>
                </a:solidFill>
                <a:latin typeface="Bahnschrift"/>
              </a:rPr>
              <a:t>Strong signal</a:t>
            </a:r>
          </a:p>
          <a:p>
            <a:pPr algn="l">
              <a:spcAft>
                <a:spcPts val="300"/>
              </a:spcAft>
            </a:pPr>
            <a:r>
              <a:rPr sz="1250" b="0" i="0" dirty="0">
                <a:solidFill>
                  <a:srgbClr val="14305F"/>
                </a:solidFill>
                <a:latin typeface="Segoe UI"/>
              </a:rPr>
              <a:t>“outbreak”: 38 disaster vs 1 other</a:t>
            </a:r>
          </a:p>
          <a:p>
            <a:pPr algn="l">
              <a:spcAft>
                <a:spcPts val="300"/>
              </a:spcAft>
            </a:pPr>
            <a:r>
              <a:rPr sz="1250" b="0" i="0" dirty="0">
                <a:solidFill>
                  <a:srgbClr val="14305F"/>
                </a:solidFill>
                <a:latin typeface="Segoe UI"/>
              </a:rPr>
              <a:t>“collision”: 29 vs 10</a:t>
            </a:r>
          </a:p>
        </p:txBody>
      </p:sp>
      <p:sp>
        <p:nvSpPr>
          <p:cNvPr id="13" name="Rounded Rectangle 12"/>
          <p:cNvSpPr/>
          <p:nvPr/>
        </p:nvSpPr>
        <p:spPr>
          <a:xfrm>
            <a:off x="9248969" y="3154680"/>
            <a:ext cx="2440111" cy="16459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267257" y="3282696"/>
            <a:ext cx="48572" cy="138988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28687" y="3282696"/>
            <a:ext cx="2080673" cy="1363450"/>
          </a:xfrm>
          <a:prstGeom prst="rect">
            <a:avLst/>
          </a:prstGeom>
          <a:noFill/>
        </p:spPr>
        <p:txBody>
          <a:bodyPr wrap="square" lIns="45720" tIns="27432" rIns="45720" bIns="27432" anchor="ctr">
            <a:spAutoFit/>
          </a:bodyPr>
          <a:lstStyle/>
          <a:p>
            <a:pPr algn="l">
              <a:spcAft>
                <a:spcPts val="300"/>
              </a:spcAft>
            </a:pPr>
            <a:r>
              <a:rPr sz="1500" b="1" i="0" dirty="0">
                <a:solidFill>
                  <a:srgbClr val="1F6FDC"/>
                </a:solidFill>
                <a:latin typeface="Bahnschrift"/>
              </a:rPr>
              <a:t>Misleading alarm words</a:t>
            </a:r>
          </a:p>
          <a:p>
            <a:pPr algn="l">
              <a:spcAft>
                <a:spcPts val="300"/>
              </a:spcAft>
            </a:pPr>
            <a:r>
              <a:rPr sz="1250" b="0" i="0" dirty="0">
                <a:solidFill>
                  <a:srgbClr val="14305F"/>
                </a:solidFill>
                <a:latin typeface="Segoe UI"/>
              </a:rPr>
              <a:t>“body bags”: 40 other vs 1 disaster</a:t>
            </a:r>
          </a:p>
          <a:p>
            <a:pPr algn="l">
              <a:spcAft>
                <a:spcPts val="300"/>
              </a:spcAft>
            </a:pPr>
            <a:r>
              <a:rPr sz="1250" b="0" i="0" dirty="0">
                <a:solidFill>
                  <a:srgbClr val="14305F"/>
                </a:solidFill>
                <a:latin typeface="Segoe UI"/>
              </a:rPr>
              <a:t>also armageddon, deluge, twister, siren</a:t>
            </a:r>
          </a:p>
        </p:txBody>
      </p:sp>
      <p:sp>
        <p:nvSpPr>
          <p:cNvPr id="16" name="Rounded Rectangle 15"/>
          <p:cNvSpPr/>
          <p:nvPr/>
        </p:nvSpPr>
        <p:spPr>
          <a:xfrm>
            <a:off x="9248969" y="4937760"/>
            <a:ext cx="2440111" cy="13716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267257" y="5065776"/>
            <a:ext cx="48572" cy="111556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28686" y="5249611"/>
            <a:ext cx="2080673" cy="747897"/>
          </a:xfrm>
          <a:prstGeom prst="rect">
            <a:avLst/>
          </a:prstGeom>
          <a:noFill/>
        </p:spPr>
        <p:txBody>
          <a:bodyPr wrap="square" lIns="45720" tIns="27432" rIns="45720" bIns="27432" anchor="ctr">
            <a:spAutoFit/>
          </a:bodyPr>
          <a:lstStyle/>
          <a:p>
            <a:pPr algn="l">
              <a:spcAft>
                <a:spcPts val="300"/>
              </a:spcAft>
            </a:pPr>
            <a:r>
              <a:rPr sz="1500" b="1" i="0" dirty="0">
                <a:solidFill>
                  <a:srgbClr val="F5A623"/>
                </a:solidFill>
                <a:latin typeface="Bahnschrift"/>
              </a:rPr>
              <a:t>Coin-flip words</a:t>
            </a:r>
          </a:p>
          <a:p>
            <a:pPr algn="l">
              <a:spcAft>
                <a:spcPts val="300"/>
              </a:spcAft>
            </a:pPr>
            <a:r>
              <a:rPr sz="1250" b="0" i="0" dirty="0">
                <a:solidFill>
                  <a:srgbClr val="14305F"/>
                </a:solidFill>
                <a:latin typeface="Segoe UI"/>
              </a:rPr>
              <a:t>“fatalities”: 26 vs 19</a:t>
            </a:r>
          </a:p>
          <a:p>
            <a:pPr algn="l">
              <a:spcAft>
                <a:spcPts val="300"/>
              </a:spcAft>
            </a:pPr>
            <a:r>
              <a:rPr sz="1250" b="0" i="0" dirty="0">
                <a:solidFill>
                  <a:srgbClr val="14305F"/>
                </a:solidFill>
                <a:latin typeface="Segoe UI"/>
              </a:rPr>
              <a:t>“damage”: 19 vs 22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55680" cy="1005840"/>
          </a:xfrm>
          <a:prstGeom prst="rect">
            <a:avLst/>
          </a:prstGeom>
          <a:noFill/>
        </p:spPr>
        <p:txBody>
          <a:bodyPr wrap="square" lIns="45720" tIns="27432" rIns="45720" bIns="27432" anchor="ctr">
            <a:spAutoFit/>
          </a:bodyPr>
          <a:lstStyle/>
          <a:p>
            <a:pPr algn="ctr"/>
            <a:r>
              <a:rPr sz="4000" b="1" i="0">
                <a:solidFill>
                  <a:srgbClr val="FFFFFF"/>
                </a:solidFill>
                <a:latin typeface="Bahnschrift"/>
              </a:rPr>
              <a:t>EDA — Disaster Types</a:t>
            </a:r>
          </a:p>
        </p:txBody>
      </p:sp>
      <p:pic>
        <p:nvPicPr>
          <p:cNvPr id="4" name="Picture 3" descr="logo.png"/>
          <p:cNvPicPr>
            <a:picLocks noChangeAspect="1"/>
          </p:cNvPicPr>
          <p:nvPr/>
        </p:nvPicPr>
        <p:blipFill>
          <a:blip r:embed="rId3"/>
          <a:stretch>
            <a:fillRect/>
          </a:stretch>
        </p:blipFill>
        <p:spPr>
          <a:xfrm>
            <a:off x="11247120" y="274320"/>
            <a:ext cx="658368" cy="658368"/>
          </a:xfrm>
          <a:prstGeom prst="rect">
            <a:avLst/>
          </a:prstGeom>
        </p:spPr>
      </p:pic>
      <p:sp>
        <p:nvSpPr>
          <p:cNvPr id="7" name="Rounded Rectangle 6"/>
          <p:cNvSpPr/>
          <p:nvPr/>
        </p:nvSpPr>
        <p:spPr>
          <a:xfrm>
            <a:off x="502920" y="1508760"/>
            <a:ext cx="6877594" cy="48006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508760"/>
            <a:ext cx="6877594" cy="48006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96_0.png"/>
          <p:cNvPicPr>
            <a:picLocks noChangeAspect="1"/>
          </p:cNvPicPr>
          <p:nvPr/>
        </p:nvPicPr>
        <p:blipFill>
          <a:blip r:embed="rId4"/>
          <a:stretch>
            <a:fillRect/>
          </a:stretch>
        </p:blipFill>
        <p:spPr>
          <a:xfrm>
            <a:off x="640651" y="1581912"/>
            <a:ext cx="6593774" cy="4654296"/>
          </a:xfrm>
          <a:prstGeom prst="rect">
            <a:avLst/>
          </a:prstGeom>
        </p:spPr>
      </p:pic>
      <p:sp>
        <p:nvSpPr>
          <p:cNvPr id="10" name="Rounded Rectangle 9"/>
          <p:cNvSpPr/>
          <p:nvPr/>
        </p:nvSpPr>
        <p:spPr>
          <a:xfrm>
            <a:off x="7715483" y="1508760"/>
            <a:ext cx="4059749" cy="1445666"/>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733771" y="1665122"/>
            <a:ext cx="60464" cy="1161288"/>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98363" y="1743644"/>
            <a:ext cx="3800616" cy="547842"/>
          </a:xfrm>
          <a:prstGeom prst="rect">
            <a:avLst/>
          </a:prstGeom>
          <a:noFill/>
        </p:spPr>
        <p:txBody>
          <a:bodyPr wrap="square" lIns="45720" tIns="27432" rIns="45720" bIns="27432" anchor="b">
            <a:spAutoFit/>
          </a:bodyPr>
          <a:lstStyle/>
          <a:p>
            <a:pPr algn="l"/>
            <a:r>
              <a:rPr sz="3200" b="1" i="0">
                <a:solidFill>
                  <a:srgbClr val="0E9F6E"/>
                </a:solidFill>
                <a:latin typeface="Bahnschrift"/>
              </a:rPr>
              <a:t>5 of 13</a:t>
            </a:r>
          </a:p>
        </p:txBody>
      </p:sp>
      <p:sp>
        <p:nvSpPr>
          <p:cNvPr id="13" name="TextBox 12"/>
          <p:cNvSpPr txBox="1"/>
          <p:nvPr/>
        </p:nvSpPr>
        <p:spPr>
          <a:xfrm>
            <a:off x="7898363" y="2274112"/>
            <a:ext cx="3800616" cy="401648"/>
          </a:xfrm>
          <a:prstGeom prst="rect">
            <a:avLst/>
          </a:prstGeom>
          <a:noFill/>
        </p:spPr>
        <p:txBody>
          <a:bodyPr wrap="square" lIns="45720" tIns="27432" rIns="45720" bIns="27432" anchor="t">
            <a:spAutoFit/>
          </a:bodyPr>
          <a:lstStyle/>
          <a:p>
            <a:pPr algn="l"/>
            <a:r>
              <a:rPr sz="1200" b="1" i="0">
                <a:solidFill>
                  <a:srgbClr val="14305F"/>
                </a:solidFill>
                <a:latin typeface="Segoe UI"/>
              </a:rPr>
              <a:t>Themes where most tweets are real</a:t>
            </a:r>
          </a:p>
          <a:p>
            <a:pPr algn="l"/>
            <a:r>
              <a:rPr sz="1050" b="0" i="0">
                <a:solidFill>
                  <a:srgbClr val="5B7194"/>
                </a:solidFill>
                <a:latin typeface="Segoe UI"/>
              </a:rPr>
              <a:t>Even Fire &amp; Wildfire is only 49% real</a:t>
            </a:r>
          </a:p>
        </p:txBody>
      </p:sp>
      <p:sp>
        <p:nvSpPr>
          <p:cNvPr id="14" name="Rounded Rectangle 13"/>
          <p:cNvSpPr/>
          <p:nvPr/>
        </p:nvSpPr>
        <p:spPr>
          <a:xfrm>
            <a:off x="7715483" y="3091586"/>
            <a:ext cx="4059749" cy="14173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33771" y="3219602"/>
            <a:ext cx="60464" cy="1161288"/>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98363" y="3359679"/>
            <a:ext cx="3800616" cy="486287"/>
          </a:xfrm>
          <a:prstGeom prst="rect">
            <a:avLst/>
          </a:prstGeom>
          <a:noFill/>
        </p:spPr>
        <p:txBody>
          <a:bodyPr wrap="square" lIns="45720" tIns="27432" rIns="45720" bIns="27432" anchor="b">
            <a:spAutoFit/>
          </a:bodyPr>
          <a:lstStyle/>
          <a:p>
            <a:pPr algn="l"/>
            <a:r>
              <a:rPr sz="2800" b="1" i="0">
                <a:solidFill>
                  <a:srgbClr val="EF5B5B"/>
                </a:solidFill>
                <a:latin typeface="Bahnschrift"/>
              </a:rPr>
              <a:t>65% → 28%</a:t>
            </a:r>
          </a:p>
        </p:txBody>
      </p:sp>
      <p:sp>
        <p:nvSpPr>
          <p:cNvPr id="17" name="TextBox 16"/>
          <p:cNvSpPr txBox="1"/>
          <p:nvPr/>
        </p:nvSpPr>
        <p:spPr>
          <a:xfrm>
            <a:off x="7898363" y="3828592"/>
            <a:ext cx="3800616" cy="401648"/>
          </a:xfrm>
          <a:prstGeom prst="rect">
            <a:avLst/>
          </a:prstGeom>
          <a:noFill/>
        </p:spPr>
        <p:txBody>
          <a:bodyPr wrap="square" lIns="45720" tIns="27432" rIns="45720" bIns="27432" anchor="t">
            <a:spAutoFit/>
          </a:bodyPr>
          <a:lstStyle/>
          <a:p>
            <a:pPr algn="l"/>
            <a:r>
              <a:rPr sz="1200" b="1" i="0">
                <a:solidFill>
                  <a:srgbClr val="14305F"/>
                </a:solidFill>
                <a:latin typeface="Segoe UI"/>
              </a:rPr>
              <a:t>Range of real-disaster share</a:t>
            </a:r>
          </a:p>
          <a:p>
            <a:pPr algn="l"/>
            <a:r>
              <a:rPr sz="1050" b="0" i="0">
                <a:solidFill>
                  <a:srgbClr val="5B7194"/>
                </a:solidFill>
                <a:latin typeface="Segoe UI"/>
              </a:rPr>
              <a:t>highest to lowest theme</a:t>
            </a:r>
          </a:p>
        </p:txBody>
      </p:sp>
      <p:sp>
        <p:nvSpPr>
          <p:cNvPr id="18" name="Rounded Rectangle 17"/>
          <p:cNvSpPr/>
          <p:nvPr/>
        </p:nvSpPr>
        <p:spPr>
          <a:xfrm>
            <a:off x="7715483" y="4646066"/>
            <a:ext cx="4059749" cy="1663294"/>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733771" y="4774082"/>
            <a:ext cx="60464" cy="14356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16651" y="5137173"/>
            <a:ext cx="3757427" cy="709425"/>
          </a:xfrm>
          <a:prstGeom prst="rect">
            <a:avLst/>
          </a:prstGeom>
          <a:noFill/>
        </p:spPr>
        <p:txBody>
          <a:bodyPr wrap="square" lIns="45720" tIns="27432" rIns="45720" bIns="27432" anchor="ctr">
            <a:spAutoFit/>
          </a:bodyPr>
          <a:lstStyle/>
          <a:p>
            <a:pPr algn="l">
              <a:spcAft>
                <a:spcPts val="300"/>
              </a:spcAft>
            </a:pPr>
            <a:r>
              <a:rPr sz="1500" b="1" i="0">
                <a:solidFill>
                  <a:srgbClr val="F5A623"/>
                </a:solidFill>
                <a:latin typeface="Bahnschrift"/>
              </a:rPr>
              <a:t>Rule-based themes</a:t>
            </a:r>
          </a:p>
          <a:p>
            <a:pPr algn="l">
              <a:spcAft>
                <a:spcPts val="300"/>
              </a:spcAft>
            </a:pPr>
            <a:r>
              <a:rPr sz="1250" b="0" i="0">
                <a:solidFill>
                  <a:srgbClr val="14305F"/>
                </a:solidFill>
                <a:latin typeface="Segoe UI"/>
              </a:rPr>
              <a:t>Grouped by keyword matching, so read them as analytical categories, not verified labels.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55680" cy="1005840"/>
          </a:xfrm>
          <a:prstGeom prst="rect">
            <a:avLst/>
          </a:prstGeom>
          <a:noFill/>
        </p:spPr>
        <p:txBody>
          <a:bodyPr wrap="square" lIns="45720" tIns="27432" rIns="45720" bIns="27432" anchor="ctr">
            <a:spAutoFit/>
          </a:bodyPr>
          <a:lstStyle/>
          <a:p>
            <a:pPr algn="ctr"/>
            <a:r>
              <a:rPr sz="4000" b="1" i="0">
                <a:solidFill>
                  <a:srgbClr val="FFFFFF"/>
                </a:solidFill>
                <a:latin typeface="Bahnschrift"/>
              </a:rPr>
              <a:t>EDA — Beyond Simple Features</a:t>
            </a:r>
          </a:p>
        </p:txBody>
      </p:sp>
      <p:pic>
        <p:nvPicPr>
          <p:cNvPr id="4" name="Picture 3"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1362269" y="1296047"/>
            <a:ext cx="9517225" cy="4239532"/>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107_0.png"/>
          <p:cNvPicPr>
            <a:picLocks noChangeAspect="1"/>
          </p:cNvPicPr>
          <p:nvPr/>
        </p:nvPicPr>
        <p:blipFill>
          <a:blip r:embed="rId4"/>
          <a:srcRect b="47500"/>
          <a:stretch>
            <a:fillRect/>
          </a:stretch>
        </p:blipFill>
        <p:spPr>
          <a:xfrm>
            <a:off x="1567543" y="1407227"/>
            <a:ext cx="9125339" cy="4055915"/>
          </a:xfrm>
          <a:prstGeom prst="rect">
            <a:avLst/>
          </a:prstGeom>
        </p:spPr>
      </p:pic>
      <p:sp>
        <p:nvSpPr>
          <p:cNvPr id="10" name="Rounded Rectangle 9"/>
          <p:cNvSpPr/>
          <p:nvPr/>
        </p:nvSpPr>
        <p:spPr>
          <a:xfrm>
            <a:off x="314171" y="5687568"/>
            <a:ext cx="2764931" cy="10972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2459" y="5815584"/>
            <a:ext cx="64008" cy="841247"/>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7051" y="5795641"/>
            <a:ext cx="2582051" cy="486287"/>
          </a:xfrm>
          <a:prstGeom prst="rect">
            <a:avLst/>
          </a:prstGeom>
          <a:noFill/>
        </p:spPr>
        <p:txBody>
          <a:bodyPr wrap="square" lIns="45720" tIns="27432" rIns="45720" bIns="27432" anchor="b">
            <a:spAutoFit/>
          </a:bodyPr>
          <a:lstStyle/>
          <a:p>
            <a:pPr algn="l"/>
            <a:r>
              <a:rPr sz="2800" b="1" i="0">
                <a:solidFill>
                  <a:srgbClr val="EF5B5B"/>
                </a:solidFill>
                <a:latin typeface="Bahnschrift"/>
              </a:rPr>
              <a:t>−0.229</a:t>
            </a:r>
          </a:p>
        </p:txBody>
      </p:sp>
      <p:sp>
        <p:nvSpPr>
          <p:cNvPr id="13" name="TextBox 12"/>
          <p:cNvSpPr txBox="1"/>
          <p:nvPr/>
        </p:nvSpPr>
        <p:spPr>
          <a:xfrm>
            <a:off x="497051" y="6258153"/>
            <a:ext cx="3595720" cy="504748"/>
          </a:xfrm>
          <a:prstGeom prst="rect">
            <a:avLst/>
          </a:prstGeom>
          <a:noFill/>
        </p:spPr>
        <p:txBody>
          <a:bodyPr wrap="square" lIns="45720" tIns="27432" rIns="45720" bIns="27432" anchor="t">
            <a:spAutoFit/>
          </a:bodyPr>
          <a:lstStyle/>
          <a:p>
            <a:pPr algn="l"/>
            <a:r>
              <a:rPr sz="1200" b="1" i="0">
                <a:solidFill>
                  <a:srgbClr val="14305F"/>
                </a:solidFill>
                <a:latin typeface="Segoe UI"/>
              </a:rPr>
              <a:t>Sentiment compound vs target</a:t>
            </a:r>
          </a:p>
          <a:p>
            <a:pPr algn="l"/>
            <a:r>
              <a:rPr sz="1050" b="0" i="0">
                <a:solidFill>
                  <a:srgbClr val="5B7194"/>
                </a:solidFill>
                <a:latin typeface="Segoe UI"/>
              </a:rPr>
              <a:t>the strongest of 13 features, and still weak</a:t>
            </a:r>
          </a:p>
        </p:txBody>
      </p:sp>
      <p:sp>
        <p:nvSpPr>
          <p:cNvPr id="14" name="Rounded Rectangle 13"/>
          <p:cNvSpPr/>
          <p:nvPr/>
        </p:nvSpPr>
        <p:spPr>
          <a:xfrm>
            <a:off x="3280270" y="5687568"/>
            <a:ext cx="2952579" cy="10972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98558" y="5815584"/>
            <a:ext cx="64008" cy="841247"/>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63150" y="5795641"/>
            <a:ext cx="2632850" cy="486287"/>
          </a:xfrm>
          <a:prstGeom prst="rect">
            <a:avLst/>
          </a:prstGeom>
          <a:noFill/>
        </p:spPr>
        <p:txBody>
          <a:bodyPr wrap="square" lIns="45720" tIns="27432" rIns="45720" bIns="27432" anchor="b">
            <a:spAutoFit/>
          </a:bodyPr>
          <a:lstStyle/>
          <a:p>
            <a:pPr algn="l"/>
            <a:r>
              <a:rPr sz="2800" b="1" i="0">
                <a:solidFill>
                  <a:srgbClr val="1F6FDC"/>
                </a:solidFill>
                <a:latin typeface="Bahnschrift"/>
              </a:rPr>
              <a:t>+0.202</a:t>
            </a:r>
          </a:p>
        </p:txBody>
      </p:sp>
      <p:sp>
        <p:nvSpPr>
          <p:cNvPr id="17" name="TextBox 16"/>
          <p:cNvSpPr txBox="1"/>
          <p:nvPr/>
        </p:nvSpPr>
        <p:spPr>
          <a:xfrm>
            <a:off x="3463150" y="6258153"/>
            <a:ext cx="2632850" cy="563231"/>
          </a:xfrm>
          <a:prstGeom prst="rect">
            <a:avLst/>
          </a:prstGeom>
          <a:noFill/>
        </p:spPr>
        <p:txBody>
          <a:bodyPr wrap="square" lIns="45720" tIns="27432" rIns="45720" bIns="27432" anchor="t">
            <a:spAutoFit/>
          </a:bodyPr>
          <a:lstStyle/>
          <a:p>
            <a:pPr algn="l"/>
            <a:r>
              <a:rPr sz="1200" b="1" i="0" dirty="0">
                <a:solidFill>
                  <a:srgbClr val="14305F"/>
                </a:solidFill>
                <a:latin typeface="Segoe UI"/>
              </a:rPr>
              <a:t>URL count vs target</a:t>
            </a:r>
          </a:p>
          <a:p>
            <a:pPr algn="l"/>
            <a:r>
              <a:rPr sz="1050" b="0" i="0" dirty="0">
                <a:solidFill>
                  <a:srgbClr val="5B7194"/>
                </a:solidFill>
                <a:latin typeface="Segoe UI"/>
              </a:rPr>
              <a:t>the strongest positive: more links, more likely real</a:t>
            </a:r>
          </a:p>
        </p:txBody>
      </p:sp>
      <p:sp>
        <p:nvSpPr>
          <p:cNvPr id="18" name="Rounded Rectangle 17"/>
          <p:cNvSpPr/>
          <p:nvPr/>
        </p:nvSpPr>
        <p:spPr>
          <a:xfrm>
            <a:off x="6415729" y="5696413"/>
            <a:ext cx="2840238" cy="10972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34017" y="5824429"/>
            <a:ext cx="64008" cy="8412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98609" y="5804486"/>
            <a:ext cx="2465334" cy="486287"/>
          </a:xfrm>
          <a:prstGeom prst="rect">
            <a:avLst/>
          </a:prstGeom>
          <a:noFill/>
        </p:spPr>
        <p:txBody>
          <a:bodyPr wrap="square" lIns="45720" tIns="27432" rIns="45720" bIns="27432" anchor="b">
            <a:spAutoFit/>
          </a:bodyPr>
          <a:lstStyle/>
          <a:p>
            <a:pPr algn="l"/>
            <a:r>
              <a:rPr sz="2800" b="1" i="0">
                <a:solidFill>
                  <a:srgbClr val="F5A623"/>
                </a:solidFill>
                <a:latin typeface="Bahnschrift"/>
              </a:rPr>
              <a:t>0.838</a:t>
            </a:r>
          </a:p>
        </p:txBody>
      </p:sp>
      <p:sp>
        <p:nvSpPr>
          <p:cNvPr id="21" name="TextBox 20"/>
          <p:cNvSpPr txBox="1"/>
          <p:nvPr/>
        </p:nvSpPr>
        <p:spPr>
          <a:xfrm>
            <a:off x="6598609" y="6266999"/>
            <a:ext cx="2355980" cy="563231"/>
          </a:xfrm>
          <a:prstGeom prst="rect">
            <a:avLst/>
          </a:prstGeom>
          <a:noFill/>
        </p:spPr>
        <p:txBody>
          <a:bodyPr wrap="square" lIns="45720" tIns="27432" rIns="45720" bIns="27432" anchor="t">
            <a:spAutoFit/>
          </a:bodyPr>
          <a:lstStyle/>
          <a:p>
            <a:pPr algn="l"/>
            <a:r>
              <a:rPr sz="1200" b="1" i="0" dirty="0">
                <a:solidFill>
                  <a:srgbClr val="14305F"/>
                </a:solidFill>
                <a:latin typeface="Segoe UI"/>
              </a:rPr>
              <a:t>Character count vs word count</a:t>
            </a:r>
          </a:p>
          <a:p>
            <a:pPr algn="l"/>
            <a:r>
              <a:rPr sz="1050" b="0" i="0" dirty="0">
                <a:solidFill>
                  <a:srgbClr val="5B7194"/>
                </a:solidFill>
                <a:latin typeface="Segoe UI"/>
              </a:rPr>
              <a:t>the features overlap, as expected from how they are built</a:t>
            </a:r>
          </a:p>
        </p:txBody>
      </p:sp>
      <p:sp>
        <p:nvSpPr>
          <p:cNvPr id="22" name="Rounded Rectangle 21"/>
          <p:cNvSpPr/>
          <p:nvPr/>
        </p:nvSpPr>
        <p:spPr>
          <a:xfrm>
            <a:off x="9457198" y="5709513"/>
            <a:ext cx="2579292" cy="10972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5486" y="5837529"/>
            <a:ext cx="64008" cy="841247"/>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58366" y="5826496"/>
            <a:ext cx="2247122" cy="863313"/>
          </a:xfrm>
          <a:prstGeom prst="rect">
            <a:avLst/>
          </a:prstGeom>
          <a:noFill/>
        </p:spPr>
        <p:txBody>
          <a:bodyPr wrap="square" lIns="45720" tIns="27432" rIns="45720" bIns="27432" anchor="ctr">
            <a:spAutoFit/>
          </a:bodyPr>
          <a:lstStyle/>
          <a:p>
            <a:pPr algn="l">
              <a:spcAft>
                <a:spcPts val="300"/>
              </a:spcAft>
            </a:pPr>
            <a:r>
              <a:rPr sz="1400" b="1" i="0" dirty="0">
                <a:solidFill>
                  <a:srgbClr val="14B8A6"/>
                </a:solidFill>
                <a:latin typeface="Bahnschrift"/>
              </a:rPr>
              <a:t>Word pairs add the context</a:t>
            </a:r>
          </a:p>
          <a:p>
            <a:pPr algn="l">
              <a:spcAft>
                <a:spcPts val="300"/>
              </a:spcAft>
            </a:pPr>
            <a:r>
              <a:rPr sz="1200" b="0" i="0" dirty="0">
                <a:solidFill>
                  <a:srgbClr val="14305F"/>
                </a:solidFill>
                <a:latin typeface="Segoe UI"/>
              </a:rPr>
              <a:t>“Body bag” and “cross body” top the non-disaster list: fashion items, not casualties.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1735"/>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Text Representations</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graphicFrame>
        <p:nvGraphicFramePr>
          <p:cNvPr id="8" name="Table 7"/>
          <p:cNvGraphicFramePr>
            <a:graphicFrameLocks noGrp="1"/>
          </p:cNvGraphicFramePr>
          <p:nvPr/>
        </p:nvGraphicFramePr>
        <p:xfrm>
          <a:off x="502920" y="1554480"/>
          <a:ext cx="7040880" cy="4023360"/>
        </p:xfrm>
        <a:graphic>
          <a:graphicData uri="http://schemas.openxmlformats.org/drawingml/2006/table">
            <a:tbl>
              <a:tblPr>
                <a:tableStyleId>{5940675A-B579-460E-94D1-54222C63F5DA}</a:tableStyleId>
              </a:tblPr>
              <a:tblGrid>
                <a:gridCol w="2834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502920">
                <a:tc>
                  <a:txBody>
                    <a:bodyPr/>
                    <a:lstStyle/>
                    <a:p>
                      <a:pPr algn="l"/>
                      <a:r>
                        <a:rPr sz="1250" b="1">
                          <a:solidFill>
                            <a:srgbClr val="FFFFFF"/>
                          </a:solidFill>
                          <a:latin typeface="Segoe UI"/>
                        </a:rPr>
                        <a:t>Representation</a:t>
                      </a:r>
                    </a:p>
                  </a:txBody>
                  <a:tcPr marL="73152" marR="73152" marT="27432" marB="27432" anchor="ctr">
                    <a:solidFill>
                      <a:srgbClr val="1F6FDC"/>
                    </a:solidFill>
                  </a:tcPr>
                </a:tc>
                <a:tc>
                  <a:txBody>
                    <a:bodyPr/>
                    <a:lstStyle/>
                    <a:p>
                      <a:pPr algn="ctr"/>
                      <a:r>
                        <a:rPr sz="1250" b="1">
                          <a:solidFill>
                            <a:srgbClr val="FFFFFF"/>
                          </a:solidFill>
                          <a:latin typeface="Segoe UI"/>
                        </a:rPr>
                        <a:t>Type</a:t>
                      </a:r>
                    </a:p>
                  </a:txBody>
                  <a:tcPr marL="73152" marR="73152" marT="27432" marB="27432" anchor="ctr">
                    <a:solidFill>
                      <a:srgbClr val="1F6FDC"/>
                    </a:solidFill>
                  </a:tcPr>
                </a:tc>
                <a:tc>
                  <a:txBody>
                    <a:bodyPr/>
                    <a:lstStyle/>
                    <a:p>
                      <a:pPr algn="ctr"/>
                      <a:r>
                        <a:rPr sz="1250" b="1">
                          <a:solidFill>
                            <a:srgbClr val="FFFFFF"/>
                          </a:solidFill>
                          <a:latin typeface="Segoe UI"/>
                        </a:rPr>
                        <a:t>Size</a:t>
                      </a:r>
                    </a:p>
                  </a:txBody>
                  <a:tcPr marL="73152" marR="73152" marT="27432" marB="27432" anchor="ctr">
                    <a:solidFill>
                      <a:srgbClr val="1F6FDC"/>
                    </a:solidFill>
                  </a:tcPr>
                </a:tc>
                <a:extLst>
                  <a:ext uri="{0D108BD9-81ED-4DB2-BD59-A6C34878D82A}">
                    <a16:rowId xmlns:a16="http://schemas.microsoft.com/office/drawing/2014/main" val="10000"/>
                  </a:ext>
                </a:extLst>
              </a:tr>
              <a:tr h="502920">
                <a:tc>
                  <a:txBody>
                    <a:bodyPr/>
                    <a:lstStyle/>
                    <a:p>
                      <a:pPr algn="l"/>
                      <a:r>
                        <a:rPr sz="1250" b="0">
                          <a:solidFill>
                            <a:srgbClr val="14305F"/>
                          </a:solidFill>
                          <a:latin typeface="Segoe UI"/>
                        </a:rPr>
                        <a:t>Bag of Words</a:t>
                      </a:r>
                    </a:p>
                  </a:txBody>
                  <a:tcPr marL="73152" marR="73152" marT="27432" marB="27432" anchor="ctr">
                    <a:solidFill>
                      <a:srgbClr val="FFFFFF"/>
                    </a:solidFill>
                  </a:tcPr>
                </a:tc>
                <a:tc>
                  <a:txBody>
                    <a:bodyPr/>
                    <a:lstStyle/>
                    <a:p>
                      <a:pPr algn="ctr"/>
                      <a:r>
                        <a:rPr sz="1250" b="0">
                          <a:solidFill>
                            <a:srgbClr val="14305F"/>
                          </a:solidFill>
                          <a:latin typeface="Segoe UI"/>
                        </a:rPr>
                        <a:t>Sparse counts</a:t>
                      </a:r>
                    </a:p>
                  </a:txBody>
                  <a:tcPr marL="73152" marR="73152" marT="27432" marB="27432" anchor="ctr">
                    <a:solidFill>
                      <a:srgbClr val="FFFFFF"/>
                    </a:solidFill>
                  </a:tcPr>
                </a:tc>
                <a:tc>
                  <a:txBody>
                    <a:bodyPr/>
                    <a:lstStyle/>
                    <a:p>
                      <a:pPr algn="ctr"/>
                      <a:r>
                        <a:rPr sz="1250" b="0">
                          <a:solidFill>
                            <a:srgbClr val="14305F"/>
                          </a:solidFill>
                          <a:latin typeface="Segoe UI"/>
                        </a:rPr>
                        <a:t>≈ 5,000 features</a:t>
                      </a:r>
                    </a:p>
                  </a:txBody>
                  <a:tcPr marL="73152" marR="73152" marT="27432" marB="27432" anchor="ctr">
                    <a:solidFill>
                      <a:srgbClr val="FFFFFF"/>
                    </a:solidFill>
                  </a:tcPr>
                </a:tc>
                <a:extLst>
                  <a:ext uri="{0D108BD9-81ED-4DB2-BD59-A6C34878D82A}">
                    <a16:rowId xmlns:a16="http://schemas.microsoft.com/office/drawing/2014/main" val="10001"/>
                  </a:ext>
                </a:extLst>
              </a:tr>
              <a:tr h="502920">
                <a:tc>
                  <a:txBody>
                    <a:bodyPr/>
                    <a:lstStyle/>
                    <a:p>
                      <a:pPr algn="l"/>
                      <a:r>
                        <a:rPr sz="1250" b="0">
                          <a:solidFill>
                            <a:srgbClr val="14305F"/>
                          </a:solidFill>
                          <a:latin typeface="Segoe UI"/>
                        </a:rPr>
                        <a:t>TF-IDF</a:t>
                      </a:r>
                    </a:p>
                  </a:txBody>
                  <a:tcPr marL="73152" marR="73152" marT="27432" marB="27432" anchor="ctr">
                    <a:solidFill>
                      <a:srgbClr val="F0F6FF"/>
                    </a:solidFill>
                  </a:tcPr>
                </a:tc>
                <a:tc>
                  <a:txBody>
                    <a:bodyPr/>
                    <a:lstStyle/>
                    <a:p>
                      <a:pPr algn="ctr"/>
                      <a:r>
                        <a:rPr sz="1250" b="0">
                          <a:solidFill>
                            <a:srgbClr val="14305F"/>
                          </a:solidFill>
                          <a:latin typeface="Segoe UI"/>
                        </a:rPr>
                        <a:t>Sparse weighted</a:t>
                      </a:r>
                    </a:p>
                  </a:txBody>
                  <a:tcPr marL="73152" marR="73152" marT="27432" marB="27432" anchor="ctr">
                    <a:solidFill>
                      <a:srgbClr val="F0F6FF"/>
                    </a:solidFill>
                  </a:tcPr>
                </a:tc>
                <a:tc>
                  <a:txBody>
                    <a:bodyPr/>
                    <a:lstStyle/>
                    <a:p>
                      <a:pPr algn="ctr"/>
                      <a:r>
                        <a:rPr sz="1250" b="0">
                          <a:solidFill>
                            <a:srgbClr val="14305F"/>
                          </a:solidFill>
                          <a:latin typeface="Segoe UI"/>
                        </a:rPr>
                        <a:t>≈ 5,000 features</a:t>
                      </a:r>
                    </a:p>
                  </a:txBody>
                  <a:tcPr marL="73152" marR="73152" marT="27432" marB="27432" anchor="ctr">
                    <a:solidFill>
                      <a:srgbClr val="F0F6FF"/>
                    </a:solidFill>
                  </a:tcPr>
                </a:tc>
                <a:extLst>
                  <a:ext uri="{0D108BD9-81ED-4DB2-BD59-A6C34878D82A}">
                    <a16:rowId xmlns:a16="http://schemas.microsoft.com/office/drawing/2014/main" val="10002"/>
                  </a:ext>
                </a:extLst>
              </a:tr>
              <a:tr h="502920">
                <a:tc>
                  <a:txBody>
                    <a:bodyPr/>
                    <a:lstStyle/>
                    <a:p>
                      <a:pPr algn="l"/>
                      <a:r>
                        <a:rPr sz="1250" b="0">
                          <a:solidFill>
                            <a:srgbClr val="14305F"/>
                          </a:solidFill>
                          <a:latin typeface="Segoe UI"/>
                        </a:rPr>
                        <a:t>TF-IDF + word pairs</a:t>
                      </a:r>
                    </a:p>
                  </a:txBody>
                  <a:tcPr marL="73152" marR="73152" marT="27432" marB="27432" anchor="ctr">
                    <a:solidFill>
                      <a:srgbClr val="FFFFFF"/>
                    </a:solidFill>
                  </a:tcPr>
                </a:tc>
                <a:tc>
                  <a:txBody>
                    <a:bodyPr/>
                    <a:lstStyle/>
                    <a:p>
                      <a:pPr algn="ctr"/>
                      <a:r>
                        <a:rPr sz="1250" b="0">
                          <a:solidFill>
                            <a:srgbClr val="14305F"/>
                          </a:solidFill>
                          <a:latin typeface="Segoe UI"/>
                        </a:rPr>
                        <a:t>Sparse weighted</a:t>
                      </a:r>
                    </a:p>
                  </a:txBody>
                  <a:tcPr marL="73152" marR="73152" marT="27432" marB="27432" anchor="ctr">
                    <a:solidFill>
                      <a:srgbClr val="FFFFFF"/>
                    </a:solidFill>
                  </a:tcPr>
                </a:tc>
                <a:tc>
                  <a:txBody>
                    <a:bodyPr/>
                    <a:lstStyle/>
                    <a:p>
                      <a:pPr algn="ctr"/>
                      <a:r>
                        <a:rPr sz="1250" b="0" dirty="0">
                          <a:solidFill>
                            <a:srgbClr val="14305F"/>
                          </a:solidFill>
                          <a:latin typeface="Segoe UI"/>
                        </a:rPr>
                        <a:t>5,000 (1,651 pairs)</a:t>
                      </a:r>
                    </a:p>
                  </a:txBody>
                  <a:tcPr marL="73152" marR="73152" marT="27432" marB="27432" anchor="ctr">
                    <a:solidFill>
                      <a:srgbClr val="FFFFFF"/>
                    </a:solidFill>
                  </a:tcPr>
                </a:tc>
                <a:extLst>
                  <a:ext uri="{0D108BD9-81ED-4DB2-BD59-A6C34878D82A}">
                    <a16:rowId xmlns:a16="http://schemas.microsoft.com/office/drawing/2014/main" val="10003"/>
                  </a:ext>
                </a:extLst>
              </a:tr>
              <a:tr h="502920">
                <a:tc>
                  <a:txBody>
                    <a:bodyPr/>
                    <a:lstStyle/>
                    <a:p>
                      <a:pPr algn="l"/>
                      <a:r>
                        <a:rPr sz="1250" b="0">
                          <a:solidFill>
                            <a:srgbClr val="14305F"/>
                          </a:solidFill>
                          <a:latin typeface="Segoe UI"/>
                        </a:rPr>
                        <a:t>Word2Vec</a:t>
                      </a:r>
                    </a:p>
                  </a:txBody>
                  <a:tcPr marL="73152" marR="73152" marT="27432" marB="27432" anchor="ctr">
                    <a:solidFill>
                      <a:srgbClr val="F0F6FF"/>
                    </a:solidFill>
                  </a:tcPr>
                </a:tc>
                <a:tc>
                  <a:txBody>
                    <a:bodyPr/>
                    <a:lstStyle/>
                    <a:p>
                      <a:pPr algn="ctr"/>
                      <a:r>
                        <a:rPr sz="1250" b="0">
                          <a:solidFill>
                            <a:srgbClr val="14305F"/>
                          </a:solidFill>
                          <a:latin typeface="Segoe UI"/>
                        </a:rPr>
                        <a:t>Dense meaning</a:t>
                      </a:r>
                    </a:p>
                  </a:txBody>
                  <a:tcPr marL="73152" marR="73152" marT="27432" marB="27432" anchor="ctr">
                    <a:solidFill>
                      <a:srgbClr val="F0F6FF"/>
                    </a:solidFill>
                  </a:tcPr>
                </a:tc>
                <a:tc>
                  <a:txBody>
                    <a:bodyPr/>
                    <a:lstStyle/>
                    <a:p>
                      <a:pPr algn="ctr"/>
                      <a:r>
                        <a:rPr sz="1250" b="0" dirty="0">
                          <a:solidFill>
                            <a:srgbClr val="14305F"/>
                          </a:solidFill>
                          <a:latin typeface="Segoe UI"/>
                        </a:rPr>
                        <a:t>100 numbers</a:t>
                      </a:r>
                    </a:p>
                  </a:txBody>
                  <a:tcPr marL="73152" marR="73152" marT="27432" marB="27432" anchor="ctr">
                    <a:solidFill>
                      <a:srgbClr val="F0F6FF"/>
                    </a:solidFill>
                  </a:tcPr>
                </a:tc>
                <a:extLst>
                  <a:ext uri="{0D108BD9-81ED-4DB2-BD59-A6C34878D82A}">
                    <a16:rowId xmlns:a16="http://schemas.microsoft.com/office/drawing/2014/main" val="10004"/>
                  </a:ext>
                </a:extLst>
              </a:tr>
              <a:tr h="502920">
                <a:tc>
                  <a:txBody>
                    <a:bodyPr/>
                    <a:lstStyle/>
                    <a:p>
                      <a:pPr algn="l"/>
                      <a:r>
                        <a:rPr sz="1250" b="0">
                          <a:solidFill>
                            <a:srgbClr val="14305F"/>
                          </a:solidFill>
                          <a:latin typeface="Segoe UI"/>
                        </a:rPr>
                        <a:t>GloVe (pretrained Twitter)</a:t>
                      </a:r>
                    </a:p>
                  </a:txBody>
                  <a:tcPr marL="73152" marR="73152" marT="27432" marB="27432" anchor="ctr">
                    <a:solidFill>
                      <a:srgbClr val="FFFFFF"/>
                    </a:solidFill>
                  </a:tcPr>
                </a:tc>
                <a:tc>
                  <a:txBody>
                    <a:bodyPr/>
                    <a:lstStyle/>
                    <a:p>
                      <a:pPr algn="ctr"/>
                      <a:r>
                        <a:rPr sz="1250" b="0">
                          <a:solidFill>
                            <a:srgbClr val="14305F"/>
                          </a:solidFill>
                          <a:latin typeface="Segoe UI"/>
                        </a:rPr>
                        <a:t>Dense meaning</a:t>
                      </a:r>
                    </a:p>
                  </a:txBody>
                  <a:tcPr marL="73152" marR="73152" marT="27432" marB="27432" anchor="ctr">
                    <a:solidFill>
                      <a:srgbClr val="FFFFFF"/>
                    </a:solidFill>
                  </a:tcPr>
                </a:tc>
                <a:tc>
                  <a:txBody>
                    <a:bodyPr/>
                    <a:lstStyle/>
                    <a:p>
                      <a:pPr algn="ctr"/>
                      <a:r>
                        <a:rPr sz="1250" b="0" dirty="0">
                          <a:solidFill>
                            <a:srgbClr val="14305F"/>
                          </a:solidFill>
                          <a:latin typeface="Segoe UI"/>
                        </a:rPr>
                        <a:t>25 numbers</a:t>
                      </a:r>
                    </a:p>
                  </a:txBody>
                  <a:tcPr marL="73152" marR="73152" marT="27432" marB="27432" anchor="ctr">
                    <a:solidFill>
                      <a:srgbClr val="FFFFFF"/>
                    </a:solidFill>
                  </a:tcPr>
                </a:tc>
                <a:extLst>
                  <a:ext uri="{0D108BD9-81ED-4DB2-BD59-A6C34878D82A}">
                    <a16:rowId xmlns:a16="http://schemas.microsoft.com/office/drawing/2014/main" val="10005"/>
                  </a:ext>
                </a:extLst>
              </a:tr>
              <a:tr h="502920">
                <a:tc>
                  <a:txBody>
                    <a:bodyPr/>
                    <a:lstStyle/>
                    <a:p>
                      <a:pPr algn="l"/>
                      <a:r>
                        <a:rPr sz="1250" b="0">
                          <a:solidFill>
                            <a:srgbClr val="14305F"/>
                          </a:solidFill>
                          <a:latin typeface="Segoe UI"/>
                        </a:rPr>
                        <a:t>FastText</a:t>
                      </a:r>
                    </a:p>
                  </a:txBody>
                  <a:tcPr marL="73152" marR="73152" marT="27432" marB="27432" anchor="ctr">
                    <a:solidFill>
                      <a:srgbClr val="F0F6FF"/>
                    </a:solidFill>
                  </a:tcPr>
                </a:tc>
                <a:tc>
                  <a:txBody>
                    <a:bodyPr/>
                    <a:lstStyle/>
                    <a:p>
                      <a:pPr algn="ctr"/>
                      <a:r>
                        <a:rPr sz="1250" b="0">
                          <a:solidFill>
                            <a:srgbClr val="14305F"/>
                          </a:solidFill>
                          <a:latin typeface="Segoe UI"/>
                        </a:rPr>
                        <a:t>Dense meaning</a:t>
                      </a:r>
                    </a:p>
                  </a:txBody>
                  <a:tcPr marL="73152" marR="73152" marT="27432" marB="27432" anchor="ctr">
                    <a:solidFill>
                      <a:srgbClr val="F0F6FF"/>
                    </a:solidFill>
                  </a:tcPr>
                </a:tc>
                <a:tc>
                  <a:txBody>
                    <a:bodyPr/>
                    <a:lstStyle/>
                    <a:p>
                      <a:pPr algn="ctr"/>
                      <a:r>
                        <a:rPr sz="1250" b="0">
                          <a:solidFill>
                            <a:srgbClr val="14305F"/>
                          </a:solidFill>
                          <a:latin typeface="Segoe UI"/>
                        </a:rPr>
                        <a:t>100 numbers</a:t>
                      </a:r>
                    </a:p>
                  </a:txBody>
                  <a:tcPr marL="73152" marR="73152" marT="27432" marB="27432" anchor="ctr">
                    <a:solidFill>
                      <a:srgbClr val="F0F6FF"/>
                    </a:solidFill>
                  </a:tcPr>
                </a:tc>
                <a:extLst>
                  <a:ext uri="{0D108BD9-81ED-4DB2-BD59-A6C34878D82A}">
                    <a16:rowId xmlns:a16="http://schemas.microsoft.com/office/drawing/2014/main" val="10006"/>
                  </a:ext>
                </a:extLst>
              </a:tr>
              <a:tr h="502920">
                <a:tc>
                  <a:txBody>
                    <a:bodyPr/>
                    <a:lstStyle/>
                    <a:p>
                      <a:pPr algn="l"/>
                      <a:r>
                        <a:rPr sz="1250" b="0">
                          <a:solidFill>
                            <a:srgbClr val="14305F"/>
                          </a:solidFill>
                          <a:latin typeface="Segoe UI"/>
                        </a:rPr>
                        <a:t>YAKE keywords</a:t>
                      </a:r>
                    </a:p>
                  </a:txBody>
                  <a:tcPr marL="73152" marR="73152" marT="27432" marB="27432" anchor="ctr">
                    <a:solidFill>
                      <a:srgbClr val="FFFFFF"/>
                    </a:solidFill>
                  </a:tcPr>
                </a:tc>
                <a:tc>
                  <a:txBody>
                    <a:bodyPr/>
                    <a:lstStyle/>
                    <a:p>
                      <a:pPr algn="ctr"/>
                      <a:r>
                        <a:rPr sz="1250" b="0">
                          <a:solidFill>
                            <a:srgbClr val="14305F"/>
                          </a:solidFill>
                          <a:latin typeface="Segoe UI"/>
                        </a:rPr>
                        <a:t>Extracted phrases</a:t>
                      </a:r>
                    </a:p>
                  </a:txBody>
                  <a:tcPr marL="73152" marR="73152" marT="27432" marB="27432" anchor="ctr">
                    <a:solidFill>
                      <a:srgbClr val="FFFFFF"/>
                    </a:solidFill>
                  </a:tcPr>
                </a:tc>
                <a:tc>
                  <a:txBody>
                    <a:bodyPr/>
                    <a:lstStyle/>
                    <a:p>
                      <a:pPr algn="ctr"/>
                      <a:r>
                        <a:rPr sz="1250" b="0" dirty="0">
                          <a:solidFill>
                            <a:srgbClr val="14305F"/>
                          </a:solidFill>
                          <a:latin typeface="Segoe UI"/>
                        </a:rPr>
                        <a:t>≈ 4.8 per tweet</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9" name="Rounded Rectangle 8"/>
          <p:cNvSpPr/>
          <p:nvPr/>
        </p:nvSpPr>
        <p:spPr>
          <a:xfrm>
            <a:off x="7818120" y="1550748"/>
            <a:ext cx="3840480" cy="18288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836408" y="1678763"/>
            <a:ext cx="64008" cy="157276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19288" y="1623900"/>
            <a:ext cx="3520440" cy="1682496"/>
          </a:xfrm>
          <a:prstGeom prst="rect">
            <a:avLst/>
          </a:prstGeom>
          <a:noFill/>
        </p:spPr>
        <p:txBody>
          <a:bodyPr wrap="square" lIns="45720" tIns="27432" rIns="45720" bIns="27432" anchor="ctr">
            <a:spAutoFit/>
          </a:bodyPr>
          <a:lstStyle/>
          <a:p>
            <a:pPr algn="l">
              <a:spcAft>
                <a:spcPts val="300"/>
              </a:spcAft>
            </a:pPr>
            <a:r>
              <a:rPr sz="1500" b="1" i="0">
                <a:solidFill>
                  <a:srgbClr val="1F6FDC"/>
                </a:solidFill>
                <a:latin typeface="Bahnschrift"/>
              </a:rPr>
              <a:t>Sparse</a:t>
            </a:r>
          </a:p>
          <a:p>
            <a:pPr algn="l">
              <a:spcAft>
                <a:spcPts val="300"/>
              </a:spcAft>
            </a:pPr>
            <a:r>
              <a:rPr sz="1250" b="0" i="0">
                <a:solidFill>
                  <a:srgbClr val="14305F"/>
                </a:solidFill>
                <a:latin typeface="Segoe UI"/>
              </a:rPr>
              <a:t>Count which words appear. Fast, simple, hard to beat on clear clue words.</a:t>
            </a:r>
          </a:p>
        </p:txBody>
      </p:sp>
      <p:sp>
        <p:nvSpPr>
          <p:cNvPr id="12" name="Rounded Rectangle 11"/>
          <p:cNvSpPr/>
          <p:nvPr/>
        </p:nvSpPr>
        <p:spPr>
          <a:xfrm>
            <a:off x="7818120" y="3749040"/>
            <a:ext cx="3840480" cy="18288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836408" y="3877056"/>
            <a:ext cx="64008" cy="15727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19288" y="3822192"/>
            <a:ext cx="3520440" cy="1682496"/>
          </a:xfrm>
          <a:prstGeom prst="rect">
            <a:avLst/>
          </a:prstGeom>
          <a:noFill/>
        </p:spPr>
        <p:txBody>
          <a:bodyPr wrap="square" lIns="45720" tIns="27432" rIns="45720" bIns="27432" anchor="ctr">
            <a:spAutoFit/>
          </a:bodyPr>
          <a:lstStyle/>
          <a:p>
            <a:pPr algn="l">
              <a:spcAft>
                <a:spcPts val="300"/>
              </a:spcAft>
            </a:pPr>
            <a:r>
              <a:rPr sz="1500" b="1" i="0">
                <a:solidFill>
                  <a:srgbClr val="14B8A6"/>
                </a:solidFill>
                <a:latin typeface="Bahnschrift"/>
              </a:rPr>
              <a:t>Dense</a:t>
            </a:r>
          </a:p>
          <a:p>
            <a:pPr algn="l">
              <a:spcAft>
                <a:spcPts val="300"/>
              </a:spcAft>
            </a:pPr>
            <a:r>
              <a:rPr sz="1250" b="0" i="0">
                <a:solidFill>
                  <a:srgbClr val="14305F"/>
                </a:solidFill>
                <a:latin typeface="Segoe UI"/>
              </a:rPr>
              <a:t>Describe meaning with short number vectors, so similar words sit close together.</a:t>
            </a:r>
          </a:p>
        </p:txBody>
      </p:sp>
      <p:sp>
        <p:nvSpPr>
          <p:cNvPr id="15" name="TextBox 14"/>
          <p:cNvSpPr txBox="1"/>
          <p:nvPr/>
        </p:nvSpPr>
        <p:spPr>
          <a:xfrm>
            <a:off x="2810225" y="6074480"/>
            <a:ext cx="6571550" cy="255455"/>
          </a:xfrm>
          <a:prstGeom prst="rect">
            <a:avLst/>
          </a:prstGeom>
          <a:noFill/>
        </p:spPr>
        <p:txBody>
          <a:bodyPr wrap="square" lIns="45720" tIns="27432" rIns="45720" bIns="27432" anchor="t">
            <a:spAutoFit/>
          </a:bodyPr>
          <a:lstStyle/>
          <a:p>
            <a:pPr algn="ctr"/>
            <a:r>
              <a:rPr sz="1300" b="1" i="1" dirty="0">
                <a:solidFill>
                  <a:srgbClr val="5B7194"/>
                </a:solidFill>
                <a:latin typeface="Segoe UI"/>
              </a:rPr>
              <a:t>Every representation was refitted on the training tweets only.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8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1735"/>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Models &amp; Selection Protocol</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166905930"/>
              </p:ext>
            </p:extLst>
          </p:nvPr>
        </p:nvGraphicFramePr>
        <p:xfrm>
          <a:off x="502920" y="1554480"/>
          <a:ext cx="11155680" cy="3328416"/>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75488">
                <a:tc>
                  <a:txBody>
                    <a:bodyPr/>
                    <a:lstStyle/>
                    <a:p>
                      <a:pPr algn="l"/>
                      <a:r>
                        <a:rPr sz="1300" b="1">
                          <a:solidFill>
                            <a:srgbClr val="FFFFFF"/>
                          </a:solidFill>
                          <a:latin typeface="Segoe UI"/>
                        </a:rPr>
                        <a:t>Tier</a:t>
                      </a:r>
                    </a:p>
                  </a:txBody>
                  <a:tcPr marL="73152" marR="73152" marT="27432" marB="27432" anchor="ctr">
                    <a:solidFill>
                      <a:srgbClr val="1F6FDC"/>
                    </a:solidFill>
                  </a:tcPr>
                </a:tc>
                <a:tc>
                  <a:txBody>
                    <a:bodyPr/>
                    <a:lstStyle/>
                    <a:p>
                      <a:pPr algn="ctr"/>
                      <a:r>
                        <a:rPr sz="1300" b="1">
                          <a:solidFill>
                            <a:srgbClr val="FFFFFF"/>
                          </a:solidFill>
                          <a:latin typeface="Segoe UI"/>
                        </a:rPr>
                        <a:t>Selected finalist</a:t>
                      </a:r>
                    </a:p>
                  </a:txBody>
                  <a:tcPr marL="73152" marR="73152" marT="27432" marB="27432" anchor="ctr">
                    <a:solidFill>
                      <a:srgbClr val="1F6FDC"/>
                    </a:solidFill>
                  </a:tcPr>
                </a:tc>
                <a:tc>
                  <a:txBody>
                    <a:bodyPr/>
                    <a:lstStyle/>
                    <a:p>
                      <a:pPr algn="ctr"/>
                      <a:r>
                        <a:rPr sz="1300" b="1" dirty="0">
                          <a:solidFill>
                            <a:srgbClr val="FFFFFF"/>
                          </a:solidFill>
                          <a:latin typeface="Segoe UI"/>
                        </a:rPr>
                        <a:t>Selection </a:t>
                      </a:r>
                      <a:r>
                        <a:rPr lang="en-IN" sz="1300" b="1" dirty="0">
                          <a:solidFill>
                            <a:srgbClr val="FFFFFF"/>
                          </a:solidFill>
                          <a:latin typeface="Segoe UI"/>
                        </a:rPr>
                        <a:t>Accuracy</a:t>
                      </a:r>
                      <a:endParaRPr sz="1300" b="1" dirty="0">
                        <a:solidFill>
                          <a:srgbClr val="FFFFFF"/>
                        </a:solidFill>
                        <a:latin typeface="Segoe UI"/>
                      </a:endParaRPr>
                    </a:p>
                  </a:txBody>
                  <a:tcPr marL="73152" marR="73152" marT="27432" marB="27432" anchor="ctr">
                    <a:solidFill>
                      <a:srgbClr val="1F6FDC"/>
                    </a:solidFill>
                  </a:tcPr>
                </a:tc>
                <a:tc>
                  <a:txBody>
                    <a:bodyPr/>
                    <a:lstStyle/>
                    <a:p>
                      <a:pPr algn="ctr"/>
                      <a:r>
                        <a:rPr lang="en-IN" sz="1300" b="1" dirty="0">
                          <a:solidFill>
                            <a:srgbClr val="FFFFFF"/>
                          </a:solidFill>
                          <a:latin typeface="Segoe UI"/>
                        </a:rPr>
                        <a:t>Selection Basis</a:t>
                      </a:r>
                      <a:endParaRPr sz="1300" b="1" dirty="0">
                        <a:solidFill>
                          <a:srgbClr val="FFFFFF"/>
                        </a:solidFill>
                        <a:latin typeface="Segoe UI"/>
                      </a:endParaRPr>
                    </a:p>
                  </a:txBody>
                  <a:tcPr marL="73152" marR="73152" marT="27432" marB="27432" anchor="ctr">
                    <a:solidFill>
                      <a:srgbClr val="1F6FDC"/>
                    </a:solidFill>
                  </a:tcPr>
                </a:tc>
                <a:extLst>
                  <a:ext uri="{0D108BD9-81ED-4DB2-BD59-A6C34878D82A}">
                    <a16:rowId xmlns:a16="http://schemas.microsoft.com/office/drawing/2014/main" val="10000"/>
                  </a:ext>
                </a:extLst>
              </a:tr>
              <a:tr h="475488">
                <a:tc>
                  <a:txBody>
                    <a:bodyPr/>
                    <a:lstStyle/>
                    <a:p>
                      <a:pPr algn="l"/>
                      <a:r>
                        <a:rPr sz="1300" b="0" dirty="0">
                          <a:solidFill>
                            <a:srgbClr val="14305F"/>
                          </a:solidFill>
                          <a:latin typeface="Segoe UI"/>
                        </a:rPr>
                        <a:t>Classical </a:t>
                      </a:r>
                      <a:r>
                        <a:rPr lang="en-IN" sz="1300" b="0" dirty="0">
                          <a:solidFill>
                            <a:srgbClr val="14305F"/>
                          </a:solidFill>
                          <a:latin typeface="Segoe UI"/>
                        </a:rPr>
                        <a:t>baseline</a:t>
                      </a:r>
                      <a:endParaRPr sz="1300" b="0" dirty="0">
                        <a:solidFill>
                          <a:srgbClr val="14305F"/>
                        </a:solidFill>
                        <a:latin typeface="Segoe UI"/>
                      </a:endParaRPr>
                    </a:p>
                  </a:txBody>
                  <a:tcPr marL="73152" marR="73152" marT="27432" marB="27432" anchor="ctr">
                    <a:solidFill>
                      <a:srgbClr val="FFFFFF"/>
                    </a:solidFill>
                  </a:tcPr>
                </a:tc>
                <a:tc>
                  <a:txBody>
                    <a:bodyPr/>
                    <a:lstStyle/>
                    <a:p>
                      <a:pPr algn="ctr"/>
                      <a:r>
                        <a:rPr sz="1300" b="0" dirty="0">
                          <a:solidFill>
                            <a:srgbClr val="14305F"/>
                          </a:solidFill>
                          <a:latin typeface="Segoe UI"/>
                        </a:rPr>
                        <a:t>Logistic Regression</a:t>
                      </a:r>
                    </a:p>
                  </a:txBody>
                  <a:tcPr marL="73152" marR="73152" marT="27432" marB="27432" anchor="ctr">
                    <a:solidFill>
                      <a:srgbClr val="FFFFFF"/>
                    </a:solidFill>
                  </a:tcPr>
                </a:tc>
                <a:tc>
                  <a:txBody>
                    <a:bodyPr/>
                    <a:lstStyle/>
                    <a:p>
                      <a:pPr algn="ctr"/>
                      <a:r>
                        <a:rPr sz="1300" b="0">
                          <a:solidFill>
                            <a:srgbClr val="14305F"/>
                          </a:solidFill>
                          <a:latin typeface="Segoe UI"/>
                        </a:rPr>
                        <a:t>0.8041</a:t>
                      </a:r>
                    </a:p>
                  </a:txBody>
                  <a:tcPr marL="73152" marR="73152" marT="27432" marB="27432" anchor="ctr">
                    <a:solidFill>
                      <a:srgbClr val="FFFFFF"/>
                    </a:solidFill>
                  </a:tcPr>
                </a:tc>
                <a:tc>
                  <a:txBody>
                    <a:bodyPr/>
                    <a:lstStyle/>
                    <a:p>
                      <a:pPr marL="0" algn="ctr" defTabSz="457200" rtl="0" eaLnBrk="1" latinLnBrk="0" hangingPunct="1"/>
                      <a:r>
                        <a:rPr lang="en-IN" sz="1300" b="0" kern="1200" dirty="0">
                          <a:solidFill>
                            <a:srgbClr val="14305F"/>
                          </a:solidFill>
                          <a:latin typeface="Segoe UI"/>
                          <a:ea typeface="+mn-ea"/>
                          <a:cs typeface="+mn-cs"/>
                        </a:rPr>
                        <a:t>5-fold CV (training data)</a:t>
                      </a:r>
                      <a:endParaRPr sz="1300" b="0" kern="1200" dirty="0">
                        <a:solidFill>
                          <a:srgbClr val="14305F"/>
                        </a:solidFill>
                        <a:latin typeface="Segoe UI"/>
                        <a:ea typeface="+mn-ea"/>
                        <a:cs typeface="+mn-cs"/>
                      </a:endParaRPr>
                    </a:p>
                  </a:txBody>
                  <a:tcPr marL="73152" marR="73152" marT="27432" marB="27432" anchor="ctr">
                    <a:solidFill>
                      <a:srgbClr val="FFFFFF"/>
                    </a:solidFill>
                  </a:tcPr>
                </a:tc>
                <a:extLst>
                  <a:ext uri="{0D108BD9-81ED-4DB2-BD59-A6C34878D82A}">
                    <a16:rowId xmlns:a16="http://schemas.microsoft.com/office/drawing/2014/main" val="10001"/>
                  </a:ext>
                </a:extLst>
              </a:tr>
              <a:tr h="475488">
                <a:tc>
                  <a:txBody>
                    <a:bodyPr/>
                    <a:lstStyle/>
                    <a:p>
                      <a:pPr algn="l"/>
                      <a:r>
                        <a:rPr sz="1300" b="0">
                          <a:solidFill>
                            <a:srgbClr val="14305F"/>
                          </a:solidFill>
                          <a:latin typeface="Segoe UI"/>
                        </a:rPr>
                        <a:t>Word-embedding models</a:t>
                      </a:r>
                    </a:p>
                  </a:txBody>
                  <a:tcPr marL="73152" marR="73152" marT="27432" marB="27432" anchor="ctr">
                    <a:solidFill>
                      <a:srgbClr val="F0F6FF"/>
                    </a:solidFill>
                  </a:tcPr>
                </a:tc>
                <a:tc>
                  <a:txBody>
                    <a:bodyPr/>
                    <a:lstStyle/>
                    <a:p>
                      <a:pPr algn="ctr"/>
                      <a:r>
                        <a:rPr sz="1300" b="0">
                          <a:solidFill>
                            <a:srgbClr val="14305F"/>
                          </a:solidFill>
                          <a:latin typeface="Segoe UI"/>
                        </a:rPr>
                        <a:t>GloVe + LightGBM</a:t>
                      </a:r>
                    </a:p>
                  </a:txBody>
                  <a:tcPr marL="73152" marR="73152" marT="27432" marB="27432" anchor="ctr">
                    <a:solidFill>
                      <a:srgbClr val="F0F6FF"/>
                    </a:solidFill>
                  </a:tcPr>
                </a:tc>
                <a:tc>
                  <a:txBody>
                    <a:bodyPr/>
                    <a:lstStyle/>
                    <a:p>
                      <a:pPr algn="ctr"/>
                      <a:r>
                        <a:rPr sz="1300" b="0">
                          <a:solidFill>
                            <a:srgbClr val="14305F"/>
                          </a:solidFill>
                          <a:latin typeface="Segoe UI"/>
                        </a:rPr>
                        <a:t>0.7981</a:t>
                      </a:r>
                    </a:p>
                  </a:txBody>
                  <a:tcPr marL="73152" marR="73152" marT="27432" marB="27432" anchor="ctr">
                    <a:solidFill>
                      <a:srgbClr val="F0F6FF"/>
                    </a:solidFill>
                  </a:tcPr>
                </a:tc>
                <a:tc>
                  <a:txBody>
                    <a:bodyPr/>
                    <a:lstStyle/>
                    <a:p>
                      <a:pPr marL="0" algn="ctr" defTabSz="457200" rtl="0" eaLnBrk="1" latinLnBrk="0" hangingPunct="1"/>
                      <a:r>
                        <a:rPr lang="en-IN" sz="1300" b="0" kern="1200" dirty="0">
                          <a:solidFill>
                            <a:srgbClr val="14305F"/>
                          </a:solidFill>
                          <a:latin typeface="Segoe UI"/>
                          <a:ea typeface="+mn-ea"/>
                          <a:cs typeface="+mn-cs"/>
                        </a:rPr>
                        <a:t>5-fold CV (training data)</a:t>
                      </a:r>
                    </a:p>
                  </a:txBody>
                  <a:tcPr marL="73152" marR="73152" marT="27432" marB="27432" anchor="ctr">
                    <a:solidFill>
                      <a:srgbClr val="F0F6FF"/>
                    </a:solidFill>
                  </a:tcPr>
                </a:tc>
                <a:extLst>
                  <a:ext uri="{0D108BD9-81ED-4DB2-BD59-A6C34878D82A}">
                    <a16:rowId xmlns:a16="http://schemas.microsoft.com/office/drawing/2014/main" val="10002"/>
                  </a:ext>
                </a:extLst>
              </a:tr>
              <a:tr h="475488">
                <a:tc>
                  <a:txBody>
                    <a:bodyPr/>
                    <a:lstStyle/>
                    <a:p>
                      <a:pPr algn="l"/>
                      <a:r>
                        <a:rPr sz="1300" b="0">
                          <a:solidFill>
                            <a:srgbClr val="14305F"/>
                          </a:solidFill>
                          <a:latin typeface="Segoe UI"/>
                        </a:rPr>
                        <a:t>Feature-enhanced</a:t>
                      </a:r>
                    </a:p>
                  </a:txBody>
                  <a:tcPr marL="73152" marR="73152" marT="27432" marB="27432" anchor="ctr">
                    <a:solidFill>
                      <a:srgbClr val="FFFFFF"/>
                    </a:solidFill>
                  </a:tcPr>
                </a:tc>
                <a:tc>
                  <a:txBody>
                    <a:bodyPr/>
                    <a:lstStyle/>
                    <a:p>
                      <a:pPr algn="ctr"/>
                      <a:r>
                        <a:rPr sz="1300" b="0">
                          <a:solidFill>
                            <a:srgbClr val="14305F"/>
                          </a:solidFill>
                          <a:latin typeface="Segoe UI"/>
                        </a:rPr>
                        <a:t>TF-IDF + Logistic Regression</a:t>
                      </a:r>
                    </a:p>
                  </a:txBody>
                  <a:tcPr marL="73152" marR="73152" marT="27432" marB="27432" anchor="ctr">
                    <a:solidFill>
                      <a:srgbClr val="FFFFFF"/>
                    </a:solidFill>
                  </a:tcPr>
                </a:tc>
                <a:tc>
                  <a:txBody>
                    <a:bodyPr/>
                    <a:lstStyle/>
                    <a:p>
                      <a:pPr algn="ctr"/>
                      <a:r>
                        <a:rPr sz="1300" b="0">
                          <a:solidFill>
                            <a:srgbClr val="14305F"/>
                          </a:solidFill>
                          <a:latin typeface="Segoe UI"/>
                        </a:rPr>
                        <a:t>0.8034</a:t>
                      </a:r>
                    </a:p>
                  </a:txBody>
                  <a:tcPr marL="73152" marR="73152" marT="27432" marB="27432" anchor="ctr">
                    <a:solidFill>
                      <a:srgbClr val="FFFFFF"/>
                    </a:solidFill>
                  </a:tcPr>
                </a:tc>
                <a:tc>
                  <a:txBody>
                    <a:bodyPr/>
                    <a:lstStyle/>
                    <a:p>
                      <a:pPr marL="0" algn="ctr" defTabSz="457200" rtl="0" eaLnBrk="1" latinLnBrk="0" hangingPunct="1"/>
                      <a:r>
                        <a:rPr lang="en-IN" sz="1300" b="0" kern="1200" dirty="0">
                          <a:solidFill>
                            <a:srgbClr val="14305F"/>
                          </a:solidFill>
                          <a:latin typeface="Segoe UI"/>
                          <a:ea typeface="+mn-ea"/>
                          <a:cs typeface="+mn-cs"/>
                        </a:rPr>
                        <a:t>5-fold CV (training data)</a:t>
                      </a:r>
                    </a:p>
                  </a:txBody>
                  <a:tcPr marL="73152" marR="73152" marT="27432" marB="27432" anchor="ctr">
                    <a:solidFill>
                      <a:srgbClr val="FFFFFF"/>
                    </a:solidFill>
                  </a:tcPr>
                </a:tc>
                <a:extLst>
                  <a:ext uri="{0D108BD9-81ED-4DB2-BD59-A6C34878D82A}">
                    <a16:rowId xmlns:a16="http://schemas.microsoft.com/office/drawing/2014/main" val="10003"/>
                  </a:ext>
                </a:extLst>
              </a:tr>
              <a:tr h="475488">
                <a:tc>
                  <a:txBody>
                    <a:bodyPr/>
                    <a:lstStyle/>
                    <a:p>
                      <a:pPr algn="l"/>
                      <a:r>
                        <a:rPr sz="1300" b="0">
                          <a:solidFill>
                            <a:srgbClr val="14305F"/>
                          </a:solidFill>
                          <a:latin typeface="Segoe UI"/>
                        </a:rPr>
                        <a:t>Keyword-enhanced</a:t>
                      </a:r>
                    </a:p>
                  </a:txBody>
                  <a:tcPr marL="73152" marR="73152" marT="27432" marB="27432" anchor="ctr">
                    <a:solidFill>
                      <a:srgbClr val="F0F6FF"/>
                    </a:solidFill>
                  </a:tcPr>
                </a:tc>
                <a:tc>
                  <a:txBody>
                    <a:bodyPr/>
                    <a:lstStyle/>
                    <a:p>
                      <a:pPr algn="ctr"/>
                      <a:r>
                        <a:rPr sz="1300" b="0">
                          <a:solidFill>
                            <a:srgbClr val="14305F"/>
                          </a:solidFill>
                          <a:latin typeface="Segoe UI"/>
                        </a:rPr>
                        <a:t>TF-IDF + YAKE + Logistic Regression</a:t>
                      </a:r>
                    </a:p>
                  </a:txBody>
                  <a:tcPr marL="73152" marR="73152" marT="27432" marB="27432" anchor="ctr">
                    <a:solidFill>
                      <a:srgbClr val="F0F6FF"/>
                    </a:solidFill>
                  </a:tcPr>
                </a:tc>
                <a:tc>
                  <a:txBody>
                    <a:bodyPr/>
                    <a:lstStyle/>
                    <a:p>
                      <a:pPr algn="ctr"/>
                      <a:r>
                        <a:rPr sz="1300" b="0">
                          <a:solidFill>
                            <a:srgbClr val="14305F"/>
                          </a:solidFill>
                          <a:latin typeface="Segoe UI"/>
                        </a:rPr>
                        <a:t>0.7946</a:t>
                      </a:r>
                    </a:p>
                  </a:txBody>
                  <a:tcPr marL="73152" marR="73152" marT="27432" marB="27432" anchor="ctr">
                    <a:solidFill>
                      <a:srgbClr val="F0F6FF"/>
                    </a:solidFill>
                  </a:tcPr>
                </a:tc>
                <a:tc>
                  <a:txBody>
                    <a:bodyPr/>
                    <a:lstStyle/>
                    <a:p>
                      <a:pPr marL="0" algn="ctr" defTabSz="457200" rtl="0" eaLnBrk="1" latinLnBrk="0" hangingPunct="1"/>
                      <a:r>
                        <a:rPr lang="en-IN" sz="1300" b="0" kern="1200" dirty="0">
                          <a:solidFill>
                            <a:srgbClr val="14305F"/>
                          </a:solidFill>
                          <a:latin typeface="Segoe UI"/>
                          <a:ea typeface="+mn-ea"/>
                          <a:cs typeface="+mn-cs"/>
                        </a:rPr>
                        <a:t>5-fold CV (training data)</a:t>
                      </a:r>
                    </a:p>
                  </a:txBody>
                  <a:tcPr marL="73152" marR="73152" marT="27432" marB="27432" anchor="ctr">
                    <a:solidFill>
                      <a:srgbClr val="F0F6FF"/>
                    </a:solidFill>
                  </a:tcPr>
                </a:tc>
                <a:extLst>
                  <a:ext uri="{0D108BD9-81ED-4DB2-BD59-A6C34878D82A}">
                    <a16:rowId xmlns:a16="http://schemas.microsoft.com/office/drawing/2014/main" val="10004"/>
                  </a:ext>
                </a:extLst>
              </a:tr>
              <a:tr h="475488">
                <a:tc>
                  <a:txBody>
                    <a:bodyPr/>
                    <a:lstStyle/>
                    <a:p>
                      <a:pPr algn="l"/>
                      <a:r>
                        <a:rPr sz="1300" b="0">
                          <a:solidFill>
                            <a:srgbClr val="14305F"/>
                          </a:solidFill>
                          <a:latin typeface="Segoe UI"/>
                        </a:rPr>
                        <a:t>Neural sequence</a:t>
                      </a:r>
                    </a:p>
                  </a:txBody>
                  <a:tcPr marL="73152" marR="73152" marT="27432" marB="27432" anchor="ctr">
                    <a:solidFill>
                      <a:srgbClr val="FFFFFF"/>
                    </a:solidFill>
                  </a:tcPr>
                </a:tc>
                <a:tc>
                  <a:txBody>
                    <a:bodyPr/>
                    <a:lstStyle/>
                    <a:p>
                      <a:pPr algn="ctr"/>
                      <a:r>
                        <a:rPr sz="1300" b="0">
                          <a:solidFill>
                            <a:srgbClr val="14305F"/>
                          </a:solidFill>
                          <a:latin typeface="Segoe UI"/>
                        </a:rPr>
                        <a:t>BiLSTM</a:t>
                      </a:r>
                    </a:p>
                  </a:txBody>
                  <a:tcPr marL="73152" marR="73152" marT="27432" marB="27432" anchor="ctr">
                    <a:solidFill>
                      <a:srgbClr val="FFFFFF"/>
                    </a:solidFill>
                  </a:tcPr>
                </a:tc>
                <a:tc>
                  <a:txBody>
                    <a:bodyPr/>
                    <a:lstStyle/>
                    <a:p>
                      <a:pPr algn="ctr"/>
                      <a:r>
                        <a:rPr sz="1300" b="0">
                          <a:solidFill>
                            <a:srgbClr val="14305F"/>
                          </a:solidFill>
                          <a:latin typeface="Segoe UI"/>
                        </a:rPr>
                        <a:t>0.7931</a:t>
                      </a:r>
                    </a:p>
                  </a:txBody>
                  <a:tcPr marL="73152" marR="73152" marT="27432" marB="27432" anchor="ctr">
                    <a:solidFill>
                      <a:srgbClr val="FFFFFF"/>
                    </a:solidFill>
                  </a:tcPr>
                </a:tc>
                <a:tc>
                  <a:txBody>
                    <a:bodyPr/>
                    <a:lstStyle/>
                    <a:p>
                      <a:pPr marL="0" algn="ctr" defTabSz="457200" rtl="0" eaLnBrk="1" latinLnBrk="0" hangingPunct="1"/>
                      <a:r>
                        <a:rPr lang="en-IN" sz="1300" b="0" kern="1200" dirty="0">
                          <a:solidFill>
                            <a:srgbClr val="14305F"/>
                          </a:solidFill>
                          <a:latin typeface="Segoe UI"/>
                          <a:ea typeface="+mn-ea"/>
                          <a:cs typeface="+mn-cs"/>
                        </a:rPr>
                        <a:t>Validation split (best epoch)</a:t>
                      </a:r>
                      <a:endParaRPr sz="1300" b="0" kern="1200" dirty="0">
                        <a:solidFill>
                          <a:srgbClr val="14305F"/>
                        </a:solidFill>
                        <a:latin typeface="Segoe UI"/>
                        <a:ea typeface="+mn-ea"/>
                        <a:cs typeface="+mn-cs"/>
                      </a:endParaRPr>
                    </a:p>
                  </a:txBody>
                  <a:tcPr marL="73152" marR="73152" marT="27432" marB="27432" anchor="ctr">
                    <a:solidFill>
                      <a:srgbClr val="FFFFFF"/>
                    </a:solidFill>
                  </a:tcPr>
                </a:tc>
                <a:extLst>
                  <a:ext uri="{0D108BD9-81ED-4DB2-BD59-A6C34878D82A}">
                    <a16:rowId xmlns:a16="http://schemas.microsoft.com/office/drawing/2014/main" val="10005"/>
                  </a:ext>
                </a:extLst>
              </a:tr>
              <a:tr h="475488">
                <a:tc>
                  <a:txBody>
                    <a:bodyPr/>
                    <a:lstStyle/>
                    <a:p>
                      <a:pPr algn="l"/>
                      <a:r>
                        <a:rPr sz="1300" b="1">
                          <a:solidFill>
                            <a:srgbClr val="14305F"/>
                          </a:solidFill>
                          <a:latin typeface="Segoe UI"/>
                        </a:rPr>
                        <a:t>Contextual transformer</a:t>
                      </a:r>
                    </a:p>
                  </a:txBody>
                  <a:tcPr marL="73152" marR="73152" marT="27432" marB="27432" anchor="ctr">
                    <a:solidFill>
                      <a:srgbClr val="E4F7F1"/>
                    </a:solidFill>
                  </a:tcPr>
                </a:tc>
                <a:tc>
                  <a:txBody>
                    <a:bodyPr/>
                    <a:lstStyle/>
                    <a:p>
                      <a:pPr algn="ctr"/>
                      <a:r>
                        <a:rPr sz="1300" b="1" dirty="0">
                          <a:solidFill>
                            <a:srgbClr val="14305F"/>
                          </a:solidFill>
                          <a:latin typeface="Segoe UI"/>
                        </a:rPr>
                        <a:t>DistilBERT</a:t>
                      </a:r>
                    </a:p>
                  </a:txBody>
                  <a:tcPr marL="73152" marR="73152" marT="27432" marB="27432" anchor="ctr">
                    <a:solidFill>
                      <a:srgbClr val="E4F7F1"/>
                    </a:solidFill>
                  </a:tcPr>
                </a:tc>
                <a:tc>
                  <a:txBody>
                    <a:bodyPr/>
                    <a:lstStyle/>
                    <a:p>
                      <a:pPr algn="ctr"/>
                      <a:r>
                        <a:rPr sz="1300" b="1">
                          <a:solidFill>
                            <a:srgbClr val="0E9F6E"/>
                          </a:solidFill>
                          <a:latin typeface="Segoe UI"/>
                        </a:rPr>
                        <a:t>0.8209</a:t>
                      </a:r>
                    </a:p>
                  </a:txBody>
                  <a:tcPr marL="73152" marR="73152" marT="27432" marB="27432" anchor="ctr">
                    <a:solidFill>
                      <a:srgbClr val="E4F7F1"/>
                    </a:solidFill>
                  </a:tcPr>
                </a:tc>
                <a:tc>
                  <a:txBody>
                    <a:bodyPr/>
                    <a:lstStyle/>
                    <a:p>
                      <a:pPr marL="0" algn="ctr" defTabSz="457200" rtl="0" eaLnBrk="1" latinLnBrk="0" hangingPunct="1"/>
                      <a:r>
                        <a:rPr lang="en-IN" sz="1300" b="1" kern="1200" dirty="0">
                          <a:solidFill>
                            <a:srgbClr val="14305F"/>
                          </a:solidFill>
                          <a:latin typeface="Segoe UI"/>
                          <a:ea typeface="+mn-ea"/>
                          <a:cs typeface="+mn-cs"/>
                        </a:rPr>
                        <a:t>Validation split (best epoch)</a:t>
                      </a:r>
                      <a:endParaRPr sz="1300" b="1" kern="1200" dirty="0">
                        <a:solidFill>
                          <a:srgbClr val="14305F"/>
                        </a:solidFill>
                        <a:latin typeface="Segoe UI"/>
                        <a:ea typeface="+mn-ea"/>
                        <a:cs typeface="+mn-cs"/>
                      </a:endParaRPr>
                    </a:p>
                  </a:txBody>
                  <a:tcPr marL="73152" marR="73152" marT="27432" marB="27432" anchor="ctr">
                    <a:solidFill>
                      <a:srgbClr val="E4F7F1"/>
                    </a:solidFill>
                  </a:tcPr>
                </a:tc>
                <a:extLst>
                  <a:ext uri="{0D108BD9-81ED-4DB2-BD59-A6C34878D82A}">
                    <a16:rowId xmlns:a16="http://schemas.microsoft.com/office/drawing/2014/main" val="10006"/>
                  </a:ext>
                </a:extLst>
              </a:tr>
            </a:tbl>
          </a:graphicData>
        </a:graphic>
      </p:graphicFrame>
      <p:sp>
        <p:nvSpPr>
          <p:cNvPr id="9" name="Rounded Rectangle 8"/>
          <p:cNvSpPr/>
          <p:nvPr/>
        </p:nvSpPr>
        <p:spPr>
          <a:xfrm>
            <a:off x="502920" y="5202936"/>
            <a:ext cx="5486400" cy="123444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1208" y="5330952"/>
            <a:ext cx="64008" cy="97840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5276088"/>
            <a:ext cx="5166360" cy="1088136"/>
          </a:xfrm>
          <a:prstGeom prst="rect">
            <a:avLst/>
          </a:prstGeom>
          <a:noFill/>
        </p:spPr>
        <p:txBody>
          <a:bodyPr wrap="square" lIns="45720" tIns="27432" rIns="45720" bIns="27432" anchor="ctr">
            <a:spAutoFit/>
          </a:bodyPr>
          <a:lstStyle/>
          <a:p>
            <a:pPr algn="l">
              <a:spcAft>
                <a:spcPts val="300"/>
              </a:spcAft>
            </a:pPr>
            <a:r>
              <a:rPr sz="1400" b="1" i="0">
                <a:solidFill>
                  <a:srgbClr val="1F6FDC"/>
                </a:solidFill>
                <a:latin typeface="Bahnschrift"/>
              </a:rPr>
              <a:t>Fixed in advance</a:t>
            </a:r>
          </a:p>
          <a:p>
            <a:pPr algn="l">
              <a:spcAft>
                <a:spcPts val="300"/>
              </a:spcAft>
            </a:pPr>
            <a:r>
              <a:rPr sz="1250" b="0" i="0">
                <a:solidFill>
                  <a:srgbClr val="14305F"/>
                </a:solidFill>
                <a:latin typeface="Segoe UI"/>
              </a:rPr>
              <a:t>Accuracy first, F1 as tie-breaker. The test set stays out of every choice.</a:t>
            </a:r>
          </a:p>
        </p:txBody>
      </p:sp>
      <p:sp>
        <p:nvSpPr>
          <p:cNvPr id="12" name="Rounded Rectangle 11"/>
          <p:cNvSpPr/>
          <p:nvPr/>
        </p:nvSpPr>
        <p:spPr>
          <a:xfrm>
            <a:off x="6172200" y="5202936"/>
            <a:ext cx="5486400" cy="123444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0488" y="5330952"/>
            <a:ext cx="64008" cy="9784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73368" y="5276088"/>
            <a:ext cx="5166360" cy="1088136"/>
          </a:xfrm>
          <a:prstGeom prst="rect">
            <a:avLst/>
          </a:prstGeom>
          <a:noFill/>
        </p:spPr>
        <p:txBody>
          <a:bodyPr wrap="square" lIns="45720" tIns="27432" rIns="45720" bIns="27432" anchor="ctr">
            <a:spAutoFit/>
          </a:bodyPr>
          <a:lstStyle/>
          <a:p>
            <a:pPr algn="l">
              <a:spcAft>
                <a:spcPts val="300"/>
              </a:spcAft>
            </a:pPr>
            <a:r>
              <a:rPr sz="1400" b="1" i="0">
                <a:solidFill>
                  <a:srgbClr val="F5A623"/>
                </a:solidFill>
                <a:latin typeface="Bahnschrift"/>
              </a:rPr>
              <a:t>An honest negative result</a:t>
            </a:r>
          </a:p>
          <a:p>
            <a:pPr algn="l">
              <a:spcAft>
                <a:spcPts val="300"/>
              </a:spcAft>
            </a:pPr>
            <a:r>
              <a:rPr sz="1250" b="0" i="0">
                <a:solidFill>
                  <a:srgbClr val="14305F"/>
                </a:solidFill>
                <a:latin typeface="Segoe UI"/>
              </a:rPr>
              <a:t>Extra engineered features and YAKE keywords did not beat plain TF-IDF on Accuracy.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8FF"/>
        </a:solidFill>
        <a:effectLst/>
      </p:bgPr>
    </p:bg>
    <p:spTree>
      <p:nvGrpSpPr>
        <p:cNvPr id="1" name=""/>
        <p:cNvGrpSpPr/>
        <p:nvPr/>
      </p:nvGrpSpPr>
      <p:grpSpPr>
        <a:xfrm>
          <a:off x="0" y="0"/>
          <a:ext cx="0" cy="0"/>
          <a:chOff x="0" y="0"/>
          <a:chExt cx="0" cy="0"/>
        </a:xfrm>
      </p:grpSpPr>
      <p:sp>
        <p:nvSpPr>
          <p:cNvPr id="29" name="Rounded Rectangle 7">
            <a:extLst>
              <a:ext uri="{FF2B5EF4-FFF2-40B4-BE49-F238E27FC236}">
                <a16:creationId xmlns:a16="http://schemas.microsoft.com/office/drawing/2014/main" id="{BD20E375-116C-5159-C4A8-A4FFA53CAEA0}"/>
              </a:ext>
            </a:extLst>
          </p:cNvPr>
          <p:cNvSpPr/>
          <p:nvPr/>
        </p:nvSpPr>
        <p:spPr>
          <a:xfrm>
            <a:off x="202085" y="1417993"/>
            <a:ext cx="8634005" cy="4054574"/>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6448" y="261735"/>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Deep Learning Training</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pic>
        <p:nvPicPr>
          <p:cNvPr id="9" name="Picture 8" descr="c201_0.png"/>
          <p:cNvPicPr>
            <a:picLocks noChangeAspect="1"/>
          </p:cNvPicPr>
          <p:nvPr/>
        </p:nvPicPr>
        <p:blipFill>
          <a:blip r:embed="rId4"/>
          <a:stretch>
            <a:fillRect/>
          </a:stretch>
        </p:blipFill>
        <p:spPr>
          <a:xfrm>
            <a:off x="478645" y="1579995"/>
            <a:ext cx="8186010" cy="3730569"/>
          </a:xfrm>
          <a:prstGeom prst="rect">
            <a:avLst/>
          </a:prstGeom>
        </p:spPr>
      </p:pic>
      <p:sp>
        <p:nvSpPr>
          <p:cNvPr id="10" name="Rounded Rectangle 9"/>
          <p:cNvSpPr/>
          <p:nvPr/>
        </p:nvSpPr>
        <p:spPr>
          <a:xfrm>
            <a:off x="9147127" y="1441299"/>
            <a:ext cx="2679101" cy="1275705"/>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233810" y="1509996"/>
            <a:ext cx="64008" cy="1207008"/>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79059" y="1537539"/>
            <a:ext cx="2109804" cy="578620"/>
          </a:xfrm>
          <a:prstGeom prst="rect">
            <a:avLst/>
          </a:prstGeom>
          <a:noFill/>
        </p:spPr>
        <p:txBody>
          <a:bodyPr wrap="square" lIns="45720" tIns="27432" rIns="45720" bIns="27432" anchor="b">
            <a:spAutoFit/>
          </a:bodyPr>
          <a:lstStyle/>
          <a:p>
            <a:pPr algn="l"/>
            <a:r>
              <a:rPr sz="3400" b="1" i="0" dirty="0">
                <a:solidFill>
                  <a:srgbClr val="0E9F6E"/>
                </a:solidFill>
                <a:latin typeface="Bahnschrift"/>
              </a:rPr>
              <a:t>0.8209</a:t>
            </a:r>
          </a:p>
        </p:txBody>
      </p:sp>
      <p:sp>
        <p:nvSpPr>
          <p:cNvPr id="13" name="TextBox 12"/>
          <p:cNvSpPr txBox="1"/>
          <p:nvPr/>
        </p:nvSpPr>
        <p:spPr>
          <a:xfrm>
            <a:off x="9330008" y="2099699"/>
            <a:ext cx="2325468" cy="401648"/>
          </a:xfrm>
          <a:prstGeom prst="rect">
            <a:avLst/>
          </a:prstGeom>
          <a:noFill/>
        </p:spPr>
        <p:txBody>
          <a:bodyPr wrap="square" lIns="45720" tIns="27432" rIns="45720" bIns="27432" anchor="t">
            <a:spAutoFit/>
          </a:bodyPr>
          <a:lstStyle/>
          <a:p>
            <a:pPr algn="l"/>
            <a:r>
              <a:rPr sz="1200" b="1" i="0">
                <a:solidFill>
                  <a:srgbClr val="14305F"/>
                </a:solidFill>
                <a:latin typeface="Segoe UI"/>
              </a:rPr>
              <a:t>DistilBERT validation Accuracy</a:t>
            </a:r>
          </a:p>
          <a:p>
            <a:pPr algn="l"/>
            <a:r>
              <a:rPr sz="1050" b="0" i="0">
                <a:solidFill>
                  <a:srgbClr val="5B7194"/>
                </a:solidFill>
                <a:latin typeface="Segoe UI"/>
              </a:rPr>
              <a:t>Best epoch 2 · F1 0.7785</a:t>
            </a:r>
          </a:p>
        </p:txBody>
      </p:sp>
      <p:sp>
        <p:nvSpPr>
          <p:cNvPr id="14" name="Rounded Rectangle 13"/>
          <p:cNvSpPr/>
          <p:nvPr/>
        </p:nvSpPr>
        <p:spPr>
          <a:xfrm>
            <a:off x="9129887" y="3472853"/>
            <a:ext cx="2713579" cy="1256356"/>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221328" y="3522201"/>
            <a:ext cx="64008" cy="120700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TextBox 15"/>
          <p:cNvSpPr txBox="1"/>
          <p:nvPr/>
        </p:nvSpPr>
        <p:spPr>
          <a:xfrm>
            <a:off x="9312768" y="3592805"/>
            <a:ext cx="2325468" cy="578620"/>
          </a:xfrm>
          <a:prstGeom prst="rect">
            <a:avLst/>
          </a:prstGeom>
          <a:noFill/>
        </p:spPr>
        <p:txBody>
          <a:bodyPr wrap="square" lIns="45720" tIns="27432" rIns="45720" bIns="27432" anchor="b">
            <a:spAutoFit/>
          </a:bodyPr>
          <a:lstStyle/>
          <a:p>
            <a:pPr algn="l"/>
            <a:r>
              <a:rPr sz="3400" b="1" i="0">
                <a:solidFill>
                  <a:srgbClr val="1F6FDC"/>
                </a:solidFill>
                <a:latin typeface="Bahnschrift"/>
              </a:rPr>
              <a:t>0.7931</a:t>
            </a:r>
          </a:p>
        </p:txBody>
      </p:sp>
      <p:sp>
        <p:nvSpPr>
          <p:cNvPr id="17" name="TextBox 16"/>
          <p:cNvSpPr txBox="1"/>
          <p:nvPr/>
        </p:nvSpPr>
        <p:spPr>
          <a:xfrm>
            <a:off x="9312768" y="4154965"/>
            <a:ext cx="2325468" cy="401648"/>
          </a:xfrm>
          <a:prstGeom prst="rect">
            <a:avLst/>
          </a:prstGeom>
          <a:noFill/>
        </p:spPr>
        <p:txBody>
          <a:bodyPr wrap="square" lIns="45720" tIns="27432" rIns="45720" bIns="27432" anchor="t">
            <a:spAutoFit/>
          </a:bodyPr>
          <a:lstStyle/>
          <a:p>
            <a:pPr algn="l"/>
            <a:r>
              <a:rPr sz="1200" b="1" i="0" dirty="0" err="1">
                <a:solidFill>
                  <a:srgbClr val="14305F"/>
                </a:solidFill>
                <a:latin typeface="Segoe UI"/>
              </a:rPr>
              <a:t>BiLSTM</a:t>
            </a:r>
            <a:r>
              <a:rPr sz="1200" b="1" i="0" dirty="0">
                <a:solidFill>
                  <a:srgbClr val="14305F"/>
                </a:solidFill>
                <a:latin typeface="Segoe UI"/>
              </a:rPr>
              <a:t> validation Accuracy</a:t>
            </a:r>
          </a:p>
          <a:p>
            <a:pPr algn="l"/>
            <a:r>
              <a:rPr sz="1050" b="0" i="0" dirty="0">
                <a:solidFill>
                  <a:srgbClr val="5B7194"/>
                </a:solidFill>
                <a:latin typeface="Segoe UI"/>
              </a:rPr>
              <a:t>Best epoch 2 · validation loss 0.4744</a:t>
            </a:r>
          </a:p>
        </p:txBody>
      </p:sp>
      <p:sp>
        <p:nvSpPr>
          <p:cNvPr id="18" name="Rounded Rectangle 17"/>
          <p:cNvSpPr/>
          <p:nvPr/>
        </p:nvSpPr>
        <p:spPr>
          <a:xfrm>
            <a:off x="202085" y="5568043"/>
            <a:ext cx="4276609" cy="1207008"/>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20373" y="5696059"/>
            <a:ext cx="84038" cy="995782"/>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71" y="5937924"/>
            <a:ext cx="3596188" cy="501676"/>
          </a:xfrm>
          <a:prstGeom prst="rect">
            <a:avLst/>
          </a:prstGeom>
          <a:noFill/>
        </p:spPr>
        <p:txBody>
          <a:bodyPr wrap="square" lIns="45720" tIns="27432" rIns="45720" bIns="27432" anchor="ctr">
            <a:spAutoFit/>
          </a:bodyPr>
          <a:lstStyle/>
          <a:p>
            <a:pPr algn="l">
              <a:spcAft>
                <a:spcPts val="300"/>
              </a:spcAft>
            </a:pPr>
            <a:r>
              <a:rPr sz="1400" b="1" i="0" dirty="0">
                <a:solidFill>
                  <a:srgbClr val="1F6FDC"/>
                </a:solidFill>
                <a:latin typeface="Bahnschrift"/>
              </a:rPr>
              <a:t>Training loss keeps falling</a:t>
            </a:r>
          </a:p>
          <a:p>
            <a:pPr algn="l">
              <a:spcAft>
                <a:spcPts val="300"/>
              </a:spcAft>
            </a:pPr>
            <a:r>
              <a:rPr sz="1250" b="0" i="0" dirty="0">
                <a:solidFill>
                  <a:srgbClr val="14305F"/>
                </a:solidFill>
                <a:latin typeface="Segoe UI"/>
              </a:rPr>
              <a:t>DistilBERT 0.46 → 0.22 over four epochs</a:t>
            </a:r>
          </a:p>
        </p:txBody>
      </p:sp>
      <p:sp>
        <p:nvSpPr>
          <p:cNvPr id="21" name="Rounded Rectangle 20"/>
          <p:cNvSpPr/>
          <p:nvPr/>
        </p:nvSpPr>
        <p:spPr>
          <a:xfrm>
            <a:off x="4737034" y="5541264"/>
            <a:ext cx="4099055" cy="1207008"/>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755323" y="5669280"/>
            <a:ext cx="64008" cy="995782"/>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38203" y="5916333"/>
            <a:ext cx="3157093" cy="501676"/>
          </a:xfrm>
          <a:prstGeom prst="rect">
            <a:avLst/>
          </a:prstGeom>
          <a:noFill/>
        </p:spPr>
        <p:txBody>
          <a:bodyPr wrap="square" lIns="45720" tIns="27432" rIns="45720" bIns="27432" anchor="ctr">
            <a:spAutoFit/>
          </a:bodyPr>
          <a:lstStyle/>
          <a:p>
            <a:pPr algn="l">
              <a:spcAft>
                <a:spcPts val="300"/>
              </a:spcAft>
            </a:pPr>
            <a:r>
              <a:rPr sz="1400" b="1" i="0" dirty="0">
                <a:solidFill>
                  <a:srgbClr val="EF5B5B"/>
                </a:solidFill>
                <a:latin typeface="Bahnschrift"/>
              </a:rPr>
              <a:t>Validation loss rises</a:t>
            </a:r>
          </a:p>
          <a:p>
            <a:pPr algn="l">
              <a:spcAft>
                <a:spcPts val="300"/>
              </a:spcAft>
            </a:pPr>
            <a:r>
              <a:rPr sz="1250" b="0" i="0" dirty="0">
                <a:solidFill>
                  <a:srgbClr val="14305F"/>
                </a:solidFill>
                <a:latin typeface="Segoe UI"/>
              </a:rPr>
              <a:t>0.42 → 0.72, so the best checkpoint is kept</a:t>
            </a:r>
          </a:p>
        </p:txBody>
      </p:sp>
      <p:sp>
        <p:nvSpPr>
          <p:cNvPr id="24" name="Rounded Rectangle 23"/>
          <p:cNvSpPr/>
          <p:nvPr/>
        </p:nvSpPr>
        <p:spPr>
          <a:xfrm>
            <a:off x="9164364" y="5533517"/>
            <a:ext cx="2679102" cy="1222502"/>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flipH="1">
            <a:off x="9230472" y="5635876"/>
            <a:ext cx="45719" cy="1105771"/>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11627" y="5719349"/>
            <a:ext cx="2309371" cy="694036"/>
          </a:xfrm>
          <a:prstGeom prst="rect">
            <a:avLst/>
          </a:prstGeom>
          <a:noFill/>
        </p:spPr>
        <p:txBody>
          <a:bodyPr wrap="square" lIns="45720" tIns="27432" rIns="45720" bIns="27432" anchor="ctr">
            <a:spAutoFit/>
          </a:bodyPr>
          <a:lstStyle/>
          <a:p>
            <a:pPr algn="l">
              <a:spcAft>
                <a:spcPts val="300"/>
              </a:spcAft>
            </a:pPr>
            <a:r>
              <a:rPr sz="1400" b="1" i="0" dirty="0">
                <a:solidFill>
                  <a:srgbClr val="14B8A6"/>
                </a:solidFill>
                <a:latin typeface="Bahnschrift"/>
              </a:rPr>
              <a:t>Chosen by Accuracy</a:t>
            </a:r>
          </a:p>
          <a:p>
            <a:pPr algn="l">
              <a:spcAft>
                <a:spcPts val="300"/>
              </a:spcAft>
            </a:pPr>
            <a:r>
              <a:rPr sz="1250" b="0" i="0" dirty="0">
                <a:solidFill>
                  <a:srgbClr val="14305F"/>
                </a:solidFill>
                <a:latin typeface="Segoe UI"/>
              </a:rPr>
              <a:t>Not by loss alone — the primary metric decides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8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5750"/>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Test Results — The Leaderboard</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502920" y="1508760"/>
            <a:ext cx="7772400" cy="48006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215_0.png"/>
          <p:cNvPicPr>
            <a:picLocks noChangeAspect="1"/>
          </p:cNvPicPr>
          <p:nvPr/>
        </p:nvPicPr>
        <p:blipFill>
          <a:blip r:embed="rId4"/>
          <a:stretch>
            <a:fillRect/>
          </a:stretch>
        </p:blipFill>
        <p:spPr>
          <a:xfrm>
            <a:off x="576072" y="1886822"/>
            <a:ext cx="7626096" cy="4044475"/>
          </a:xfrm>
          <a:prstGeom prst="rect">
            <a:avLst/>
          </a:prstGeom>
        </p:spPr>
      </p:pic>
      <p:sp>
        <p:nvSpPr>
          <p:cNvPr id="10" name="Rounded Rectangle 9"/>
          <p:cNvSpPr/>
          <p:nvPr/>
        </p:nvSpPr>
        <p:spPr>
          <a:xfrm>
            <a:off x="8503920" y="1508760"/>
            <a:ext cx="3154680" cy="13716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22208" y="1636776"/>
            <a:ext cx="64008" cy="1115568"/>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0" y="1554480"/>
            <a:ext cx="2880360" cy="685800"/>
          </a:xfrm>
          <a:prstGeom prst="rect">
            <a:avLst/>
          </a:prstGeom>
          <a:noFill/>
        </p:spPr>
        <p:txBody>
          <a:bodyPr wrap="square" lIns="45720" tIns="27432" rIns="45720" bIns="27432" anchor="b">
            <a:spAutoFit/>
          </a:bodyPr>
          <a:lstStyle/>
          <a:p>
            <a:pPr algn="l"/>
            <a:r>
              <a:rPr sz="3400" b="1" i="0">
                <a:solidFill>
                  <a:srgbClr val="0E9F6E"/>
                </a:solidFill>
                <a:latin typeface="Bahnschrift"/>
              </a:rPr>
              <a:t>0.8144</a:t>
            </a:r>
          </a:p>
        </p:txBody>
      </p:sp>
      <p:sp>
        <p:nvSpPr>
          <p:cNvPr id="13" name="TextBox 12"/>
          <p:cNvSpPr txBox="1"/>
          <p:nvPr/>
        </p:nvSpPr>
        <p:spPr>
          <a:xfrm>
            <a:off x="8686800" y="2221991"/>
            <a:ext cx="2880360" cy="630936"/>
          </a:xfrm>
          <a:prstGeom prst="rect">
            <a:avLst/>
          </a:prstGeom>
          <a:noFill/>
        </p:spPr>
        <p:txBody>
          <a:bodyPr wrap="square" lIns="45720" tIns="27432" rIns="45720" bIns="27432" anchor="t">
            <a:spAutoFit/>
          </a:bodyPr>
          <a:lstStyle/>
          <a:p>
            <a:pPr algn="l"/>
            <a:r>
              <a:rPr sz="1200" b="1" i="0">
                <a:solidFill>
                  <a:srgbClr val="14305F"/>
                </a:solidFill>
                <a:latin typeface="Segoe UI"/>
              </a:rPr>
              <a:t>DistilBERT test Accuracy</a:t>
            </a:r>
          </a:p>
          <a:p>
            <a:pPr algn="l"/>
            <a:r>
              <a:rPr sz="1050" b="0" i="0">
                <a:solidFill>
                  <a:srgbClr val="5B7194"/>
                </a:solidFill>
                <a:latin typeface="Segoe UI"/>
              </a:rPr>
              <a:t>F1 0.7718</a:t>
            </a:r>
          </a:p>
        </p:txBody>
      </p:sp>
      <p:sp>
        <p:nvSpPr>
          <p:cNvPr id="14" name="Rounded Rectangle 13"/>
          <p:cNvSpPr/>
          <p:nvPr/>
        </p:nvSpPr>
        <p:spPr>
          <a:xfrm>
            <a:off x="8503920" y="3222420"/>
            <a:ext cx="3154680" cy="13716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522208" y="3350436"/>
            <a:ext cx="64008" cy="111556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0" y="3268139"/>
            <a:ext cx="2880360" cy="685800"/>
          </a:xfrm>
          <a:prstGeom prst="rect">
            <a:avLst/>
          </a:prstGeom>
          <a:noFill/>
        </p:spPr>
        <p:txBody>
          <a:bodyPr wrap="square" lIns="45720" tIns="27432" rIns="45720" bIns="27432" anchor="b">
            <a:spAutoFit/>
          </a:bodyPr>
          <a:lstStyle/>
          <a:p>
            <a:pPr algn="l"/>
            <a:r>
              <a:rPr sz="3400" b="1" i="0">
                <a:solidFill>
                  <a:srgbClr val="F5A623"/>
                </a:solidFill>
                <a:latin typeface="Bahnschrift"/>
              </a:rPr>
              <a:t>+0.0100</a:t>
            </a:r>
          </a:p>
        </p:txBody>
      </p:sp>
      <p:sp>
        <p:nvSpPr>
          <p:cNvPr id="17" name="TextBox 16"/>
          <p:cNvSpPr txBox="1"/>
          <p:nvPr/>
        </p:nvSpPr>
        <p:spPr>
          <a:xfrm>
            <a:off x="8686800" y="3935652"/>
            <a:ext cx="2880360" cy="630936"/>
          </a:xfrm>
          <a:prstGeom prst="rect">
            <a:avLst/>
          </a:prstGeom>
          <a:noFill/>
        </p:spPr>
        <p:txBody>
          <a:bodyPr wrap="square" lIns="45720" tIns="27432" rIns="45720" bIns="27432" anchor="t">
            <a:spAutoFit/>
          </a:bodyPr>
          <a:lstStyle/>
          <a:p>
            <a:pPr algn="l"/>
            <a:r>
              <a:rPr sz="1200" b="1" i="0">
                <a:solidFill>
                  <a:srgbClr val="14305F"/>
                </a:solidFill>
                <a:latin typeface="Segoe UI"/>
              </a:rPr>
              <a:t>Lead over Logistic Regression</a:t>
            </a:r>
          </a:p>
          <a:p>
            <a:pPr algn="l"/>
            <a:r>
              <a:rPr sz="1050" b="0" i="0">
                <a:solidFill>
                  <a:srgbClr val="5B7194"/>
                </a:solidFill>
                <a:latin typeface="Segoe UI"/>
              </a:rPr>
              <a:t>About 15 of 1,498 tweets</a:t>
            </a:r>
          </a:p>
        </p:txBody>
      </p:sp>
      <p:sp>
        <p:nvSpPr>
          <p:cNvPr id="18" name="Rounded Rectangle 17"/>
          <p:cNvSpPr/>
          <p:nvPr/>
        </p:nvSpPr>
        <p:spPr>
          <a:xfrm>
            <a:off x="8534400" y="4928617"/>
            <a:ext cx="3154680" cy="13716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552688" y="5056633"/>
            <a:ext cx="64008" cy="111556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17280" y="4974337"/>
            <a:ext cx="2880360" cy="685800"/>
          </a:xfrm>
          <a:prstGeom prst="rect">
            <a:avLst/>
          </a:prstGeom>
          <a:noFill/>
        </p:spPr>
        <p:txBody>
          <a:bodyPr wrap="square" lIns="45720" tIns="27432" rIns="45720" bIns="27432" anchor="b">
            <a:spAutoFit/>
          </a:bodyPr>
          <a:lstStyle/>
          <a:p>
            <a:pPr algn="l"/>
            <a:r>
              <a:rPr sz="3400" b="1" i="0">
                <a:solidFill>
                  <a:srgbClr val="1F6FDC"/>
                </a:solidFill>
                <a:latin typeface="Bahnschrift"/>
              </a:rPr>
              <a:t>0.574</a:t>
            </a:r>
          </a:p>
        </p:txBody>
      </p:sp>
      <p:sp>
        <p:nvSpPr>
          <p:cNvPr id="21" name="TextBox 20"/>
          <p:cNvSpPr txBox="1"/>
          <p:nvPr/>
        </p:nvSpPr>
        <p:spPr>
          <a:xfrm>
            <a:off x="8717280" y="5641849"/>
            <a:ext cx="2880360" cy="630936"/>
          </a:xfrm>
          <a:prstGeom prst="rect">
            <a:avLst/>
          </a:prstGeom>
          <a:noFill/>
        </p:spPr>
        <p:txBody>
          <a:bodyPr wrap="square" lIns="45720" tIns="27432" rIns="45720" bIns="27432" anchor="t">
            <a:spAutoFit/>
          </a:bodyPr>
          <a:lstStyle/>
          <a:p>
            <a:pPr algn="l"/>
            <a:r>
              <a:rPr sz="1200" b="1" i="0" dirty="0">
                <a:solidFill>
                  <a:srgbClr val="14305F"/>
                </a:solidFill>
                <a:latin typeface="Segoe UI"/>
              </a:rPr>
              <a:t>Majority-class baseline</a:t>
            </a:r>
          </a:p>
          <a:p>
            <a:pPr algn="l"/>
            <a:r>
              <a:rPr sz="1050" b="0" i="0" dirty="0">
                <a:solidFill>
                  <a:srgbClr val="5B7194"/>
                </a:solidFill>
                <a:latin typeface="Segoe UI"/>
              </a:rPr>
              <a:t>All six models clear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5353"/>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Beyond Accuracy</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356615" y="1682496"/>
            <a:ext cx="7163857" cy="3643944"/>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9" name="Picture 8" descr="c188_0.png"/>
          <p:cNvPicPr>
            <a:picLocks noChangeAspect="1"/>
          </p:cNvPicPr>
          <p:nvPr/>
        </p:nvPicPr>
        <p:blipFill>
          <a:blip r:embed="rId4"/>
          <a:stretch>
            <a:fillRect/>
          </a:stretch>
        </p:blipFill>
        <p:spPr>
          <a:xfrm>
            <a:off x="429768" y="1755648"/>
            <a:ext cx="6950776" cy="3456432"/>
          </a:xfrm>
          <a:prstGeom prst="rect">
            <a:avLst/>
          </a:prstGeom>
        </p:spPr>
      </p:pic>
      <p:sp>
        <p:nvSpPr>
          <p:cNvPr id="14" name="Rounded Rectangle 13"/>
          <p:cNvSpPr/>
          <p:nvPr/>
        </p:nvSpPr>
        <p:spPr>
          <a:xfrm>
            <a:off x="7760000" y="1508760"/>
            <a:ext cx="3898600" cy="10972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78288" y="1636776"/>
            <a:ext cx="64008" cy="841247"/>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43000" y="1554480"/>
            <a:ext cx="3595600" cy="617220"/>
          </a:xfrm>
          <a:prstGeom prst="rect">
            <a:avLst/>
          </a:prstGeom>
          <a:noFill/>
        </p:spPr>
        <p:txBody>
          <a:bodyPr wrap="square" lIns="45720" tIns="27432" rIns="45720" bIns="27432" anchor="b">
            <a:spAutoFit/>
          </a:bodyPr>
          <a:lstStyle/>
          <a:p>
            <a:pPr algn="l"/>
            <a:r>
              <a:rPr sz="2200" b="1" i="0">
                <a:solidFill>
                  <a:srgbClr val="0E9F6E"/>
                </a:solidFill>
                <a:latin typeface="Bahnschrift"/>
              </a:rPr>
              <a:t>470 / 638</a:t>
            </a:r>
          </a:p>
        </p:txBody>
      </p:sp>
      <p:sp>
        <p:nvSpPr>
          <p:cNvPr id="17" name="TextBox 16"/>
          <p:cNvSpPr txBox="1"/>
          <p:nvPr/>
        </p:nvSpPr>
        <p:spPr>
          <a:xfrm>
            <a:off x="7943000" y="2079345"/>
            <a:ext cx="3595600" cy="567842"/>
          </a:xfrm>
          <a:prstGeom prst="rect">
            <a:avLst/>
          </a:prstGeom>
          <a:noFill/>
        </p:spPr>
        <p:txBody>
          <a:bodyPr wrap="square" lIns="45720" tIns="27432" rIns="45720" bIns="27432" anchor="t">
            <a:spAutoFit/>
          </a:bodyPr>
          <a:lstStyle/>
          <a:p>
            <a:pPr algn="l"/>
            <a:r>
              <a:rPr sz="1200" b="1" i="0">
                <a:solidFill>
                  <a:srgbClr val="14305F"/>
                </a:solidFill>
                <a:latin typeface="Segoe UI"/>
              </a:rPr>
              <a:t>Disasters caught</a:t>
            </a:r>
          </a:p>
          <a:p>
            <a:pPr algn="l"/>
            <a:r>
              <a:rPr sz="1050" b="0" i="0">
                <a:solidFill>
                  <a:srgbClr val="5B7194"/>
                </a:solidFill>
                <a:latin typeface="Segoe UI"/>
              </a:rPr>
              <a:t>73.7% · 168 missed</a:t>
            </a:r>
          </a:p>
        </p:txBody>
      </p:sp>
      <p:sp>
        <p:nvSpPr>
          <p:cNvPr id="18" name="Rounded Rectangle 17"/>
          <p:cNvSpPr/>
          <p:nvPr/>
        </p:nvSpPr>
        <p:spPr>
          <a:xfrm>
            <a:off x="7760000" y="2743200"/>
            <a:ext cx="3898600" cy="10972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778288" y="2871216"/>
            <a:ext cx="64008" cy="841247"/>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43000" y="2788920"/>
            <a:ext cx="3595600" cy="617220"/>
          </a:xfrm>
          <a:prstGeom prst="rect">
            <a:avLst/>
          </a:prstGeom>
          <a:noFill/>
        </p:spPr>
        <p:txBody>
          <a:bodyPr wrap="square" lIns="45720" tIns="27432" rIns="45720" bIns="27432" anchor="b">
            <a:spAutoFit/>
          </a:bodyPr>
          <a:lstStyle/>
          <a:p>
            <a:pPr algn="l"/>
            <a:r>
              <a:rPr sz="2200" b="1" i="0">
                <a:solidFill>
                  <a:srgbClr val="EF5B5B"/>
                </a:solidFill>
                <a:latin typeface="Bahnschrift"/>
              </a:rPr>
              <a:t>110</a:t>
            </a:r>
          </a:p>
        </p:txBody>
      </p:sp>
      <p:sp>
        <p:nvSpPr>
          <p:cNvPr id="21" name="TextBox 20"/>
          <p:cNvSpPr txBox="1"/>
          <p:nvPr/>
        </p:nvSpPr>
        <p:spPr>
          <a:xfrm>
            <a:off x="7943000" y="3313785"/>
            <a:ext cx="3595600" cy="567842"/>
          </a:xfrm>
          <a:prstGeom prst="rect">
            <a:avLst/>
          </a:prstGeom>
          <a:noFill/>
        </p:spPr>
        <p:txBody>
          <a:bodyPr wrap="square" lIns="45720" tIns="27432" rIns="45720" bIns="27432" anchor="t">
            <a:spAutoFit/>
          </a:bodyPr>
          <a:lstStyle/>
          <a:p>
            <a:pPr algn="l"/>
            <a:r>
              <a:rPr sz="1200" b="1" i="0">
                <a:solidFill>
                  <a:srgbClr val="14305F"/>
                </a:solidFill>
                <a:latin typeface="Segoe UI"/>
              </a:rPr>
              <a:t>False alarms</a:t>
            </a:r>
          </a:p>
          <a:p>
            <a:pPr algn="l"/>
            <a:r>
              <a:rPr sz="1050" b="0" i="0">
                <a:solidFill>
                  <a:srgbClr val="5B7194"/>
                </a:solidFill>
                <a:latin typeface="Segoe UI"/>
              </a:rPr>
              <a:t>vs 87 for Logistic Reg.</a:t>
            </a:r>
          </a:p>
        </p:txBody>
      </p:sp>
      <p:sp>
        <p:nvSpPr>
          <p:cNvPr id="22" name="Rounded Rectangle 21"/>
          <p:cNvSpPr/>
          <p:nvPr/>
        </p:nvSpPr>
        <p:spPr>
          <a:xfrm>
            <a:off x="7760000" y="3977639"/>
            <a:ext cx="3898600" cy="10972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778288" y="4105655"/>
            <a:ext cx="64008" cy="841247"/>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43000" y="4023359"/>
            <a:ext cx="3595600" cy="640080"/>
          </a:xfrm>
          <a:prstGeom prst="rect">
            <a:avLst/>
          </a:prstGeom>
          <a:noFill/>
        </p:spPr>
        <p:txBody>
          <a:bodyPr wrap="square" lIns="45720" tIns="27432" rIns="45720" bIns="27432" anchor="b">
            <a:spAutoFit/>
          </a:bodyPr>
          <a:lstStyle/>
          <a:p>
            <a:pPr algn="l"/>
            <a:r>
              <a:rPr sz="2200" b="1" i="0">
                <a:solidFill>
                  <a:srgbClr val="1F6FDC"/>
                </a:solidFill>
                <a:latin typeface="Bahnschrift"/>
              </a:rPr>
              <a:t>0.875</a:t>
            </a:r>
          </a:p>
        </p:txBody>
      </p:sp>
      <p:sp>
        <p:nvSpPr>
          <p:cNvPr id="25" name="TextBox 24"/>
          <p:cNvSpPr txBox="1"/>
          <p:nvPr/>
        </p:nvSpPr>
        <p:spPr>
          <a:xfrm>
            <a:off x="7943000" y="4548224"/>
            <a:ext cx="3595600" cy="588873"/>
          </a:xfrm>
          <a:prstGeom prst="rect">
            <a:avLst/>
          </a:prstGeom>
          <a:noFill/>
        </p:spPr>
        <p:txBody>
          <a:bodyPr wrap="square" lIns="45720" tIns="27432" rIns="45720" bIns="27432" anchor="t">
            <a:spAutoFit/>
          </a:bodyPr>
          <a:lstStyle/>
          <a:p>
            <a:pPr algn="l"/>
            <a:r>
              <a:rPr sz="1200" b="1" i="0">
                <a:solidFill>
                  <a:srgbClr val="14305F"/>
                </a:solidFill>
                <a:latin typeface="Segoe UI"/>
              </a:rPr>
              <a:t>ROC AUC</a:t>
            </a:r>
          </a:p>
          <a:p>
            <a:pPr algn="l"/>
            <a:r>
              <a:rPr sz="1050" b="0" i="0">
                <a:solidFill>
                  <a:srgbClr val="5B7194"/>
                </a:solidFill>
                <a:latin typeface="Segoe UI"/>
              </a:rPr>
              <a:t>Highest of six</a:t>
            </a:r>
          </a:p>
        </p:txBody>
      </p:sp>
      <p:sp>
        <p:nvSpPr>
          <p:cNvPr id="26" name="Rounded Rectangle 25"/>
          <p:cNvSpPr/>
          <p:nvPr/>
        </p:nvSpPr>
        <p:spPr>
          <a:xfrm>
            <a:off x="7760000" y="5212080"/>
            <a:ext cx="3898600" cy="10972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778288" y="5340096"/>
            <a:ext cx="64008" cy="841247"/>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43000" y="5257800"/>
            <a:ext cx="3595600" cy="640080"/>
          </a:xfrm>
          <a:prstGeom prst="rect">
            <a:avLst/>
          </a:prstGeom>
          <a:noFill/>
        </p:spPr>
        <p:txBody>
          <a:bodyPr wrap="square" lIns="45720" tIns="27432" rIns="45720" bIns="27432" anchor="b">
            <a:spAutoFit/>
          </a:bodyPr>
          <a:lstStyle/>
          <a:p>
            <a:pPr algn="l"/>
            <a:r>
              <a:rPr sz="2200" b="1" i="0">
                <a:solidFill>
                  <a:srgbClr val="14B8A6"/>
                </a:solidFill>
                <a:latin typeface="Bahnschrift"/>
              </a:rPr>
              <a:t>0.863</a:t>
            </a:r>
          </a:p>
        </p:txBody>
      </p:sp>
      <p:sp>
        <p:nvSpPr>
          <p:cNvPr id="29" name="TextBox 28"/>
          <p:cNvSpPr txBox="1"/>
          <p:nvPr/>
        </p:nvSpPr>
        <p:spPr>
          <a:xfrm>
            <a:off x="7943000" y="5782665"/>
            <a:ext cx="3595600" cy="588873"/>
          </a:xfrm>
          <a:prstGeom prst="rect">
            <a:avLst/>
          </a:prstGeom>
          <a:noFill/>
        </p:spPr>
        <p:txBody>
          <a:bodyPr wrap="square" lIns="45720" tIns="27432" rIns="45720" bIns="27432" anchor="t">
            <a:spAutoFit/>
          </a:bodyPr>
          <a:lstStyle/>
          <a:p>
            <a:pPr algn="l"/>
            <a:r>
              <a:rPr sz="1200" b="1" i="0">
                <a:solidFill>
                  <a:srgbClr val="14305F"/>
                </a:solidFill>
                <a:latin typeface="Segoe UI"/>
              </a:rPr>
              <a:t>Average Precision</a:t>
            </a:r>
          </a:p>
          <a:p>
            <a:pPr algn="l"/>
            <a:r>
              <a:rPr sz="1050" b="0" i="0">
                <a:solidFill>
                  <a:srgbClr val="5B7194"/>
                </a:solidFill>
                <a:latin typeface="Segoe UI"/>
              </a:rPr>
              <a:t>Highest of six</a:t>
            </a:r>
          </a:p>
        </p:txBody>
      </p:sp>
      <p:sp>
        <p:nvSpPr>
          <p:cNvPr id="30" name="TextBox 29"/>
          <p:cNvSpPr txBox="1"/>
          <p:nvPr/>
        </p:nvSpPr>
        <p:spPr>
          <a:xfrm>
            <a:off x="429768" y="5623190"/>
            <a:ext cx="7097080" cy="692497"/>
          </a:xfrm>
          <a:prstGeom prst="rect">
            <a:avLst/>
          </a:prstGeom>
          <a:noFill/>
        </p:spPr>
        <p:txBody>
          <a:bodyPr wrap="square">
            <a:spAutoFit/>
          </a:bodyPr>
          <a:lstStyle/>
          <a:p>
            <a:r>
              <a:rPr sz="1300" b="1" i="1" dirty="0">
                <a:solidFill>
                  <a:srgbClr val="5B7194"/>
                </a:solidFill>
                <a:latin typeface="Segoe UI"/>
              </a:rPr>
              <a:t>DistilBERT (left) and Logistic Regression (right), from the notebook's test-set confusion matrices. Rows are the actual class, columns the predicted class; blue = correct, red = errors. All six matrices and the ROC and Precision-Recall curves are in the notebook.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13588" y="267558"/>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Recommendation &amp; Trust</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502920" y="1508759"/>
            <a:ext cx="5900000" cy="3296505"/>
          </a:xfrm>
          <a:prstGeom prst="roundRect">
            <a:avLst>
              <a:gd name="adj" fmla="val 6000"/>
            </a:avLst>
          </a:prstGeom>
          <a:solidFill>
            <a:srgbClr val="ECFDF5"/>
          </a:solidFill>
          <a:ln w="254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0000" y="1540000"/>
            <a:ext cx="5600000" cy="457200"/>
          </a:xfrm>
          <a:prstGeom prst="rect">
            <a:avLst/>
          </a:prstGeom>
          <a:noFill/>
        </p:spPr>
        <p:txBody>
          <a:bodyPr wrap="square" lIns="45720" tIns="27432" rIns="45720" bIns="27432" anchor="t">
            <a:spAutoFit/>
          </a:bodyPr>
          <a:lstStyle/>
          <a:p>
            <a:pPr algn="l"/>
            <a:r>
              <a:rPr sz="2200" b="1" i="0">
                <a:solidFill>
                  <a:srgbClr val="0E9F6E"/>
                </a:solidFill>
                <a:latin typeface="Bahnschrift"/>
              </a:rPr>
              <a:t>Recommended: DistilBERT</a:t>
            </a:r>
          </a:p>
        </p:txBody>
      </p:sp>
      <p:graphicFrame>
        <p:nvGraphicFramePr>
          <p:cNvPr id="10" name="Table 9"/>
          <p:cNvGraphicFramePr>
            <a:graphicFrameLocks noGrp="1"/>
          </p:cNvGraphicFramePr>
          <p:nvPr/>
        </p:nvGraphicFramePr>
        <p:xfrm>
          <a:off x="650000" y="2030000"/>
          <a:ext cx="5600000" cy="2040000"/>
        </p:xfrm>
        <a:graphic>
          <a:graphicData uri="http://schemas.openxmlformats.org/drawingml/2006/table">
            <a:tbl>
              <a:tblPr>
                <a:tableStyleId>{5940675A-B579-460E-94D1-54222C63F5DA}</a:tableStyleId>
              </a:tblPr>
              <a:tblGrid>
                <a:gridCol w="2300000">
                  <a:extLst>
                    <a:ext uri="{9D8B030D-6E8A-4147-A177-3AD203B41FA5}">
                      <a16:colId xmlns:a16="http://schemas.microsoft.com/office/drawing/2014/main" val="20000"/>
                    </a:ext>
                  </a:extLst>
                </a:gridCol>
                <a:gridCol w="1650000">
                  <a:extLst>
                    <a:ext uri="{9D8B030D-6E8A-4147-A177-3AD203B41FA5}">
                      <a16:colId xmlns:a16="http://schemas.microsoft.com/office/drawing/2014/main" val="20001"/>
                    </a:ext>
                  </a:extLst>
                </a:gridCol>
                <a:gridCol w="1650000">
                  <a:extLst>
                    <a:ext uri="{9D8B030D-6E8A-4147-A177-3AD203B41FA5}">
                      <a16:colId xmlns:a16="http://schemas.microsoft.com/office/drawing/2014/main" val="20002"/>
                    </a:ext>
                  </a:extLst>
                </a:gridCol>
              </a:tblGrid>
              <a:tr h="340000">
                <a:tc>
                  <a:txBody>
                    <a:bodyPr/>
                    <a:lstStyle/>
                    <a:p>
                      <a:pPr algn="l"/>
                      <a:r>
                        <a:rPr sz="1250" b="1">
                          <a:solidFill>
                            <a:srgbClr val="FFFFFF"/>
                          </a:solidFill>
                          <a:latin typeface="Segoe UI"/>
                        </a:rPr>
                        <a:t>Metric</a:t>
                      </a:r>
                    </a:p>
                  </a:txBody>
                  <a:tcPr marL="73152" marR="73152" marT="27432" marB="27432" anchor="ctr">
                    <a:solidFill>
                      <a:srgbClr val="0E9F6E"/>
                    </a:solidFill>
                  </a:tcPr>
                </a:tc>
                <a:tc>
                  <a:txBody>
                    <a:bodyPr/>
                    <a:lstStyle/>
                    <a:p>
                      <a:pPr algn="ctr"/>
                      <a:r>
                        <a:rPr sz="1250" b="1">
                          <a:solidFill>
                            <a:srgbClr val="FFFFFF"/>
                          </a:solidFill>
                          <a:latin typeface="Segoe UI"/>
                        </a:rPr>
                        <a:t>DistilBERT</a:t>
                      </a:r>
                    </a:p>
                  </a:txBody>
                  <a:tcPr marL="73152" marR="73152" marT="27432" marB="27432" anchor="ctr">
                    <a:solidFill>
                      <a:srgbClr val="0E9F6E"/>
                    </a:solidFill>
                  </a:tcPr>
                </a:tc>
                <a:tc>
                  <a:txBody>
                    <a:bodyPr/>
                    <a:lstStyle/>
                    <a:p>
                      <a:pPr algn="ctr"/>
                      <a:r>
                        <a:rPr sz="1250" b="1">
                          <a:solidFill>
                            <a:srgbClr val="FFFFFF"/>
                          </a:solidFill>
                          <a:latin typeface="Segoe UI"/>
                        </a:rPr>
                        <a:t>Logistic Reg.</a:t>
                      </a:r>
                    </a:p>
                  </a:txBody>
                  <a:tcPr marL="73152" marR="73152" marT="27432" marB="27432" anchor="ctr">
                    <a:solidFill>
                      <a:srgbClr val="0E9F6E"/>
                    </a:solidFill>
                  </a:tcPr>
                </a:tc>
                <a:extLst>
                  <a:ext uri="{0D108BD9-81ED-4DB2-BD59-A6C34878D82A}">
                    <a16:rowId xmlns:a16="http://schemas.microsoft.com/office/drawing/2014/main" val="10000"/>
                  </a:ext>
                </a:extLst>
              </a:tr>
              <a:tr h="340000">
                <a:tc>
                  <a:txBody>
                    <a:bodyPr/>
                    <a:lstStyle/>
                    <a:p>
                      <a:pPr algn="l"/>
                      <a:r>
                        <a:rPr sz="1250" b="0">
                          <a:solidFill>
                            <a:srgbClr val="14305F"/>
                          </a:solidFill>
                          <a:latin typeface="Segoe UI"/>
                        </a:rPr>
                        <a:t>Test Accuracy</a:t>
                      </a:r>
                    </a:p>
                  </a:txBody>
                  <a:tcPr marL="73152" marR="73152" marT="27432" marB="27432" anchor="ctr">
                    <a:solidFill>
                      <a:srgbClr val="FFFFFF"/>
                    </a:solidFill>
                  </a:tcPr>
                </a:tc>
                <a:tc>
                  <a:txBody>
                    <a:bodyPr/>
                    <a:lstStyle/>
                    <a:p>
                      <a:pPr algn="ctr"/>
                      <a:r>
                        <a:rPr sz="1250" b="1">
                          <a:solidFill>
                            <a:srgbClr val="0E9F6E"/>
                          </a:solidFill>
                          <a:latin typeface="Segoe UI"/>
                        </a:rPr>
                        <a:t>0.8144</a:t>
                      </a:r>
                    </a:p>
                  </a:txBody>
                  <a:tcPr marL="73152" marR="73152" marT="27432" marB="27432" anchor="ctr">
                    <a:solidFill>
                      <a:srgbClr val="FFFFFF"/>
                    </a:solidFill>
                  </a:tcPr>
                </a:tc>
                <a:tc>
                  <a:txBody>
                    <a:bodyPr/>
                    <a:lstStyle/>
                    <a:p>
                      <a:pPr algn="ctr"/>
                      <a:r>
                        <a:rPr sz="1250" b="0">
                          <a:solidFill>
                            <a:srgbClr val="14305F"/>
                          </a:solidFill>
                          <a:latin typeface="Segoe UI"/>
                        </a:rPr>
                        <a:t>0.8044</a:t>
                      </a:r>
                    </a:p>
                  </a:txBody>
                  <a:tcPr marL="73152" marR="73152" marT="27432" marB="27432" anchor="ctr">
                    <a:solidFill>
                      <a:srgbClr val="FFFFFF"/>
                    </a:solidFill>
                  </a:tcPr>
                </a:tc>
                <a:extLst>
                  <a:ext uri="{0D108BD9-81ED-4DB2-BD59-A6C34878D82A}">
                    <a16:rowId xmlns:a16="http://schemas.microsoft.com/office/drawing/2014/main" val="10001"/>
                  </a:ext>
                </a:extLst>
              </a:tr>
              <a:tr h="340000">
                <a:tc>
                  <a:txBody>
                    <a:bodyPr/>
                    <a:lstStyle/>
                    <a:p>
                      <a:pPr algn="l"/>
                      <a:r>
                        <a:rPr sz="1250" b="0">
                          <a:solidFill>
                            <a:srgbClr val="14305F"/>
                          </a:solidFill>
                          <a:latin typeface="Segoe UI"/>
                        </a:rPr>
                        <a:t>Test F1</a:t>
                      </a:r>
                    </a:p>
                  </a:txBody>
                  <a:tcPr marL="73152" marR="73152" marT="27432" marB="27432" anchor="ctr">
                    <a:solidFill>
                      <a:srgbClr val="F0F6FF"/>
                    </a:solidFill>
                  </a:tcPr>
                </a:tc>
                <a:tc>
                  <a:txBody>
                    <a:bodyPr/>
                    <a:lstStyle/>
                    <a:p>
                      <a:pPr algn="ctr"/>
                      <a:r>
                        <a:rPr sz="1250" b="1">
                          <a:solidFill>
                            <a:srgbClr val="0E9F6E"/>
                          </a:solidFill>
                          <a:latin typeface="Segoe UI"/>
                        </a:rPr>
                        <a:t>0.7718</a:t>
                      </a:r>
                    </a:p>
                  </a:txBody>
                  <a:tcPr marL="73152" marR="73152" marT="27432" marB="27432" anchor="ctr">
                    <a:solidFill>
                      <a:srgbClr val="F0F6FF"/>
                    </a:solidFill>
                  </a:tcPr>
                </a:tc>
                <a:tc>
                  <a:txBody>
                    <a:bodyPr/>
                    <a:lstStyle/>
                    <a:p>
                      <a:pPr algn="ctr"/>
                      <a:r>
                        <a:rPr sz="1250" b="0">
                          <a:solidFill>
                            <a:srgbClr val="14305F"/>
                          </a:solidFill>
                          <a:latin typeface="Segoe UI"/>
                        </a:rPr>
                        <a:t>0.7468</a:t>
                      </a:r>
                    </a:p>
                  </a:txBody>
                  <a:tcPr marL="73152" marR="73152" marT="27432" marB="27432" anchor="ctr">
                    <a:solidFill>
                      <a:srgbClr val="F0F6FF"/>
                    </a:solidFill>
                  </a:tcPr>
                </a:tc>
                <a:extLst>
                  <a:ext uri="{0D108BD9-81ED-4DB2-BD59-A6C34878D82A}">
                    <a16:rowId xmlns:a16="http://schemas.microsoft.com/office/drawing/2014/main" val="10002"/>
                  </a:ext>
                </a:extLst>
              </a:tr>
              <a:tr h="340000">
                <a:tc>
                  <a:txBody>
                    <a:bodyPr/>
                    <a:lstStyle/>
                    <a:p>
                      <a:pPr algn="l"/>
                      <a:r>
                        <a:rPr sz="1250" b="0">
                          <a:solidFill>
                            <a:srgbClr val="14305F"/>
                          </a:solidFill>
                          <a:latin typeface="Segoe UI"/>
                        </a:rPr>
                        <a:t>Recall (disasters found)</a:t>
                      </a:r>
                    </a:p>
                  </a:txBody>
                  <a:tcPr marL="73152" marR="73152" marT="27432" marB="27432" anchor="ctr">
                    <a:solidFill>
                      <a:srgbClr val="FFFFFF"/>
                    </a:solidFill>
                  </a:tcPr>
                </a:tc>
                <a:tc>
                  <a:txBody>
                    <a:bodyPr/>
                    <a:lstStyle/>
                    <a:p>
                      <a:pPr algn="ctr"/>
                      <a:r>
                        <a:rPr sz="1250" b="1">
                          <a:solidFill>
                            <a:srgbClr val="0E9F6E"/>
                          </a:solidFill>
                          <a:latin typeface="Segoe UI"/>
                        </a:rPr>
                        <a:t>73.7%</a:t>
                      </a:r>
                    </a:p>
                  </a:txBody>
                  <a:tcPr marL="73152" marR="73152" marT="27432" marB="27432" anchor="ctr">
                    <a:solidFill>
                      <a:srgbClr val="FFFFFF"/>
                    </a:solidFill>
                  </a:tcPr>
                </a:tc>
                <a:tc>
                  <a:txBody>
                    <a:bodyPr/>
                    <a:lstStyle/>
                    <a:p>
                      <a:pPr algn="ctr"/>
                      <a:r>
                        <a:rPr sz="1250" b="0">
                          <a:solidFill>
                            <a:srgbClr val="14305F"/>
                          </a:solidFill>
                          <a:latin typeface="Segoe UI"/>
                        </a:rPr>
                        <a:t>67.7%</a:t>
                      </a:r>
                    </a:p>
                  </a:txBody>
                  <a:tcPr marL="73152" marR="73152" marT="27432" marB="27432" anchor="ctr">
                    <a:solidFill>
                      <a:srgbClr val="FFFFFF"/>
                    </a:solidFill>
                  </a:tcPr>
                </a:tc>
                <a:extLst>
                  <a:ext uri="{0D108BD9-81ED-4DB2-BD59-A6C34878D82A}">
                    <a16:rowId xmlns:a16="http://schemas.microsoft.com/office/drawing/2014/main" val="10003"/>
                  </a:ext>
                </a:extLst>
              </a:tr>
              <a:tr h="340000">
                <a:tc>
                  <a:txBody>
                    <a:bodyPr/>
                    <a:lstStyle/>
                    <a:p>
                      <a:pPr algn="l"/>
                      <a:r>
                        <a:rPr sz="1250" b="0">
                          <a:solidFill>
                            <a:srgbClr val="14305F"/>
                          </a:solidFill>
                          <a:latin typeface="Segoe UI"/>
                        </a:rPr>
                        <a:t>ROC AUC</a:t>
                      </a:r>
                    </a:p>
                  </a:txBody>
                  <a:tcPr marL="73152" marR="73152" marT="27432" marB="27432" anchor="ctr">
                    <a:solidFill>
                      <a:srgbClr val="F0F6FF"/>
                    </a:solidFill>
                  </a:tcPr>
                </a:tc>
                <a:tc>
                  <a:txBody>
                    <a:bodyPr/>
                    <a:lstStyle/>
                    <a:p>
                      <a:pPr algn="ctr"/>
                      <a:r>
                        <a:rPr sz="1250" b="1">
                          <a:solidFill>
                            <a:srgbClr val="0E9F6E"/>
                          </a:solidFill>
                          <a:latin typeface="Segoe UI"/>
                        </a:rPr>
                        <a:t>0.875</a:t>
                      </a:r>
                    </a:p>
                  </a:txBody>
                  <a:tcPr marL="73152" marR="73152" marT="27432" marB="27432" anchor="ctr">
                    <a:solidFill>
                      <a:srgbClr val="F0F6FF"/>
                    </a:solidFill>
                  </a:tcPr>
                </a:tc>
                <a:tc>
                  <a:txBody>
                    <a:bodyPr/>
                    <a:lstStyle/>
                    <a:p>
                      <a:pPr algn="ctr"/>
                      <a:r>
                        <a:rPr sz="1250" b="0">
                          <a:solidFill>
                            <a:srgbClr val="14305F"/>
                          </a:solidFill>
                          <a:latin typeface="Segoe UI"/>
                        </a:rPr>
                        <a:t>0.862</a:t>
                      </a:r>
                    </a:p>
                  </a:txBody>
                  <a:tcPr marL="73152" marR="73152" marT="27432" marB="27432" anchor="ctr">
                    <a:solidFill>
                      <a:srgbClr val="F0F6FF"/>
                    </a:solidFill>
                  </a:tcPr>
                </a:tc>
                <a:extLst>
                  <a:ext uri="{0D108BD9-81ED-4DB2-BD59-A6C34878D82A}">
                    <a16:rowId xmlns:a16="http://schemas.microsoft.com/office/drawing/2014/main" val="10004"/>
                  </a:ext>
                </a:extLst>
              </a:tr>
              <a:tr h="340000">
                <a:tc>
                  <a:txBody>
                    <a:bodyPr/>
                    <a:lstStyle/>
                    <a:p>
                      <a:pPr algn="l"/>
                      <a:r>
                        <a:rPr sz="1250" b="0">
                          <a:solidFill>
                            <a:srgbClr val="14305F"/>
                          </a:solidFill>
                          <a:latin typeface="Segoe UI"/>
                        </a:rPr>
                        <a:t>False alarms</a:t>
                      </a:r>
                    </a:p>
                  </a:txBody>
                  <a:tcPr marL="73152" marR="73152" marT="27432" marB="27432" anchor="ctr">
                    <a:solidFill>
                      <a:srgbClr val="FFFFFF"/>
                    </a:solidFill>
                  </a:tcPr>
                </a:tc>
                <a:tc>
                  <a:txBody>
                    <a:bodyPr/>
                    <a:lstStyle/>
                    <a:p>
                      <a:pPr algn="ctr"/>
                      <a:r>
                        <a:rPr sz="1250" b="1">
                          <a:solidFill>
                            <a:srgbClr val="EF5B5B"/>
                          </a:solidFill>
                          <a:latin typeface="Segoe UI"/>
                        </a:rPr>
                        <a:t>110</a:t>
                      </a:r>
                    </a:p>
                  </a:txBody>
                  <a:tcPr marL="73152" marR="73152" marT="27432" marB="27432" anchor="ctr">
                    <a:solidFill>
                      <a:srgbClr val="FFFFFF"/>
                    </a:solidFill>
                  </a:tcPr>
                </a:tc>
                <a:tc>
                  <a:txBody>
                    <a:bodyPr/>
                    <a:lstStyle/>
                    <a:p>
                      <a:pPr algn="ctr"/>
                      <a:r>
                        <a:rPr sz="1250" b="0">
                          <a:solidFill>
                            <a:srgbClr val="14305F"/>
                          </a:solidFill>
                          <a:latin typeface="Segoe UI"/>
                        </a:rPr>
                        <a:t>87</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650000" y="4140000"/>
            <a:ext cx="5600000" cy="560000"/>
          </a:xfrm>
          <a:prstGeom prst="rect">
            <a:avLst/>
          </a:prstGeom>
          <a:noFill/>
        </p:spPr>
        <p:txBody>
          <a:bodyPr wrap="square" lIns="45720" tIns="27432" rIns="45720" bIns="27432" anchor="t">
            <a:spAutoFit/>
          </a:bodyPr>
          <a:lstStyle/>
          <a:p>
            <a:pPr algn="l">
              <a:spcAft>
                <a:spcPts val="400"/>
              </a:spcAft>
            </a:pPr>
            <a:r>
              <a:rPr sz="1300" b="1" i="0" dirty="0">
                <a:solidFill>
                  <a:srgbClr val="14305F"/>
                </a:solidFill>
                <a:latin typeface="Segoe UI"/>
              </a:rPr>
              <a:t>Finds 38 more real disasters for 23 more false alarms.</a:t>
            </a:r>
          </a:p>
          <a:p>
            <a:pPr algn="l">
              <a:spcAft>
                <a:spcPts val="400"/>
              </a:spcAft>
            </a:pPr>
            <a:r>
              <a:rPr sz="1200" b="0" i="0" dirty="0">
                <a:solidFill>
                  <a:srgbClr val="5B7194"/>
                </a:solidFill>
                <a:latin typeface="Segoe UI"/>
              </a:rPr>
              <a:t>A missed event usually costs more than a false alert.</a:t>
            </a:r>
          </a:p>
        </p:txBody>
      </p:sp>
      <p:sp>
        <p:nvSpPr>
          <p:cNvPr id="15" name="Rounded Rectangle 14"/>
          <p:cNvSpPr/>
          <p:nvPr/>
        </p:nvSpPr>
        <p:spPr>
          <a:xfrm>
            <a:off x="6583920" y="1508760"/>
            <a:ext cx="5074680" cy="3296504"/>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Perturbation" descr="s15_9.png"/>
          <p:cNvPicPr>
            <a:picLocks noChangeAspect="1"/>
          </p:cNvPicPr>
          <p:nvPr/>
        </p:nvPicPr>
        <p:blipFill>
          <a:blip r:embed="rId4"/>
          <a:stretch>
            <a:fillRect/>
          </a:stretch>
        </p:blipFill>
        <p:spPr>
          <a:xfrm>
            <a:off x="6657072" y="1598760"/>
            <a:ext cx="4928376" cy="2654078"/>
          </a:xfrm>
          <a:prstGeom prst="rect">
            <a:avLst/>
          </a:prstGeom>
        </p:spPr>
      </p:pic>
      <p:sp>
        <p:nvSpPr>
          <p:cNvPr id="17" name="TextBox 16"/>
          <p:cNvSpPr txBox="1"/>
          <p:nvPr/>
        </p:nvSpPr>
        <p:spPr>
          <a:xfrm>
            <a:off x="6730224" y="4402093"/>
            <a:ext cx="4928376" cy="253916"/>
          </a:xfrm>
          <a:prstGeom prst="rect">
            <a:avLst/>
          </a:prstGeom>
          <a:noFill/>
        </p:spPr>
        <p:txBody>
          <a:bodyPr wrap="square">
            <a:spAutoFit/>
          </a:bodyPr>
          <a:lstStyle/>
          <a:p>
            <a:r>
              <a:rPr sz="1050" b="1" i="1" dirty="0">
                <a:solidFill>
                  <a:srgbClr val="5B7194"/>
                </a:solidFill>
                <a:latin typeface="Segoe UI"/>
              </a:rPr>
              <a:t>Noise test: Accuracy falls by at most 0.014, well inside the −0.02 tolerance.</a:t>
            </a:r>
          </a:p>
        </p:txBody>
      </p:sp>
      <p:sp>
        <p:nvSpPr>
          <p:cNvPr id="18" name="Rounded Rectangle 11"/>
          <p:cNvSpPr/>
          <p:nvPr/>
        </p:nvSpPr>
        <p:spPr>
          <a:xfrm>
            <a:off x="495300" y="5133680"/>
            <a:ext cx="3611880" cy="1450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2"/>
          <p:cNvSpPr/>
          <p:nvPr/>
        </p:nvSpPr>
        <p:spPr>
          <a:xfrm>
            <a:off x="513588" y="5261696"/>
            <a:ext cx="64008" cy="1193968"/>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3"/>
          <p:cNvSpPr txBox="1"/>
          <p:nvPr/>
        </p:nvSpPr>
        <p:spPr>
          <a:xfrm>
            <a:off x="678180" y="5223680"/>
            <a:ext cx="3337560" cy="662940"/>
          </a:xfrm>
          <a:prstGeom prst="rect">
            <a:avLst/>
          </a:prstGeom>
          <a:noFill/>
        </p:spPr>
        <p:txBody>
          <a:bodyPr wrap="square" lIns="45720" tIns="27432" rIns="45720" bIns="27432" anchor="b">
            <a:spAutoFit/>
          </a:bodyPr>
          <a:lstStyle/>
          <a:p>
            <a:pPr algn="l"/>
            <a:r>
              <a:rPr sz="3200" b="1" i="0">
                <a:solidFill>
                  <a:srgbClr val="0E9F6E"/>
                </a:solidFill>
                <a:latin typeface="Bahnschrift"/>
              </a:rPr>
              <a:t>Pass</a:t>
            </a:r>
          </a:p>
        </p:txBody>
      </p:sp>
      <p:sp>
        <p:nvSpPr>
          <p:cNvPr id="21" name="TextBox 14"/>
          <p:cNvSpPr txBox="1"/>
          <p:nvPr/>
        </p:nvSpPr>
        <p:spPr>
          <a:xfrm>
            <a:off x="678180" y="5923680"/>
            <a:ext cx="3337560" cy="609904"/>
          </a:xfrm>
          <a:prstGeom prst="rect">
            <a:avLst/>
          </a:prstGeom>
          <a:noFill/>
        </p:spPr>
        <p:txBody>
          <a:bodyPr wrap="square" lIns="45720" tIns="27432" rIns="45720" bIns="27432" anchor="t">
            <a:spAutoFit/>
          </a:bodyPr>
          <a:lstStyle/>
          <a:p>
            <a:pPr algn="l"/>
            <a:r>
              <a:rPr sz="1200" b="1" i="0">
                <a:solidFill>
                  <a:srgbClr val="14305F"/>
                </a:solidFill>
                <a:latin typeface="Segoe UI"/>
              </a:rPr>
              <a:t>Selection vs test gap</a:t>
            </a:r>
          </a:p>
          <a:p>
            <a:pPr algn="l"/>
            <a:r>
              <a:rPr sz="1050" b="0" i="0">
                <a:solidFill>
                  <a:srgbClr val="5B7194"/>
                </a:solidFill>
                <a:latin typeface="Segoe UI"/>
              </a:rPr>
              <a:t>Every finalist within 0.01</a:t>
            </a:r>
          </a:p>
        </p:txBody>
      </p:sp>
      <p:sp>
        <p:nvSpPr>
          <p:cNvPr id="22" name="Rounded Rectangle 15"/>
          <p:cNvSpPr/>
          <p:nvPr/>
        </p:nvSpPr>
        <p:spPr>
          <a:xfrm>
            <a:off x="4290060" y="5133680"/>
            <a:ext cx="3611880" cy="1450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16"/>
          <p:cNvSpPr/>
          <p:nvPr/>
        </p:nvSpPr>
        <p:spPr>
          <a:xfrm>
            <a:off x="4308348" y="5261696"/>
            <a:ext cx="64008" cy="119396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7"/>
          <p:cNvSpPr txBox="1"/>
          <p:nvPr/>
        </p:nvSpPr>
        <p:spPr>
          <a:xfrm>
            <a:off x="4472940" y="5223680"/>
            <a:ext cx="3337560" cy="662940"/>
          </a:xfrm>
          <a:prstGeom prst="rect">
            <a:avLst/>
          </a:prstGeom>
          <a:noFill/>
        </p:spPr>
        <p:txBody>
          <a:bodyPr wrap="square" lIns="45720" tIns="27432" rIns="45720" bIns="27432" anchor="b">
            <a:spAutoFit/>
          </a:bodyPr>
          <a:lstStyle/>
          <a:p>
            <a:pPr algn="l"/>
            <a:r>
              <a:rPr sz="3200" b="1" i="0">
                <a:solidFill>
                  <a:srgbClr val="F5A623"/>
                </a:solidFill>
                <a:latin typeface="Bahnschrift"/>
              </a:rPr>
              <a:t>Near-tie</a:t>
            </a:r>
          </a:p>
        </p:txBody>
      </p:sp>
      <p:sp>
        <p:nvSpPr>
          <p:cNvPr id="25" name="TextBox 18"/>
          <p:cNvSpPr txBox="1"/>
          <p:nvPr/>
        </p:nvSpPr>
        <p:spPr>
          <a:xfrm>
            <a:off x="4472940" y="5923680"/>
            <a:ext cx="3337560" cy="609904"/>
          </a:xfrm>
          <a:prstGeom prst="rect">
            <a:avLst/>
          </a:prstGeom>
          <a:noFill/>
        </p:spPr>
        <p:txBody>
          <a:bodyPr wrap="square" lIns="45720" tIns="27432" rIns="45720" bIns="27432" anchor="t">
            <a:spAutoFit/>
          </a:bodyPr>
          <a:lstStyle/>
          <a:p>
            <a:pPr algn="l"/>
            <a:r>
              <a:rPr sz="1200" b="1" i="0">
                <a:solidFill>
                  <a:srgbClr val="14305F"/>
                </a:solidFill>
                <a:latin typeface="Segoe UI"/>
              </a:rPr>
              <a:t>Lead over Logistic Regression</a:t>
            </a:r>
          </a:p>
          <a:p>
            <a:pPr algn="l"/>
            <a:r>
              <a:rPr sz="1050" b="0" i="0">
                <a:solidFill>
                  <a:srgbClr val="5B7194"/>
                </a:solidFill>
                <a:latin typeface="Segoe UI"/>
              </a:rPr>
              <a:t>95% interval [−0.005, +0.026]</a:t>
            </a:r>
          </a:p>
        </p:txBody>
      </p:sp>
      <p:sp>
        <p:nvSpPr>
          <p:cNvPr id="26" name="Rounded Rectangle 19"/>
          <p:cNvSpPr/>
          <p:nvPr/>
        </p:nvSpPr>
        <p:spPr>
          <a:xfrm>
            <a:off x="8084820" y="5133680"/>
            <a:ext cx="3566160" cy="1450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0"/>
          <p:cNvSpPr/>
          <p:nvPr/>
        </p:nvSpPr>
        <p:spPr>
          <a:xfrm>
            <a:off x="8103107" y="5261696"/>
            <a:ext cx="64008" cy="1193968"/>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1"/>
          <p:cNvSpPr txBox="1"/>
          <p:nvPr/>
        </p:nvSpPr>
        <p:spPr>
          <a:xfrm>
            <a:off x="8267699" y="5223680"/>
            <a:ext cx="3291840" cy="662940"/>
          </a:xfrm>
          <a:prstGeom prst="rect">
            <a:avLst/>
          </a:prstGeom>
          <a:noFill/>
        </p:spPr>
        <p:txBody>
          <a:bodyPr wrap="square" lIns="45720" tIns="27432" rIns="45720" bIns="27432" anchor="b">
            <a:spAutoFit/>
          </a:bodyPr>
          <a:lstStyle/>
          <a:p>
            <a:pPr algn="l"/>
            <a:r>
              <a:rPr sz="3200" b="1" i="0">
                <a:solidFill>
                  <a:srgbClr val="0E9F6E"/>
                </a:solidFill>
                <a:latin typeface="Bahnschrift"/>
              </a:rPr>
              <a:t>Pass</a:t>
            </a:r>
          </a:p>
        </p:txBody>
      </p:sp>
      <p:sp>
        <p:nvSpPr>
          <p:cNvPr id="29" name="TextBox 22"/>
          <p:cNvSpPr txBox="1"/>
          <p:nvPr/>
        </p:nvSpPr>
        <p:spPr>
          <a:xfrm>
            <a:off x="8267699" y="5923680"/>
            <a:ext cx="3291840" cy="609904"/>
          </a:xfrm>
          <a:prstGeom prst="rect">
            <a:avLst/>
          </a:prstGeom>
          <a:noFill/>
        </p:spPr>
        <p:txBody>
          <a:bodyPr wrap="square" lIns="45720" tIns="27432" rIns="45720" bIns="27432" anchor="t">
            <a:spAutoFit/>
          </a:bodyPr>
          <a:lstStyle/>
          <a:p>
            <a:pPr algn="l"/>
            <a:r>
              <a:rPr sz="1200" b="1" i="0">
                <a:solidFill>
                  <a:srgbClr val="14305F"/>
                </a:solidFill>
                <a:latin typeface="Segoe UI"/>
              </a:rPr>
              <a:t>Robustness to noisy text</a:t>
            </a:r>
          </a:p>
          <a:p>
            <a:pPr algn="l"/>
            <a:r>
              <a:rPr sz="1050" b="0" i="0">
                <a:solidFill>
                  <a:srgbClr val="5B7194"/>
                </a:solidFill>
                <a:latin typeface="Segoe UI"/>
              </a:rPr>
              <a:t>Worst drop only 0.014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615"/>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Deployment Readiness</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502920" y="1508760"/>
            <a:ext cx="3566160" cy="123444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1208" y="1636776"/>
            <a:ext cx="64008" cy="9784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554480"/>
            <a:ext cx="3291840" cy="617220"/>
          </a:xfrm>
          <a:prstGeom prst="rect">
            <a:avLst/>
          </a:prstGeom>
          <a:noFill/>
        </p:spPr>
        <p:txBody>
          <a:bodyPr wrap="square" lIns="45720" tIns="27432" rIns="45720" bIns="27432" anchor="b">
            <a:spAutoFit/>
          </a:bodyPr>
          <a:lstStyle/>
          <a:p>
            <a:pPr algn="l"/>
            <a:r>
              <a:rPr sz="3400" b="1" i="0">
                <a:solidFill>
                  <a:srgbClr val="F5A623"/>
                </a:solidFill>
                <a:latin typeface="Bahnschrift"/>
              </a:rPr>
              <a:t>1.1%</a:t>
            </a:r>
          </a:p>
        </p:txBody>
      </p:sp>
      <p:sp>
        <p:nvSpPr>
          <p:cNvPr id="11" name="TextBox 10"/>
          <p:cNvSpPr txBox="1"/>
          <p:nvPr/>
        </p:nvSpPr>
        <p:spPr>
          <a:xfrm>
            <a:off x="685800" y="2150668"/>
            <a:ext cx="3291840" cy="567842"/>
          </a:xfrm>
          <a:prstGeom prst="rect">
            <a:avLst/>
          </a:prstGeom>
          <a:noFill/>
        </p:spPr>
        <p:txBody>
          <a:bodyPr wrap="square" lIns="45720" tIns="27432" rIns="45720" bIns="27432" anchor="t">
            <a:spAutoFit/>
          </a:bodyPr>
          <a:lstStyle/>
          <a:p>
            <a:pPr algn="l"/>
            <a:r>
              <a:rPr sz="1200" b="1" i="0">
                <a:solidFill>
                  <a:srgbClr val="14305F"/>
                </a:solidFill>
                <a:latin typeface="Segoe UI"/>
              </a:rPr>
              <a:t>Tweets in the "Not sure" band</a:t>
            </a:r>
          </a:p>
          <a:p>
            <a:pPr algn="l"/>
            <a:r>
              <a:rPr sz="1050" b="0" i="0">
                <a:solidFill>
                  <a:srgbClr val="5B7194"/>
                </a:solidFill>
                <a:latin typeface="Segoe UI"/>
              </a:rPr>
              <a:t>17 of 1,498 score 45–55%</a:t>
            </a:r>
          </a:p>
        </p:txBody>
      </p:sp>
      <p:sp>
        <p:nvSpPr>
          <p:cNvPr id="12" name="Rounded Rectangle 11"/>
          <p:cNvSpPr/>
          <p:nvPr/>
        </p:nvSpPr>
        <p:spPr>
          <a:xfrm>
            <a:off x="502920" y="2880360"/>
            <a:ext cx="1691640" cy="13258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1208" y="3008376"/>
            <a:ext cx="64008" cy="1069848"/>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2926079"/>
            <a:ext cx="1417320" cy="662940"/>
          </a:xfrm>
          <a:prstGeom prst="rect">
            <a:avLst/>
          </a:prstGeom>
          <a:noFill/>
        </p:spPr>
        <p:txBody>
          <a:bodyPr wrap="square" lIns="45720" tIns="27432" rIns="45720" bIns="27432" anchor="b">
            <a:spAutoFit/>
          </a:bodyPr>
          <a:lstStyle/>
          <a:p>
            <a:pPr algn="l"/>
            <a:r>
              <a:rPr sz="2800" b="1" i="0">
                <a:solidFill>
                  <a:srgbClr val="EF5B5B"/>
                </a:solidFill>
                <a:latin typeface="Bahnschrift"/>
              </a:rPr>
              <a:t>0.41</a:t>
            </a:r>
          </a:p>
        </p:txBody>
      </p:sp>
      <p:sp>
        <p:nvSpPr>
          <p:cNvPr id="15" name="TextBox 14"/>
          <p:cNvSpPr txBox="1"/>
          <p:nvPr/>
        </p:nvSpPr>
        <p:spPr>
          <a:xfrm>
            <a:off x="685800" y="3569817"/>
            <a:ext cx="1417320" cy="609904"/>
          </a:xfrm>
          <a:prstGeom prst="rect">
            <a:avLst/>
          </a:prstGeom>
          <a:noFill/>
        </p:spPr>
        <p:txBody>
          <a:bodyPr wrap="square" lIns="45720" tIns="27432" rIns="45720" bIns="27432" anchor="t">
            <a:spAutoFit/>
          </a:bodyPr>
          <a:lstStyle/>
          <a:p>
            <a:pPr algn="l"/>
            <a:r>
              <a:rPr sz="1200" b="1" i="0">
                <a:solidFill>
                  <a:srgbClr val="14305F"/>
                </a:solidFill>
                <a:latin typeface="Segoe UI"/>
              </a:rPr>
              <a:t>Accuracy inside</a:t>
            </a:r>
          </a:p>
        </p:txBody>
      </p:sp>
      <p:sp>
        <p:nvSpPr>
          <p:cNvPr id="16" name="Rounded Rectangle 15"/>
          <p:cNvSpPr/>
          <p:nvPr/>
        </p:nvSpPr>
        <p:spPr>
          <a:xfrm>
            <a:off x="2377440" y="2880360"/>
            <a:ext cx="1691640" cy="13258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395728" y="3008376"/>
            <a:ext cx="64008" cy="1069848"/>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60320" y="2926079"/>
            <a:ext cx="1417320" cy="662940"/>
          </a:xfrm>
          <a:prstGeom prst="rect">
            <a:avLst/>
          </a:prstGeom>
          <a:noFill/>
        </p:spPr>
        <p:txBody>
          <a:bodyPr wrap="square" lIns="45720" tIns="27432" rIns="45720" bIns="27432" anchor="b">
            <a:spAutoFit/>
          </a:bodyPr>
          <a:lstStyle/>
          <a:p>
            <a:pPr algn="l"/>
            <a:r>
              <a:rPr sz="2800" b="1" i="0">
                <a:solidFill>
                  <a:srgbClr val="0E9F6E"/>
                </a:solidFill>
                <a:latin typeface="Bahnschrift"/>
              </a:rPr>
              <a:t>0.82</a:t>
            </a:r>
          </a:p>
        </p:txBody>
      </p:sp>
      <p:sp>
        <p:nvSpPr>
          <p:cNvPr id="19" name="TextBox 18"/>
          <p:cNvSpPr txBox="1"/>
          <p:nvPr/>
        </p:nvSpPr>
        <p:spPr>
          <a:xfrm>
            <a:off x="2560320" y="3569817"/>
            <a:ext cx="1417320" cy="609904"/>
          </a:xfrm>
          <a:prstGeom prst="rect">
            <a:avLst/>
          </a:prstGeom>
          <a:noFill/>
        </p:spPr>
        <p:txBody>
          <a:bodyPr wrap="square" lIns="45720" tIns="27432" rIns="45720" bIns="27432" anchor="t">
            <a:spAutoFit/>
          </a:bodyPr>
          <a:lstStyle/>
          <a:p>
            <a:pPr algn="l"/>
            <a:r>
              <a:rPr sz="1200" b="1" i="0">
                <a:solidFill>
                  <a:srgbClr val="14305F"/>
                </a:solidFill>
                <a:latin typeface="Segoe UI"/>
              </a:rPr>
              <a:t>Accuracy outside</a:t>
            </a:r>
          </a:p>
        </p:txBody>
      </p:sp>
      <p:sp>
        <p:nvSpPr>
          <p:cNvPr id="20" name="Rounded Rectangle 19"/>
          <p:cNvSpPr/>
          <p:nvPr/>
        </p:nvSpPr>
        <p:spPr>
          <a:xfrm>
            <a:off x="502920" y="4389120"/>
            <a:ext cx="3566160" cy="192024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21208" y="4517136"/>
            <a:ext cx="64008" cy="16642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4088" y="4462272"/>
            <a:ext cx="3246120" cy="1773936"/>
          </a:xfrm>
          <a:prstGeom prst="rect">
            <a:avLst/>
          </a:prstGeom>
          <a:noFill/>
        </p:spPr>
        <p:txBody>
          <a:bodyPr wrap="square" lIns="45720" tIns="27432" rIns="45720" bIns="27432" anchor="ctr">
            <a:spAutoFit/>
          </a:bodyPr>
          <a:lstStyle/>
          <a:p>
            <a:pPr algn="l">
              <a:spcAft>
                <a:spcPts val="300"/>
              </a:spcAft>
            </a:pPr>
            <a:r>
              <a:rPr sz="1400" b="1" i="0">
                <a:solidFill>
                  <a:srgbClr val="F5A623"/>
                </a:solidFill>
                <a:latin typeface="Bahnschrift"/>
              </a:rPr>
              <a:t>Why "Not sure"</a:t>
            </a:r>
          </a:p>
          <a:p>
            <a:pPr algn="l">
              <a:spcAft>
                <a:spcPts val="300"/>
              </a:spcAft>
            </a:pPr>
            <a:r>
              <a:rPr sz="1200" b="0" i="0">
                <a:solidFill>
                  <a:srgbClr val="14305F"/>
                </a:solidFill>
                <a:latin typeface="Segoe UI"/>
              </a:rPr>
              <a:t>Inside the band the model is close to guessing, so the dashboard says so instead of forcing a yes or no.</a:t>
            </a:r>
          </a:p>
        </p:txBody>
      </p:sp>
      <p:sp>
        <p:nvSpPr>
          <p:cNvPr id="23" name="TextBox 22"/>
          <p:cNvSpPr txBox="1"/>
          <p:nvPr/>
        </p:nvSpPr>
        <p:spPr>
          <a:xfrm>
            <a:off x="4343400" y="1508760"/>
            <a:ext cx="7315200" cy="365760"/>
          </a:xfrm>
          <a:prstGeom prst="rect">
            <a:avLst/>
          </a:prstGeom>
          <a:noFill/>
        </p:spPr>
        <p:txBody>
          <a:bodyPr wrap="square" lIns="45720" tIns="27432" rIns="45720" bIns="27432" anchor="t">
            <a:spAutoFit/>
          </a:bodyPr>
          <a:lstStyle/>
          <a:p>
            <a:pPr algn="l"/>
            <a:r>
              <a:rPr sz="1600" b="1" i="0">
                <a:solidFill>
                  <a:srgbClr val="14305F"/>
                </a:solidFill>
                <a:latin typeface="Bahnschrift"/>
              </a:rPr>
              <a:t>Stress test: five hand-written sentences</a:t>
            </a:r>
          </a:p>
        </p:txBody>
      </p:sp>
      <p:graphicFrame>
        <p:nvGraphicFramePr>
          <p:cNvPr id="24" name="Table 23"/>
          <p:cNvGraphicFramePr>
            <a:graphicFrameLocks noGrp="1"/>
          </p:cNvGraphicFramePr>
          <p:nvPr/>
        </p:nvGraphicFramePr>
        <p:xfrm>
          <a:off x="4343400" y="1874519"/>
          <a:ext cx="7315200" cy="3017520"/>
        </p:xfrm>
        <a:graphic>
          <a:graphicData uri="http://schemas.openxmlformats.org/drawingml/2006/table">
            <a:tbl>
              <a:tblPr>
                <a:tableStyleId>{5940675A-B579-460E-94D1-54222C63F5DA}</a:tableStyleId>
              </a:tblPr>
              <a:tblGrid>
                <a:gridCol w="4297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02920">
                <a:tc>
                  <a:txBody>
                    <a:bodyPr/>
                    <a:lstStyle/>
                    <a:p>
                      <a:pPr algn="l"/>
                      <a:r>
                        <a:rPr sz="1150" b="1" dirty="0">
                          <a:solidFill>
                            <a:srgbClr val="FFFFFF"/>
                          </a:solidFill>
                          <a:latin typeface="Segoe UI"/>
                        </a:rPr>
                        <a:t>Sentence</a:t>
                      </a:r>
                    </a:p>
                  </a:txBody>
                  <a:tcPr marL="73152" marR="73152" marT="27432" marB="27432" anchor="ctr">
                    <a:solidFill>
                      <a:srgbClr val="1F6FDC"/>
                    </a:solidFill>
                  </a:tcPr>
                </a:tc>
                <a:tc>
                  <a:txBody>
                    <a:bodyPr/>
                    <a:lstStyle/>
                    <a:p>
                      <a:pPr algn="ctr"/>
                      <a:r>
                        <a:rPr sz="1150" b="1">
                          <a:solidFill>
                            <a:srgbClr val="FFFFFF"/>
                          </a:solidFill>
                          <a:latin typeface="Segoe UI"/>
                        </a:rPr>
                        <a:t>Disaster chance</a:t>
                      </a:r>
                    </a:p>
                  </a:txBody>
                  <a:tcPr marL="73152" marR="73152" marT="27432" marB="27432" anchor="ctr">
                    <a:solidFill>
                      <a:srgbClr val="1F6FDC"/>
                    </a:solidFill>
                  </a:tcPr>
                </a:tc>
                <a:tc>
                  <a:txBody>
                    <a:bodyPr/>
                    <a:lstStyle/>
                    <a:p>
                      <a:pPr algn="ctr"/>
                      <a:r>
                        <a:rPr sz="1150" b="1">
                          <a:solidFill>
                            <a:srgbClr val="FFFFFF"/>
                          </a:solidFill>
                          <a:latin typeface="Segoe UI"/>
                        </a:rPr>
                        <a:t>Answer</a:t>
                      </a:r>
                    </a:p>
                  </a:txBody>
                  <a:tcPr marL="73152" marR="73152" marT="27432" marB="27432" anchor="ctr">
                    <a:solidFill>
                      <a:srgbClr val="1F6FDC"/>
                    </a:solidFill>
                  </a:tcPr>
                </a:tc>
                <a:extLst>
                  <a:ext uri="{0D108BD9-81ED-4DB2-BD59-A6C34878D82A}">
                    <a16:rowId xmlns:a16="http://schemas.microsoft.com/office/drawing/2014/main" val="10000"/>
                  </a:ext>
                </a:extLst>
              </a:tr>
              <a:tr h="502920">
                <a:tc>
                  <a:txBody>
                    <a:bodyPr/>
                    <a:lstStyle/>
                    <a:p>
                      <a:pPr algn="l"/>
                      <a:r>
                        <a:rPr sz="1150" b="0">
                          <a:solidFill>
                            <a:srgbClr val="14305F"/>
                          </a:solidFill>
                          <a:latin typeface="Segoe UI"/>
                        </a:rPr>
                        <a:t>The students dance performance rocked the atmosphere</a:t>
                      </a:r>
                    </a:p>
                  </a:txBody>
                  <a:tcPr marL="73152" marR="73152" marT="27432" marB="27432" anchor="ctr">
                    <a:solidFill>
                      <a:srgbClr val="FFFFFF"/>
                    </a:solidFill>
                  </a:tcPr>
                </a:tc>
                <a:tc>
                  <a:txBody>
                    <a:bodyPr/>
                    <a:lstStyle/>
                    <a:p>
                      <a:pPr algn="ctr"/>
                      <a:r>
                        <a:rPr sz="1150" b="1">
                          <a:solidFill>
                            <a:srgbClr val="0E9F6E"/>
                          </a:solidFill>
                          <a:latin typeface="Segoe UI"/>
                        </a:rPr>
                        <a:t>4%</a:t>
                      </a:r>
                    </a:p>
                  </a:txBody>
                  <a:tcPr marL="73152" marR="73152" marT="27432" marB="27432" anchor="ctr">
                    <a:solidFill>
                      <a:srgbClr val="FFFFFF"/>
                    </a:solidFill>
                  </a:tcPr>
                </a:tc>
                <a:tc>
                  <a:txBody>
                    <a:bodyPr/>
                    <a:lstStyle/>
                    <a:p>
                      <a:pPr algn="ctr"/>
                      <a:r>
                        <a:rPr sz="1150" b="0">
                          <a:solidFill>
                            <a:srgbClr val="14305F"/>
                          </a:solidFill>
                          <a:latin typeface="Segoe UI"/>
                        </a:rPr>
                        <a:t>Not a disaster</a:t>
                      </a:r>
                    </a:p>
                  </a:txBody>
                  <a:tcPr marL="73152" marR="73152" marT="27432" marB="27432" anchor="ctr">
                    <a:solidFill>
                      <a:srgbClr val="FFFFFF"/>
                    </a:solidFill>
                  </a:tcPr>
                </a:tc>
                <a:extLst>
                  <a:ext uri="{0D108BD9-81ED-4DB2-BD59-A6C34878D82A}">
                    <a16:rowId xmlns:a16="http://schemas.microsoft.com/office/drawing/2014/main" val="10001"/>
                  </a:ext>
                </a:extLst>
              </a:tr>
              <a:tr h="502920">
                <a:tc>
                  <a:txBody>
                    <a:bodyPr/>
                    <a:lstStyle/>
                    <a:p>
                      <a:pPr algn="l"/>
                      <a:r>
                        <a:rPr sz="1150" b="0" dirty="0">
                          <a:solidFill>
                            <a:srgbClr val="14305F"/>
                          </a:solidFill>
                          <a:latin typeface="Segoe UI"/>
                        </a:rPr>
                        <a:t>The mob flood the residency gates for the protest</a:t>
                      </a:r>
                    </a:p>
                  </a:txBody>
                  <a:tcPr marL="73152" marR="73152" marT="27432" marB="27432" anchor="ctr">
                    <a:solidFill>
                      <a:srgbClr val="F0F6FF"/>
                    </a:solidFill>
                  </a:tcPr>
                </a:tc>
                <a:tc>
                  <a:txBody>
                    <a:bodyPr/>
                    <a:lstStyle/>
                    <a:p>
                      <a:pPr algn="ctr"/>
                      <a:r>
                        <a:rPr sz="1150" b="1">
                          <a:solidFill>
                            <a:srgbClr val="EF5B5B"/>
                          </a:solidFill>
                          <a:latin typeface="Segoe UI"/>
                        </a:rPr>
                        <a:t>99%</a:t>
                      </a:r>
                    </a:p>
                  </a:txBody>
                  <a:tcPr marL="73152" marR="73152" marT="27432" marB="27432" anchor="ctr">
                    <a:solidFill>
                      <a:srgbClr val="F0F6FF"/>
                    </a:solidFill>
                  </a:tcPr>
                </a:tc>
                <a:tc>
                  <a:txBody>
                    <a:bodyPr/>
                    <a:lstStyle/>
                    <a:p>
                      <a:pPr algn="ctr"/>
                      <a:r>
                        <a:rPr sz="1150" b="0">
                          <a:solidFill>
                            <a:srgbClr val="14305F"/>
                          </a:solidFill>
                          <a:latin typeface="Segoe UI"/>
                        </a:rPr>
                        <a:t>Disaster (wrong)</a:t>
                      </a:r>
                    </a:p>
                  </a:txBody>
                  <a:tcPr marL="73152" marR="73152" marT="27432" marB="27432" anchor="ctr">
                    <a:solidFill>
                      <a:srgbClr val="F0F6FF"/>
                    </a:solidFill>
                  </a:tcPr>
                </a:tc>
                <a:extLst>
                  <a:ext uri="{0D108BD9-81ED-4DB2-BD59-A6C34878D82A}">
                    <a16:rowId xmlns:a16="http://schemas.microsoft.com/office/drawing/2014/main" val="10002"/>
                  </a:ext>
                </a:extLst>
              </a:tr>
              <a:tr h="502920">
                <a:tc>
                  <a:txBody>
                    <a:bodyPr/>
                    <a:lstStyle/>
                    <a:p>
                      <a:pPr algn="l"/>
                      <a:r>
                        <a:rPr sz="1150" b="0">
                          <a:solidFill>
                            <a:srgbClr val="14305F"/>
                          </a:solidFill>
                          <a:latin typeface="Segoe UI"/>
                        </a:rPr>
                        <a:t>She danced like a fire</a:t>
                      </a:r>
                    </a:p>
                  </a:txBody>
                  <a:tcPr marL="73152" marR="73152" marT="27432" marB="27432" anchor="ctr">
                    <a:solidFill>
                      <a:srgbClr val="FFFFFF"/>
                    </a:solidFill>
                  </a:tcPr>
                </a:tc>
                <a:tc>
                  <a:txBody>
                    <a:bodyPr/>
                    <a:lstStyle/>
                    <a:p>
                      <a:pPr algn="ctr"/>
                      <a:r>
                        <a:rPr sz="1150" b="1">
                          <a:solidFill>
                            <a:srgbClr val="0E9F6E"/>
                          </a:solidFill>
                          <a:latin typeface="Segoe UI"/>
                        </a:rPr>
                        <a:t>18%</a:t>
                      </a:r>
                    </a:p>
                  </a:txBody>
                  <a:tcPr marL="73152" marR="73152" marT="27432" marB="27432" anchor="ctr">
                    <a:solidFill>
                      <a:srgbClr val="FFFFFF"/>
                    </a:solidFill>
                  </a:tcPr>
                </a:tc>
                <a:tc>
                  <a:txBody>
                    <a:bodyPr/>
                    <a:lstStyle/>
                    <a:p>
                      <a:pPr algn="ctr"/>
                      <a:r>
                        <a:rPr sz="1150" b="0">
                          <a:solidFill>
                            <a:srgbClr val="14305F"/>
                          </a:solidFill>
                          <a:latin typeface="Segoe UI"/>
                        </a:rPr>
                        <a:t>Not a disaster</a:t>
                      </a:r>
                    </a:p>
                  </a:txBody>
                  <a:tcPr marL="73152" marR="73152" marT="27432" marB="27432" anchor="ctr">
                    <a:solidFill>
                      <a:srgbClr val="FFFFFF"/>
                    </a:solidFill>
                  </a:tcPr>
                </a:tc>
                <a:extLst>
                  <a:ext uri="{0D108BD9-81ED-4DB2-BD59-A6C34878D82A}">
                    <a16:rowId xmlns:a16="http://schemas.microsoft.com/office/drawing/2014/main" val="10003"/>
                  </a:ext>
                </a:extLst>
              </a:tr>
              <a:tr h="502920">
                <a:tc>
                  <a:txBody>
                    <a:bodyPr/>
                    <a:lstStyle/>
                    <a:p>
                      <a:pPr algn="l"/>
                      <a:r>
                        <a:rPr sz="1150" b="0">
                          <a:solidFill>
                            <a:srgbClr val="14305F"/>
                          </a:solidFill>
                          <a:latin typeface="Segoe UI"/>
                        </a:rPr>
                        <a:t>Wildfire spreading fast near the highway, evacuations ordered</a:t>
                      </a:r>
                    </a:p>
                  </a:txBody>
                  <a:tcPr marL="73152" marR="73152" marT="27432" marB="27432" anchor="ctr">
                    <a:solidFill>
                      <a:srgbClr val="F0F6FF"/>
                    </a:solidFill>
                  </a:tcPr>
                </a:tc>
                <a:tc>
                  <a:txBody>
                    <a:bodyPr/>
                    <a:lstStyle/>
                    <a:p>
                      <a:pPr algn="ctr"/>
                      <a:r>
                        <a:rPr sz="1150" b="1">
                          <a:solidFill>
                            <a:srgbClr val="0E9F6E"/>
                          </a:solidFill>
                          <a:latin typeface="Segoe UI"/>
                        </a:rPr>
                        <a:t>99%</a:t>
                      </a:r>
                    </a:p>
                  </a:txBody>
                  <a:tcPr marL="73152" marR="73152" marT="27432" marB="27432" anchor="ctr">
                    <a:solidFill>
                      <a:srgbClr val="F0F6FF"/>
                    </a:solidFill>
                  </a:tcPr>
                </a:tc>
                <a:tc>
                  <a:txBody>
                    <a:bodyPr/>
                    <a:lstStyle/>
                    <a:p>
                      <a:pPr algn="ctr"/>
                      <a:r>
                        <a:rPr sz="1150" b="0">
                          <a:solidFill>
                            <a:srgbClr val="14305F"/>
                          </a:solidFill>
                          <a:latin typeface="Segoe UI"/>
                        </a:rPr>
                        <a:t>Disaster</a:t>
                      </a:r>
                    </a:p>
                  </a:txBody>
                  <a:tcPr marL="73152" marR="73152" marT="27432" marB="27432" anchor="ctr">
                    <a:solidFill>
                      <a:srgbClr val="F0F6FF"/>
                    </a:solidFill>
                  </a:tcPr>
                </a:tc>
                <a:extLst>
                  <a:ext uri="{0D108BD9-81ED-4DB2-BD59-A6C34878D82A}">
                    <a16:rowId xmlns:a16="http://schemas.microsoft.com/office/drawing/2014/main" val="10004"/>
                  </a:ext>
                </a:extLst>
              </a:tr>
              <a:tr h="502920">
                <a:tc>
                  <a:txBody>
                    <a:bodyPr/>
                    <a:lstStyle/>
                    <a:p>
                      <a:pPr algn="l"/>
                      <a:r>
                        <a:rPr sz="1150" b="0">
                          <a:solidFill>
                            <a:srgbClr val="14305F"/>
                          </a:solidFill>
                          <a:latin typeface="Segoe UI"/>
                        </a:rPr>
                        <a:t>FATALITY!</a:t>
                      </a:r>
                    </a:p>
                  </a:txBody>
                  <a:tcPr marL="73152" marR="73152" marT="27432" marB="27432" anchor="ctr">
                    <a:solidFill>
                      <a:srgbClr val="FFFFFF"/>
                    </a:solidFill>
                  </a:tcPr>
                </a:tc>
                <a:tc>
                  <a:txBody>
                    <a:bodyPr/>
                    <a:lstStyle/>
                    <a:p>
                      <a:pPr algn="ctr"/>
                      <a:r>
                        <a:rPr sz="1150" b="1">
                          <a:solidFill>
                            <a:srgbClr val="F5A623"/>
                          </a:solidFill>
                          <a:latin typeface="Segoe UI"/>
                        </a:rPr>
                        <a:t>54%</a:t>
                      </a:r>
                    </a:p>
                  </a:txBody>
                  <a:tcPr marL="73152" marR="73152" marT="27432" marB="27432" anchor="ctr">
                    <a:solidFill>
                      <a:srgbClr val="FFFFFF"/>
                    </a:solidFill>
                  </a:tcPr>
                </a:tc>
                <a:tc>
                  <a:txBody>
                    <a:bodyPr/>
                    <a:lstStyle/>
                    <a:p>
                      <a:pPr algn="ctr"/>
                      <a:r>
                        <a:rPr sz="1150" b="0" dirty="0">
                          <a:solidFill>
                            <a:srgbClr val="14305F"/>
                          </a:solidFill>
                          <a:latin typeface="Segoe UI"/>
                        </a:rPr>
                        <a:t>Inside the "Not sure" band</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25" name="Rounded Rectangle 24"/>
          <p:cNvSpPr/>
          <p:nvPr/>
        </p:nvSpPr>
        <p:spPr>
          <a:xfrm>
            <a:off x="4343400" y="5029200"/>
            <a:ext cx="7315200" cy="128016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61688" y="5157216"/>
            <a:ext cx="64008" cy="1024127"/>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44568" y="5102352"/>
            <a:ext cx="6995160" cy="1133856"/>
          </a:xfrm>
          <a:prstGeom prst="rect">
            <a:avLst/>
          </a:prstGeom>
          <a:noFill/>
        </p:spPr>
        <p:txBody>
          <a:bodyPr wrap="square" lIns="45720" tIns="27432" rIns="45720" bIns="27432" anchor="ctr">
            <a:spAutoFit/>
          </a:bodyPr>
          <a:lstStyle/>
          <a:p>
            <a:pPr algn="l">
              <a:spcAft>
                <a:spcPts val="300"/>
              </a:spcAft>
            </a:pPr>
            <a:r>
              <a:rPr sz="1400" b="1" i="0">
                <a:solidFill>
                  <a:srgbClr val="EF5B5B"/>
                </a:solidFill>
                <a:latin typeface="Bahnschrift"/>
              </a:rPr>
              <a:t>Known limitation</a:t>
            </a:r>
          </a:p>
          <a:p>
            <a:pPr algn="l">
              <a:spcAft>
                <a:spcPts val="300"/>
              </a:spcAft>
            </a:pPr>
            <a:r>
              <a:rPr sz="1200" b="0" i="0">
                <a:solidFill>
                  <a:srgbClr val="14305F"/>
                </a:solidFill>
                <a:latin typeface="Segoe UI"/>
              </a:rPr>
              <a:t>In the training tweets "fire" and "flood" mostly mean real events, so figures of speech can fool the model. A retrain on lightly cleaned text did not fix 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429"/>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The Dashboard</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502920" y="1508760"/>
            <a:ext cx="7589520" cy="40690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dash_full.png"/>
          <p:cNvPicPr>
            <a:picLocks noChangeAspect="1"/>
          </p:cNvPicPr>
          <p:nvPr/>
        </p:nvPicPr>
        <p:blipFill>
          <a:blip r:embed="rId4"/>
          <a:stretch>
            <a:fillRect/>
          </a:stretch>
        </p:blipFill>
        <p:spPr>
          <a:xfrm>
            <a:off x="576072" y="1662258"/>
            <a:ext cx="7443216" cy="3762083"/>
          </a:xfrm>
          <a:prstGeom prst="rect">
            <a:avLst/>
          </a:prstGeom>
        </p:spPr>
      </p:pic>
      <p:sp>
        <p:nvSpPr>
          <p:cNvPr id="10" name="TextBox 9"/>
          <p:cNvSpPr txBox="1"/>
          <p:nvPr/>
        </p:nvSpPr>
        <p:spPr>
          <a:xfrm>
            <a:off x="502920" y="5669280"/>
            <a:ext cx="7589520" cy="681212"/>
          </a:xfrm>
          <a:prstGeom prst="rect">
            <a:avLst/>
          </a:prstGeom>
          <a:noFill/>
        </p:spPr>
        <p:txBody>
          <a:bodyPr wrap="square" lIns="45720" tIns="27432" rIns="45720" bIns="27432" anchor="t">
            <a:spAutoFit/>
          </a:bodyPr>
          <a:lstStyle/>
          <a:p>
            <a:pPr algn="l">
              <a:spcAft>
                <a:spcPts val="200"/>
              </a:spcAft>
            </a:pPr>
            <a:r>
              <a:rPr sz="1300" i="1" dirty="0">
                <a:solidFill>
                  <a:srgbClr val="5B7194"/>
                </a:solidFill>
                <a:latin typeface="Segoe UI"/>
              </a:rPr>
              <a:t>Sidebar (left) explains the project and how reliable it is (about 81 in 100); the result appears on the right after a check.</a:t>
            </a:r>
          </a:p>
          <a:p>
            <a:pPr algn="l">
              <a:spcAft>
                <a:spcPts val="200"/>
              </a:spcAft>
            </a:pPr>
            <a:r>
              <a:rPr sz="1300" b="1" i="0" dirty="0">
                <a:solidFill>
                  <a:srgbClr val="14305F"/>
                </a:solidFill>
                <a:latin typeface="Segoe UI"/>
              </a:rPr>
              <a:t>Live dashboard: </a:t>
            </a:r>
            <a:r>
              <a:rPr sz="1300" b="1" i="0" dirty="0">
                <a:solidFill>
                  <a:srgbClr val="1F6FDC"/>
                </a:solidFill>
                <a:latin typeface="Segoe UI"/>
                <a:hlinkClick r:id="rId5"/>
              </a:rPr>
              <a:t>disaster-tweet-</a:t>
            </a:r>
            <a:r>
              <a:rPr sz="1300" b="1" i="0" dirty="0" err="1">
                <a:solidFill>
                  <a:srgbClr val="1F6FDC"/>
                </a:solidFill>
                <a:latin typeface="Segoe UI"/>
                <a:hlinkClick r:id="rId5"/>
              </a:rPr>
              <a:t>checker.streamlit.app</a:t>
            </a:r>
            <a:endParaRPr sz="1300" b="1" i="0" dirty="0">
              <a:solidFill>
                <a:srgbClr val="1F6FDC"/>
              </a:solidFill>
              <a:latin typeface="Segoe UI"/>
              <a:hlinkClick r:id="rId5"/>
            </a:endParaRPr>
          </a:p>
        </p:txBody>
      </p:sp>
      <p:sp>
        <p:nvSpPr>
          <p:cNvPr id="11" name="Rounded Rectangle Drop"/>
          <p:cNvSpPr/>
          <p:nvPr/>
        </p:nvSpPr>
        <p:spPr>
          <a:xfrm>
            <a:off x="8321040" y="1508760"/>
            <a:ext cx="3337560" cy="2300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0"/>
          <p:cNvSpPr/>
          <p:nvPr/>
        </p:nvSpPr>
        <p:spPr>
          <a:xfrm>
            <a:off x="8321040" y="3930000"/>
            <a:ext cx="3337560" cy="1150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339327" y="4030000"/>
            <a:ext cx="64008" cy="950000"/>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22208" y="3930000"/>
            <a:ext cx="3017520" cy="1150000"/>
          </a:xfrm>
          <a:prstGeom prst="rect">
            <a:avLst/>
          </a:prstGeom>
          <a:noFill/>
        </p:spPr>
        <p:txBody>
          <a:bodyPr wrap="square" lIns="45720" tIns="27432" rIns="45720" bIns="27432" anchor="ctr">
            <a:spAutoFit/>
          </a:bodyPr>
          <a:lstStyle/>
          <a:p>
            <a:pPr algn="l">
              <a:spcAft>
                <a:spcPts val="300"/>
              </a:spcAft>
            </a:pPr>
            <a:r>
              <a:rPr sz="1400" b="1" i="0" dirty="0">
                <a:solidFill>
                  <a:srgbClr val="1F6FDC"/>
                </a:solidFill>
                <a:latin typeface="Bahnschrift"/>
              </a:rPr>
              <a:t>Choose or type a message</a:t>
            </a:r>
          </a:p>
          <a:p>
            <a:pPr algn="l">
              <a:spcAft>
                <a:spcPts val="300"/>
              </a:spcAft>
            </a:pPr>
            <a:r>
              <a:rPr sz="1200" b="0" i="0" dirty="0">
                <a:solidFill>
                  <a:srgbClr val="14305F"/>
                </a:solidFill>
                <a:latin typeface="Segoe UI"/>
              </a:rPr>
              <a:t>Pick one of eight examples from the dropdown, or type up to 280 characters of English.</a:t>
            </a:r>
          </a:p>
        </p:txBody>
      </p:sp>
      <p:sp>
        <p:nvSpPr>
          <p:cNvPr id="14" name="Rounded Rectangle 13"/>
          <p:cNvSpPr/>
          <p:nvPr/>
        </p:nvSpPr>
        <p:spPr>
          <a:xfrm>
            <a:off x="8321040" y="5200000"/>
            <a:ext cx="3337560" cy="1150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39327" y="5300000"/>
            <a:ext cx="64008" cy="950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22208" y="5200000"/>
            <a:ext cx="3017520" cy="1150000"/>
          </a:xfrm>
          <a:prstGeom prst="rect">
            <a:avLst/>
          </a:prstGeom>
          <a:noFill/>
        </p:spPr>
        <p:txBody>
          <a:bodyPr wrap="square" lIns="45720" tIns="27432" rIns="45720" bIns="27432" anchor="ctr">
            <a:spAutoFit/>
          </a:bodyPr>
          <a:lstStyle/>
          <a:p>
            <a:pPr algn="l">
              <a:spcAft>
                <a:spcPts val="300"/>
              </a:spcAft>
            </a:pPr>
            <a:r>
              <a:rPr sz="1400" b="1" i="0" dirty="0">
                <a:solidFill>
                  <a:srgbClr val="14B8A6"/>
                </a:solidFill>
                <a:latin typeface="Bahnschrift"/>
              </a:rPr>
              <a:t>Three possible answers</a:t>
            </a:r>
          </a:p>
          <a:p>
            <a:pPr algn="l">
              <a:spcAft>
                <a:spcPts val="300"/>
              </a:spcAft>
            </a:pPr>
            <a:r>
              <a:rPr sz="1200" b="0" i="0" dirty="0">
                <a:solidFill>
                  <a:srgbClr val="14305F"/>
                </a:solidFill>
                <a:latin typeface="Segoe UI"/>
              </a:rPr>
              <a:t>Disaster report · Not a disaster · Not sure, with a likelihood bar.</a:t>
            </a:r>
          </a:p>
        </p:txBody>
      </p:sp>
      <p:pic>
        <p:nvPicPr>
          <p:cNvPr id="20" name="Picture Dropdown" descr="c_drop.png"/>
          <p:cNvPicPr>
            <a:picLocks noChangeAspect="1"/>
          </p:cNvPicPr>
          <p:nvPr/>
        </p:nvPicPr>
        <p:blipFill>
          <a:blip r:embed="rId6"/>
          <a:stretch>
            <a:fillRect/>
          </a:stretch>
        </p:blipFill>
        <p:spPr>
          <a:xfrm>
            <a:off x="8569530" y="1600200"/>
            <a:ext cx="2840580" cy="21171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1735"/>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The Dashboard in Action</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502920" y="1508760"/>
            <a:ext cx="3611880" cy="457200"/>
          </a:xfrm>
          <a:prstGeom prst="roundRect">
            <a:avLst>
              <a:gd name="adj" fmla="val 20000"/>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508760"/>
            <a:ext cx="3611880" cy="457200"/>
          </a:xfrm>
          <a:prstGeom prst="rect">
            <a:avLst/>
          </a:prstGeom>
          <a:noFill/>
        </p:spPr>
        <p:txBody>
          <a:bodyPr wrap="square" lIns="45720" tIns="27432" rIns="45720" bIns="27432" anchor="ctr">
            <a:spAutoFit/>
          </a:bodyPr>
          <a:lstStyle/>
          <a:p>
            <a:pPr algn="ctr"/>
            <a:r>
              <a:rPr sz="1700" b="1" i="0">
                <a:solidFill>
                  <a:srgbClr val="FFFFFF"/>
                </a:solidFill>
                <a:latin typeface="Bahnschrift"/>
              </a:rPr>
              <a:t>Disaster</a:t>
            </a:r>
          </a:p>
        </p:txBody>
      </p:sp>
      <p:sp>
        <p:nvSpPr>
          <p:cNvPr id="10" name="Rounded Rectangle 9"/>
          <p:cNvSpPr/>
          <p:nvPr/>
        </p:nvSpPr>
        <p:spPr>
          <a:xfrm>
            <a:off x="502920" y="2103120"/>
            <a:ext cx="3611880" cy="36118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ex_disaster_crop.png"/>
          <p:cNvPicPr>
            <a:picLocks noChangeAspect="1"/>
          </p:cNvPicPr>
          <p:nvPr/>
        </p:nvPicPr>
        <p:blipFill>
          <a:blip r:embed="rId4"/>
          <a:stretch>
            <a:fillRect/>
          </a:stretch>
        </p:blipFill>
        <p:spPr>
          <a:xfrm>
            <a:off x="576072" y="2301932"/>
            <a:ext cx="3465576" cy="3214255"/>
          </a:xfrm>
          <a:prstGeom prst="rect">
            <a:avLst/>
          </a:prstGeom>
        </p:spPr>
      </p:pic>
      <p:sp>
        <p:nvSpPr>
          <p:cNvPr id="12" name="TextBox 11"/>
          <p:cNvSpPr txBox="1"/>
          <p:nvPr/>
        </p:nvSpPr>
        <p:spPr>
          <a:xfrm>
            <a:off x="502920" y="5852160"/>
            <a:ext cx="3611880" cy="457200"/>
          </a:xfrm>
          <a:prstGeom prst="rect">
            <a:avLst/>
          </a:prstGeom>
          <a:noFill/>
        </p:spPr>
        <p:txBody>
          <a:bodyPr wrap="square" lIns="45720" tIns="27432" rIns="45720" bIns="27432" anchor="t">
            <a:spAutoFit/>
          </a:bodyPr>
          <a:lstStyle/>
          <a:p>
            <a:pPr algn="ctr"/>
            <a:r>
              <a:rPr sz="1300" b="1" i="0" dirty="0">
                <a:solidFill>
                  <a:srgbClr val="EF5B5B"/>
                </a:solidFill>
                <a:latin typeface="Segoe UI"/>
              </a:rPr>
              <a:t>99% · confident: a real emergency</a:t>
            </a:r>
          </a:p>
        </p:txBody>
      </p:sp>
      <p:sp>
        <p:nvSpPr>
          <p:cNvPr id="13" name="Rounded Rectangle 12"/>
          <p:cNvSpPr/>
          <p:nvPr/>
        </p:nvSpPr>
        <p:spPr>
          <a:xfrm>
            <a:off x="4251959" y="1508760"/>
            <a:ext cx="3611880" cy="457200"/>
          </a:xfrm>
          <a:prstGeom prst="roundRect">
            <a:avLst>
              <a:gd name="adj" fmla="val 2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51959" y="1508760"/>
            <a:ext cx="3611880" cy="457200"/>
          </a:xfrm>
          <a:prstGeom prst="rect">
            <a:avLst/>
          </a:prstGeom>
          <a:noFill/>
        </p:spPr>
        <p:txBody>
          <a:bodyPr wrap="square" lIns="45720" tIns="27432" rIns="45720" bIns="27432" anchor="ctr">
            <a:spAutoFit/>
          </a:bodyPr>
          <a:lstStyle/>
          <a:p>
            <a:pPr algn="ctr"/>
            <a:r>
              <a:rPr sz="1700" b="1" i="0">
                <a:solidFill>
                  <a:srgbClr val="FFFFFF"/>
                </a:solidFill>
                <a:latin typeface="Bahnschrift"/>
              </a:rPr>
              <a:t>Not a disaster</a:t>
            </a:r>
          </a:p>
        </p:txBody>
      </p:sp>
      <p:sp>
        <p:nvSpPr>
          <p:cNvPr id="15" name="Rounded Rectangle 14"/>
          <p:cNvSpPr/>
          <p:nvPr/>
        </p:nvSpPr>
        <p:spPr>
          <a:xfrm>
            <a:off x="4251959" y="2103120"/>
            <a:ext cx="3611880" cy="36118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x_notdis_crop.png"/>
          <p:cNvPicPr>
            <a:picLocks noChangeAspect="1"/>
          </p:cNvPicPr>
          <p:nvPr/>
        </p:nvPicPr>
        <p:blipFill>
          <a:blip r:embed="rId5"/>
          <a:stretch>
            <a:fillRect/>
          </a:stretch>
        </p:blipFill>
        <p:spPr>
          <a:xfrm>
            <a:off x="4325111" y="2304128"/>
            <a:ext cx="3465576" cy="3209863"/>
          </a:xfrm>
          <a:prstGeom prst="rect">
            <a:avLst/>
          </a:prstGeom>
        </p:spPr>
      </p:pic>
      <p:sp>
        <p:nvSpPr>
          <p:cNvPr id="17" name="TextBox 16"/>
          <p:cNvSpPr txBox="1"/>
          <p:nvPr/>
        </p:nvSpPr>
        <p:spPr>
          <a:xfrm>
            <a:off x="4251959" y="5852160"/>
            <a:ext cx="3611880" cy="255455"/>
          </a:xfrm>
          <a:prstGeom prst="rect">
            <a:avLst/>
          </a:prstGeom>
          <a:noFill/>
        </p:spPr>
        <p:txBody>
          <a:bodyPr wrap="square" lIns="45720" tIns="27432" rIns="45720" bIns="27432" anchor="t">
            <a:spAutoFit/>
          </a:bodyPr>
          <a:lstStyle/>
          <a:p>
            <a:pPr algn="ctr"/>
            <a:r>
              <a:rPr sz="1300" b="1" i="0" dirty="0">
                <a:solidFill>
                  <a:srgbClr val="14B8A6"/>
                </a:solidFill>
                <a:latin typeface="Segoe UI"/>
              </a:rPr>
              <a:t>18% · a figure of speech, recognized</a:t>
            </a:r>
          </a:p>
        </p:txBody>
      </p:sp>
      <p:sp>
        <p:nvSpPr>
          <p:cNvPr id="18" name="Rounded Rectangle 17"/>
          <p:cNvSpPr/>
          <p:nvPr/>
        </p:nvSpPr>
        <p:spPr>
          <a:xfrm>
            <a:off x="8001000" y="1508760"/>
            <a:ext cx="3611880" cy="457200"/>
          </a:xfrm>
          <a:prstGeom prst="roundRect">
            <a:avLst>
              <a:gd name="adj" fmla="val 2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01000" y="1508760"/>
            <a:ext cx="3611880" cy="457200"/>
          </a:xfrm>
          <a:prstGeom prst="rect">
            <a:avLst/>
          </a:prstGeom>
          <a:noFill/>
        </p:spPr>
        <p:txBody>
          <a:bodyPr wrap="square" lIns="45720" tIns="27432" rIns="45720" bIns="27432" anchor="ctr">
            <a:spAutoFit/>
          </a:bodyPr>
          <a:lstStyle/>
          <a:p>
            <a:pPr algn="ctr"/>
            <a:r>
              <a:rPr sz="1700" b="1" i="0">
                <a:solidFill>
                  <a:srgbClr val="FFFFFF"/>
                </a:solidFill>
                <a:latin typeface="Bahnschrift"/>
              </a:rPr>
              <a:t>Not sure</a:t>
            </a:r>
          </a:p>
        </p:txBody>
      </p:sp>
      <p:sp>
        <p:nvSpPr>
          <p:cNvPr id="20" name="Rounded Rectangle 19"/>
          <p:cNvSpPr/>
          <p:nvPr/>
        </p:nvSpPr>
        <p:spPr>
          <a:xfrm>
            <a:off x="8001000" y="2103120"/>
            <a:ext cx="3611880" cy="36118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ex_notsure_crop.png"/>
          <p:cNvPicPr>
            <a:picLocks noChangeAspect="1"/>
          </p:cNvPicPr>
          <p:nvPr/>
        </p:nvPicPr>
        <p:blipFill>
          <a:blip r:embed="rId6"/>
          <a:stretch>
            <a:fillRect/>
          </a:stretch>
        </p:blipFill>
        <p:spPr>
          <a:xfrm>
            <a:off x="8125781" y="2176272"/>
            <a:ext cx="3362318" cy="3465576"/>
          </a:xfrm>
          <a:prstGeom prst="rect">
            <a:avLst/>
          </a:prstGeom>
        </p:spPr>
      </p:pic>
      <p:sp>
        <p:nvSpPr>
          <p:cNvPr id="22" name="TextBox 21"/>
          <p:cNvSpPr txBox="1"/>
          <p:nvPr/>
        </p:nvSpPr>
        <p:spPr>
          <a:xfrm>
            <a:off x="8001000" y="5852160"/>
            <a:ext cx="3611880" cy="457200"/>
          </a:xfrm>
          <a:prstGeom prst="rect">
            <a:avLst/>
          </a:prstGeom>
          <a:noFill/>
        </p:spPr>
        <p:txBody>
          <a:bodyPr wrap="square" lIns="45720" tIns="27432" rIns="45720" bIns="27432" anchor="t">
            <a:spAutoFit/>
          </a:bodyPr>
          <a:lstStyle/>
          <a:p>
            <a:pPr algn="ctr"/>
            <a:r>
              <a:rPr sz="1300" b="1" i="0" dirty="0">
                <a:solidFill>
                  <a:srgbClr val="F5A623"/>
                </a:solidFill>
                <a:latin typeface="Segoe UI"/>
              </a:rPr>
              <a:t>49% · inside the 45–55% band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6448" y="261735"/>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Challenges &amp; Key Learnings</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502920" y="1508760"/>
            <a:ext cx="2697480" cy="2286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1208" y="1636776"/>
            <a:ext cx="64008" cy="202996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581912"/>
            <a:ext cx="2423160" cy="2148840"/>
          </a:xfrm>
          <a:prstGeom prst="rect">
            <a:avLst/>
          </a:prstGeom>
          <a:noFill/>
        </p:spPr>
        <p:txBody>
          <a:bodyPr wrap="square" lIns="45720" tIns="27432" rIns="45720" bIns="27432" anchor="ctr">
            <a:spAutoFit/>
          </a:bodyPr>
          <a:lstStyle/>
          <a:p>
            <a:pPr algn="l">
              <a:spcAft>
                <a:spcPts val="500"/>
              </a:spcAft>
            </a:pPr>
            <a:r>
              <a:rPr sz="1300" b="1" i="0">
                <a:solidFill>
                  <a:srgbClr val="1F6FDC"/>
                </a:solidFill>
                <a:latin typeface="Bahnschrift"/>
              </a:rPr>
              <a:t>1 · Duplicates hidden by an id</a:t>
            </a:r>
          </a:p>
          <a:p>
            <a:pPr algn="l">
              <a:spcAft>
                <a:spcPts val="500"/>
              </a:spcAft>
            </a:pPr>
            <a:r>
              <a:rPr sz="1050" b="1" i="0">
                <a:solidFill>
                  <a:srgbClr val="5B7194"/>
                </a:solidFill>
                <a:latin typeface="Segoe UI"/>
              </a:rPr>
              <a:t>Challenge  </a:t>
            </a:r>
            <a:r>
              <a:rPr sz="1150" b="0" i="0">
                <a:solidFill>
                  <a:srgbClr val="14305F"/>
                </a:solidFill>
                <a:latin typeface="Segoe UI"/>
              </a:rPr>
              <a:t>The id is unique, so a full-row check finds nothing.</a:t>
            </a:r>
          </a:p>
          <a:p>
            <a:pPr algn="l">
              <a:spcAft>
                <a:spcPts val="500"/>
              </a:spcAft>
            </a:pPr>
            <a:r>
              <a:rPr sz="1050" b="1" i="0">
                <a:solidFill>
                  <a:srgbClr val="0E9F6E"/>
                </a:solidFill>
                <a:latin typeface="Segoe UI"/>
              </a:rPr>
              <a:t>Learning  </a:t>
            </a:r>
            <a:r>
              <a:rPr sz="1150" b="1" i="0">
                <a:solidFill>
                  <a:srgbClr val="14305F"/>
                </a:solidFill>
                <a:latin typeface="Segoe UI"/>
              </a:rPr>
              <a:t>Define duplicates by content.</a:t>
            </a:r>
          </a:p>
        </p:txBody>
      </p:sp>
      <p:sp>
        <p:nvSpPr>
          <p:cNvPr id="11" name="Rounded Rectangle 10"/>
          <p:cNvSpPr/>
          <p:nvPr/>
        </p:nvSpPr>
        <p:spPr>
          <a:xfrm>
            <a:off x="3310128" y="1508760"/>
            <a:ext cx="2697480" cy="2286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28416" y="1636776"/>
            <a:ext cx="64008" cy="202996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93008" y="1581912"/>
            <a:ext cx="2423160" cy="2148840"/>
          </a:xfrm>
          <a:prstGeom prst="rect">
            <a:avLst/>
          </a:prstGeom>
          <a:noFill/>
        </p:spPr>
        <p:txBody>
          <a:bodyPr wrap="square" lIns="45720" tIns="27432" rIns="45720" bIns="27432" anchor="ctr">
            <a:spAutoFit/>
          </a:bodyPr>
          <a:lstStyle/>
          <a:p>
            <a:pPr algn="l">
              <a:spcAft>
                <a:spcPts val="500"/>
              </a:spcAft>
            </a:pPr>
            <a:r>
              <a:rPr sz="1300" b="1" i="0">
                <a:solidFill>
                  <a:srgbClr val="1F6FDC"/>
                </a:solidFill>
                <a:latin typeface="Bahnschrift"/>
              </a:rPr>
              <a:t>2 · A third of locations missing</a:t>
            </a:r>
          </a:p>
          <a:p>
            <a:pPr algn="l">
              <a:spcAft>
                <a:spcPts val="500"/>
              </a:spcAft>
            </a:pPr>
            <a:r>
              <a:rPr sz="1050" b="1" i="0">
                <a:solidFill>
                  <a:srgbClr val="5B7194"/>
                </a:solidFill>
                <a:latin typeface="Segoe UI"/>
              </a:rPr>
              <a:t>Challenge  </a:t>
            </a:r>
            <a:r>
              <a:rPr sz="1150" b="0" i="0">
                <a:solidFill>
                  <a:srgbClr val="14305F"/>
                </a:solidFill>
                <a:latin typeface="Segoe UI"/>
              </a:rPr>
              <a:t>2,476 tweets had no location.</a:t>
            </a:r>
          </a:p>
          <a:p>
            <a:pPr algn="l">
              <a:spcAft>
                <a:spcPts val="500"/>
              </a:spcAft>
            </a:pPr>
            <a:r>
              <a:rPr sz="1050" b="1" i="0">
                <a:solidFill>
                  <a:srgbClr val="0E9F6E"/>
                </a:solidFill>
                <a:latin typeface="Segoe UI"/>
              </a:rPr>
              <a:t>Learning  </a:t>
            </a:r>
            <a:r>
              <a:rPr sz="1150" b="1" i="0">
                <a:solidFill>
                  <a:srgbClr val="14305F"/>
                </a:solidFill>
                <a:latin typeface="Segoe UI"/>
              </a:rPr>
              <a:t>Recover with NER; label the rest unknown.</a:t>
            </a:r>
          </a:p>
        </p:txBody>
      </p:sp>
      <p:sp>
        <p:nvSpPr>
          <p:cNvPr id="14" name="Rounded Rectangle 13"/>
          <p:cNvSpPr/>
          <p:nvPr/>
        </p:nvSpPr>
        <p:spPr>
          <a:xfrm>
            <a:off x="6117336" y="1508760"/>
            <a:ext cx="2697480" cy="2286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35623" y="1636776"/>
            <a:ext cx="64008" cy="20299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0216" y="1581912"/>
            <a:ext cx="2423160" cy="2148840"/>
          </a:xfrm>
          <a:prstGeom prst="rect">
            <a:avLst/>
          </a:prstGeom>
          <a:noFill/>
        </p:spPr>
        <p:txBody>
          <a:bodyPr wrap="square" lIns="45720" tIns="27432" rIns="45720" bIns="27432" anchor="ctr">
            <a:spAutoFit/>
          </a:bodyPr>
          <a:lstStyle/>
          <a:p>
            <a:pPr algn="l">
              <a:spcAft>
                <a:spcPts val="500"/>
              </a:spcAft>
            </a:pPr>
            <a:r>
              <a:rPr sz="1300" b="1" i="0">
                <a:solidFill>
                  <a:srgbClr val="14B8A6"/>
                </a:solidFill>
                <a:latin typeface="Bahnschrift"/>
              </a:rPr>
              <a:t>3 · Sentiment on cleaned text</a:t>
            </a:r>
          </a:p>
          <a:p>
            <a:pPr algn="l">
              <a:spcAft>
                <a:spcPts val="500"/>
              </a:spcAft>
            </a:pPr>
            <a:r>
              <a:rPr sz="1050" b="1" i="0">
                <a:solidFill>
                  <a:srgbClr val="5B7194"/>
                </a:solidFill>
                <a:latin typeface="Segoe UI"/>
              </a:rPr>
              <a:t>Challenge  </a:t>
            </a:r>
            <a:r>
              <a:rPr sz="1150" b="0" i="0">
                <a:solidFill>
                  <a:srgbClr val="14305F"/>
                </a:solidFill>
                <a:latin typeface="Segoe UI"/>
              </a:rPr>
              <a:t>Cleaning strips the punctuation VADER reads.</a:t>
            </a:r>
          </a:p>
          <a:p>
            <a:pPr algn="l">
              <a:spcAft>
                <a:spcPts val="500"/>
              </a:spcAft>
            </a:pPr>
            <a:r>
              <a:rPr sz="1050" b="1" i="0">
                <a:solidFill>
                  <a:srgbClr val="0E9F6E"/>
                </a:solidFill>
                <a:latin typeface="Segoe UI"/>
              </a:rPr>
              <a:t>Learning  </a:t>
            </a:r>
            <a:r>
              <a:rPr sz="1150" b="1" i="0">
                <a:solidFill>
                  <a:srgbClr val="14305F"/>
                </a:solidFill>
                <a:latin typeface="Segoe UI"/>
              </a:rPr>
              <a:t>Score the raw text, then clean.</a:t>
            </a:r>
          </a:p>
        </p:txBody>
      </p:sp>
      <p:sp>
        <p:nvSpPr>
          <p:cNvPr id="17" name="Rounded Rectangle 16"/>
          <p:cNvSpPr/>
          <p:nvPr/>
        </p:nvSpPr>
        <p:spPr>
          <a:xfrm>
            <a:off x="8924544" y="1508760"/>
            <a:ext cx="2697480" cy="2286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942832" y="1636776"/>
            <a:ext cx="64008" cy="20299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07424" y="1581912"/>
            <a:ext cx="2423160" cy="2148840"/>
          </a:xfrm>
          <a:prstGeom prst="rect">
            <a:avLst/>
          </a:prstGeom>
          <a:noFill/>
        </p:spPr>
        <p:txBody>
          <a:bodyPr wrap="square" lIns="45720" tIns="27432" rIns="45720" bIns="27432" anchor="ctr">
            <a:spAutoFit/>
          </a:bodyPr>
          <a:lstStyle/>
          <a:p>
            <a:pPr algn="l">
              <a:spcAft>
                <a:spcPts val="500"/>
              </a:spcAft>
            </a:pPr>
            <a:r>
              <a:rPr sz="1300" b="1" i="0">
                <a:solidFill>
                  <a:srgbClr val="14B8A6"/>
                </a:solidFill>
                <a:latin typeface="Bahnschrift"/>
              </a:rPr>
              <a:t>4 · Leakage into the test set</a:t>
            </a:r>
          </a:p>
          <a:p>
            <a:pPr algn="l">
              <a:spcAft>
                <a:spcPts val="500"/>
              </a:spcAft>
            </a:pPr>
            <a:r>
              <a:rPr sz="1050" b="1" i="0">
                <a:solidFill>
                  <a:srgbClr val="5B7194"/>
                </a:solidFill>
                <a:latin typeface="Segoe UI"/>
              </a:rPr>
              <a:t>Challenge  </a:t>
            </a:r>
            <a:r>
              <a:rPr sz="1150" b="0" i="0">
                <a:solidFill>
                  <a:srgbClr val="14305F"/>
                </a:solidFill>
                <a:latin typeface="Segoe UI"/>
              </a:rPr>
              <a:t>Fitting on all data would peek at test tweets.</a:t>
            </a:r>
          </a:p>
          <a:p>
            <a:pPr algn="l">
              <a:spcAft>
                <a:spcPts val="500"/>
              </a:spcAft>
            </a:pPr>
            <a:r>
              <a:rPr sz="1050" b="1" i="0">
                <a:solidFill>
                  <a:srgbClr val="0E9F6E"/>
                </a:solidFill>
                <a:latin typeface="Segoe UI"/>
              </a:rPr>
              <a:t>Learning  </a:t>
            </a:r>
            <a:r>
              <a:rPr sz="1150" b="1" i="0">
                <a:solidFill>
                  <a:srgbClr val="14305F"/>
                </a:solidFill>
                <a:latin typeface="Segoe UI"/>
              </a:rPr>
              <a:t>Split first; refit on training only.</a:t>
            </a:r>
          </a:p>
        </p:txBody>
      </p:sp>
      <p:sp>
        <p:nvSpPr>
          <p:cNvPr id="20" name="Rounded Rectangle 19"/>
          <p:cNvSpPr/>
          <p:nvPr/>
        </p:nvSpPr>
        <p:spPr>
          <a:xfrm>
            <a:off x="502920" y="3931920"/>
            <a:ext cx="2697480" cy="2286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21208" y="4059935"/>
            <a:ext cx="64008" cy="202996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4005072"/>
            <a:ext cx="2423160" cy="2148840"/>
          </a:xfrm>
          <a:prstGeom prst="rect">
            <a:avLst/>
          </a:prstGeom>
          <a:noFill/>
        </p:spPr>
        <p:txBody>
          <a:bodyPr wrap="square" lIns="45720" tIns="27432" rIns="45720" bIns="27432" anchor="ctr">
            <a:spAutoFit/>
          </a:bodyPr>
          <a:lstStyle/>
          <a:p>
            <a:pPr algn="l">
              <a:spcAft>
                <a:spcPts val="500"/>
              </a:spcAft>
            </a:pPr>
            <a:r>
              <a:rPr sz="1300" b="1" i="0">
                <a:solidFill>
                  <a:srgbClr val="F5A623"/>
                </a:solidFill>
                <a:latin typeface="Bahnschrift"/>
              </a:rPr>
              <a:t>5 · Overfitting after epoch 2</a:t>
            </a:r>
          </a:p>
          <a:p>
            <a:pPr algn="l">
              <a:spcAft>
                <a:spcPts val="500"/>
              </a:spcAft>
            </a:pPr>
            <a:r>
              <a:rPr sz="1050" b="1" i="0">
                <a:solidFill>
                  <a:srgbClr val="5B7194"/>
                </a:solidFill>
                <a:latin typeface="Segoe UI"/>
              </a:rPr>
              <a:t>Challenge  </a:t>
            </a:r>
            <a:r>
              <a:rPr sz="1150" b="0" i="0">
                <a:solidFill>
                  <a:srgbClr val="14305F"/>
                </a:solidFill>
                <a:latin typeface="Segoe UI"/>
              </a:rPr>
              <a:t>Both deep models got worse on validation.</a:t>
            </a:r>
          </a:p>
          <a:p>
            <a:pPr algn="l">
              <a:spcAft>
                <a:spcPts val="500"/>
              </a:spcAft>
            </a:pPr>
            <a:r>
              <a:rPr sz="1050" b="1" i="0">
                <a:solidFill>
                  <a:srgbClr val="0E9F6E"/>
                </a:solidFill>
                <a:latin typeface="Segoe UI"/>
              </a:rPr>
              <a:t>Learning  </a:t>
            </a:r>
            <a:r>
              <a:rPr sz="1150" b="1" i="0">
                <a:solidFill>
                  <a:srgbClr val="14305F"/>
                </a:solidFill>
                <a:latin typeface="Segoe UI"/>
              </a:rPr>
              <a:t>Keep the best checkpoint by Accuracy.</a:t>
            </a:r>
          </a:p>
        </p:txBody>
      </p:sp>
      <p:sp>
        <p:nvSpPr>
          <p:cNvPr id="23" name="Rounded Rectangle 22"/>
          <p:cNvSpPr/>
          <p:nvPr/>
        </p:nvSpPr>
        <p:spPr>
          <a:xfrm>
            <a:off x="3310128" y="3931920"/>
            <a:ext cx="2697480" cy="2286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328416" y="4059935"/>
            <a:ext cx="64008" cy="2029968"/>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93008" y="4005072"/>
            <a:ext cx="2423160" cy="2148840"/>
          </a:xfrm>
          <a:prstGeom prst="rect">
            <a:avLst/>
          </a:prstGeom>
          <a:noFill/>
        </p:spPr>
        <p:txBody>
          <a:bodyPr wrap="square" lIns="45720" tIns="27432" rIns="45720" bIns="27432" anchor="ctr">
            <a:spAutoFit/>
          </a:bodyPr>
          <a:lstStyle/>
          <a:p>
            <a:pPr algn="l">
              <a:spcAft>
                <a:spcPts val="500"/>
              </a:spcAft>
            </a:pPr>
            <a:r>
              <a:rPr sz="1300" b="1" i="0">
                <a:solidFill>
                  <a:srgbClr val="EF5B5B"/>
                </a:solidFill>
                <a:latin typeface="Bahnschrift"/>
              </a:rPr>
              <a:t>6 · Slow CPU training</a:t>
            </a:r>
          </a:p>
          <a:p>
            <a:pPr algn="l">
              <a:spcAft>
                <a:spcPts val="500"/>
              </a:spcAft>
            </a:pPr>
            <a:r>
              <a:rPr sz="1050" b="1" i="0">
                <a:solidFill>
                  <a:srgbClr val="5B7194"/>
                </a:solidFill>
                <a:latin typeface="Segoe UI"/>
              </a:rPr>
              <a:t>Challenge  </a:t>
            </a:r>
            <a:r>
              <a:rPr sz="1150" b="0" i="0">
                <a:solidFill>
                  <a:srgbClr val="14305F"/>
                </a:solidFill>
                <a:latin typeface="Segoe UI"/>
              </a:rPr>
              <a:t>The GPU failed, so DistilBERT trained on CPU.</a:t>
            </a:r>
          </a:p>
          <a:p>
            <a:pPr algn="l">
              <a:spcAft>
                <a:spcPts val="500"/>
              </a:spcAft>
            </a:pPr>
            <a:r>
              <a:rPr sz="1050" b="1" i="0">
                <a:solidFill>
                  <a:srgbClr val="0E9F6E"/>
                </a:solidFill>
                <a:latin typeface="Segoe UI"/>
              </a:rPr>
              <a:t>Learning  </a:t>
            </a:r>
            <a:r>
              <a:rPr sz="1150" b="1" i="0">
                <a:solidFill>
                  <a:srgbClr val="14305F"/>
                </a:solidFill>
                <a:latin typeface="Segoe UI"/>
              </a:rPr>
              <a:t>Save checkpoints everywhere; reload, never retrain.</a:t>
            </a:r>
          </a:p>
        </p:txBody>
      </p:sp>
      <p:sp>
        <p:nvSpPr>
          <p:cNvPr id="26" name="Rounded Rectangle 25"/>
          <p:cNvSpPr/>
          <p:nvPr/>
        </p:nvSpPr>
        <p:spPr>
          <a:xfrm>
            <a:off x="6117336" y="3931920"/>
            <a:ext cx="2697480" cy="2286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35623" y="4059935"/>
            <a:ext cx="64008" cy="202996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00216" y="4005072"/>
            <a:ext cx="2423160" cy="2148840"/>
          </a:xfrm>
          <a:prstGeom prst="rect">
            <a:avLst/>
          </a:prstGeom>
          <a:noFill/>
        </p:spPr>
        <p:txBody>
          <a:bodyPr wrap="square" lIns="45720" tIns="27432" rIns="45720" bIns="27432" anchor="ctr">
            <a:spAutoFit/>
          </a:bodyPr>
          <a:lstStyle/>
          <a:p>
            <a:pPr algn="l">
              <a:spcAft>
                <a:spcPts val="500"/>
              </a:spcAft>
            </a:pPr>
            <a:r>
              <a:rPr sz="1300" b="1" i="0">
                <a:solidFill>
                  <a:srgbClr val="F5A623"/>
                </a:solidFill>
                <a:latin typeface="Bahnschrift"/>
              </a:rPr>
              <a:t>7 · Context beats keywords</a:t>
            </a:r>
          </a:p>
          <a:p>
            <a:pPr algn="l">
              <a:spcAft>
                <a:spcPts val="500"/>
              </a:spcAft>
            </a:pPr>
            <a:r>
              <a:rPr sz="1050" b="1" i="0">
                <a:solidFill>
                  <a:srgbClr val="5B7194"/>
                </a:solidFill>
                <a:latin typeface="Segoe UI"/>
              </a:rPr>
              <a:t>Challenge  </a:t>
            </a:r>
            <a:r>
              <a:rPr sz="1150" b="0" i="0">
                <a:solidFill>
                  <a:srgbClr val="14305F"/>
                </a:solidFill>
                <a:latin typeface="Segoe UI"/>
              </a:rPr>
              <a:t>“The mob flood…” scored 99% as a disaster.</a:t>
            </a:r>
          </a:p>
          <a:p>
            <a:pPr algn="l">
              <a:spcAft>
                <a:spcPts val="500"/>
              </a:spcAft>
            </a:pPr>
            <a:r>
              <a:rPr sz="1050" b="1" i="0">
                <a:solidFill>
                  <a:srgbClr val="0E9F6E"/>
                </a:solidFill>
                <a:latin typeface="Segoe UI"/>
              </a:rPr>
              <a:t>Learning  </a:t>
            </a:r>
            <a:r>
              <a:rPr sz="1150" b="1" i="0">
                <a:solidFill>
                  <a:srgbClr val="14305F"/>
                </a:solidFill>
                <a:latin typeface="Segoe UI"/>
              </a:rPr>
              <a:t>Test, document and show the limit.</a:t>
            </a:r>
          </a:p>
        </p:txBody>
      </p:sp>
      <p:sp>
        <p:nvSpPr>
          <p:cNvPr id="29" name="Rounded Rectangle 28"/>
          <p:cNvSpPr/>
          <p:nvPr/>
        </p:nvSpPr>
        <p:spPr>
          <a:xfrm>
            <a:off x="8924544" y="3931920"/>
            <a:ext cx="2697480" cy="22860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942832" y="4059935"/>
            <a:ext cx="64008" cy="2029968"/>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07424" y="4005072"/>
            <a:ext cx="2423160" cy="2148840"/>
          </a:xfrm>
          <a:prstGeom prst="rect">
            <a:avLst/>
          </a:prstGeom>
          <a:noFill/>
        </p:spPr>
        <p:txBody>
          <a:bodyPr wrap="square" lIns="45720" tIns="27432" rIns="45720" bIns="27432" anchor="ctr">
            <a:spAutoFit/>
          </a:bodyPr>
          <a:lstStyle/>
          <a:p>
            <a:pPr algn="l">
              <a:spcAft>
                <a:spcPts val="500"/>
              </a:spcAft>
            </a:pPr>
            <a:r>
              <a:rPr sz="1300" b="1" i="0">
                <a:solidFill>
                  <a:srgbClr val="EF5B5B"/>
                </a:solidFill>
                <a:latin typeface="Bahnschrift"/>
              </a:rPr>
              <a:t>8 · A near-tie</a:t>
            </a:r>
          </a:p>
          <a:p>
            <a:pPr algn="l">
              <a:spcAft>
                <a:spcPts val="500"/>
              </a:spcAft>
            </a:pPr>
            <a:r>
              <a:rPr sz="1050" b="1" i="0">
                <a:solidFill>
                  <a:srgbClr val="5B7194"/>
                </a:solidFill>
                <a:latin typeface="Segoe UI"/>
              </a:rPr>
              <a:t>Challenge  </a:t>
            </a:r>
            <a:r>
              <a:rPr sz="1150" b="0" i="0">
                <a:solidFill>
                  <a:srgbClr val="14305F"/>
                </a:solidFill>
                <a:latin typeface="Segoe UI"/>
              </a:rPr>
              <a:t>The lead was only 0.0100 Accuracy.</a:t>
            </a:r>
          </a:p>
          <a:p>
            <a:pPr algn="l">
              <a:spcAft>
                <a:spcPts val="500"/>
              </a:spcAft>
            </a:pPr>
            <a:r>
              <a:rPr sz="1050" b="1" i="0">
                <a:solidFill>
                  <a:srgbClr val="0E9F6E"/>
                </a:solidFill>
                <a:latin typeface="Segoe UI"/>
              </a:rPr>
              <a:t>Learning  </a:t>
            </a:r>
            <a:r>
              <a:rPr sz="1150" b="1" i="0">
                <a:solidFill>
                  <a:srgbClr val="14305F"/>
                </a:solidFill>
                <a:latin typeface="Segoe UI"/>
              </a:rPr>
              <a:t>Bootstrap it; call it a near-tie.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1735"/>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Conclusion &amp; Future Scope</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8" name="Rounded Rectangle 7"/>
          <p:cNvSpPr/>
          <p:nvPr/>
        </p:nvSpPr>
        <p:spPr>
          <a:xfrm>
            <a:off x="502920" y="1508760"/>
            <a:ext cx="5029200" cy="480060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600200"/>
            <a:ext cx="4572000" cy="393954"/>
          </a:xfrm>
          <a:prstGeom prst="rect">
            <a:avLst/>
          </a:prstGeom>
          <a:noFill/>
        </p:spPr>
        <p:txBody>
          <a:bodyPr wrap="square" lIns="45720" tIns="27432" rIns="45720" bIns="27432" anchor="t">
            <a:spAutoFit/>
          </a:bodyPr>
          <a:lstStyle/>
          <a:p>
            <a:pPr algn="ctr"/>
            <a:r>
              <a:rPr sz="2200" b="1" i="0" dirty="0">
                <a:solidFill>
                  <a:srgbClr val="1F6FDC"/>
                </a:solidFill>
                <a:latin typeface="Bahnschrift"/>
              </a:rPr>
              <a:t>Conclusion</a:t>
            </a:r>
          </a:p>
        </p:txBody>
      </p:sp>
      <p:sp>
        <p:nvSpPr>
          <p:cNvPr id="10" name="TextBox 9"/>
          <p:cNvSpPr txBox="1"/>
          <p:nvPr/>
        </p:nvSpPr>
        <p:spPr>
          <a:xfrm>
            <a:off x="731520" y="2295906"/>
            <a:ext cx="4572000" cy="640080"/>
          </a:xfrm>
          <a:prstGeom prst="rect">
            <a:avLst/>
          </a:prstGeom>
          <a:noFill/>
        </p:spPr>
        <p:txBody>
          <a:bodyPr wrap="square" lIns="45720" tIns="27432" rIns="45720" bIns="27432" anchor="t">
            <a:spAutoFit/>
          </a:bodyPr>
          <a:lstStyle/>
          <a:p>
            <a:pPr algn="l"/>
            <a:r>
              <a:rPr sz="3000" b="1" i="0" dirty="0">
                <a:solidFill>
                  <a:srgbClr val="0E9F6E"/>
                </a:solidFill>
                <a:latin typeface="Bahnschrift"/>
              </a:rPr>
              <a:t>DistilBERT</a:t>
            </a:r>
            <a:r>
              <a:rPr sz="1500" b="1" i="0" dirty="0">
                <a:solidFill>
                  <a:srgbClr val="14305F"/>
                </a:solidFill>
                <a:latin typeface="Segoe UI"/>
              </a:rPr>
              <a:t>  81.44% · F1 0.7718</a:t>
            </a:r>
          </a:p>
        </p:txBody>
      </p:sp>
      <p:sp>
        <p:nvSpPr>
          <p:cNvPr id="11" name="TextBox 10"/>
          <p:cNvSpPr txBox="1"/>
          <p:nvPr/>
        </p:nvSpPr>
        <p:spPr>
          <a:xfrm>
            <a:off x="731520" y="3313812"/>
            <a:ext cx="4474962" cy="1601977"/>
          </a:xfrm>
          <a:prstGeom prst="rect">
            <a:avLst/>
          </a:prstGeom>
          <a:noFill/>
        </p:spPr>
        <p:txBody>
          <a:bodyPr wrap="square" lIns="45720" tIns="27432" rIns="45720" bIns="27432" anchor="t">
            <a:spAutoFit/>
          </a:bodyPr>
          <a:lstStyle/>
          <a:p>
            <a:pPr algn="l">
              <a:spcAft>
                <a:spcPts val="900"/>
              </a:spcAft>
            </a:pPr>
            <a:r>
              <a:rPr sz="1300" b="0" i="0" dirty="0">
                <a:solidFill>
                  <a:srgbClr val="14305F"/>
                </a:solidFill>
                <a:latin typeface="Segoe UI"/>
              </a:rPr>
              <a:t>Six model families compared on the same unseen tweets.</a:t>
            </a:r>
          </a:p>
          <a:p>
            <a:pPr algn="l">
              <a:spcAft>
                <a:spcPts val="900"/>
              </a:spcAft>
            </a:pPr>
            <a:r>
              <a:rPr sz="1300" b="0" i="0" dirty="0">
                <a:solidFill>
                  <a:srgbClr val="14305F"/>
                </a:solidFill>
                <a:latin typeface="Segoe UI"/>
              </a:rPr>
              <a:t>The winner is validated: consistent, stable under noise, but only a near-tie over a simple baseline.</a:t>
            </a:r>
          </a:p>
          <a:p>
            <a:pPr algn="l">
              <a:spcAft>
                <a:spcPts val="900"/>
              </a:spcAft>
            </a:pPr>
            <a:r>
              <a:rPr sz="1300" b="0" i="0" dirty="0">
                <a:solidFill>
                  <a:srgbClr val="14305F"/>
                </a:solidFill>
                <a:latin typeface="Segoe UI"/>
              </a:rPr>
              <a:t>The dashboard says "Not sure" where the model is close to guessing.</a:t>
            </a:r>
          </a:p>
          <a:p>
            <a:pPr algn="l">
              <a:spcAft>
                <a:spcPts val="900"/>
              </a:spcAft>
            </a:pPr>
            <a:r>
              <a:rPr sz="1300" b="0" i="0" dirty="0">
                <a:solidFill>
                  <a:srgbClr val="14305F"/>
                </a:solidFill>
                <a:latin typeface="Segoe UI"/>
              </a:rPr>
              <a:t>A documented weakness remains: figures of speech.</a:t>
            </a:r>
          </a:p>
        </p:txBody>
      </p:sp>
      <p:sp>
        <p:nvSpPr>
          <p:cNvPr id="12" name="TextBox 11"/>
          <p:cNvSpPr txBox="1"/>
          <p:nvPr/>
        </p:nvSpPr>
        <p:spPr>
          <a:xfrm>
            <a:off x="5760720" y="1554480"/>
            <a:ext cx="5852160" cy="393954"/>
          </a:xfrm>
          <a:prstGeom prst="rect">
            <a:avLst/>
          </a:prstGeom>
          <a:noFill/>
        </p:spPr>
        <p:txBody>
          <a:bodyPr wrap="square" lIns="45720" tIns="27432" rIns="45720" bIns="27432" anchor="t">
            <a:spAutoFit/>
          </a:bodyPr>
          <a:lstStyle/>
          <a:p>
            <a:pPr algn="ctr"/>
            <a:r>
              <a:rPr sz="2200" b="1" i="0" dirty="0">
                <a:solidFill>
                  <a:srgbClr val="14B8A6"/>
                </a:solidFill>
                <a:latin typeface="Bahnschrift"/>
              </a:rPr>
              <a:t>Future Scope</a:t>
            </a:r>
          </a:p>
        </p:txBody>
      </p:sp>
      <p:sp>
        <p:nvSpPr>
          <p:cNvPr id="13" name="Rounded Rectangle 12"/>
          <p:cNvSpPr/>
          <p:nvPr/>
        </p:nvSpPr>
        <p:spPr>
          <a:xfrm>
            <a:off x="5760720" y="2103120"/>
            <a:ext cx="2880360" cy="13258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779007" y="2231136"/>
            <a:ext cx="64008" cy="1069848"/>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1888" y="2176272"/>
            <a:ext cx="2560320" cy="1179576"/>
          </a:xfrm>
          <a:prstGeom prst="rect">
            <a:avLst/>
          </a:prstGeom>
          <a:noFill/>
        </p:spPr>
        <p:txBody>
          <a:bodyPr wrap="square" lIns="45720" tIns="27432" rIns="45720" bIns="27432" anchor="ctr">
            <a:spAutoFit/>
          </a:bodyPr>
          <a:lstStyle/>
          <a:p>
            <a:pPr algn="l">
              <a:spcAft>
                <a:spcPts val="300"/>
              </a:spcAft>
            </a:pPr>
            <a:r>
              <a:rPr sz="1250" b="1" i="0">
                <a:solidFill>
                  <a:srgbClr val="EF5B5B"/>
                </a:solidFill>
                <a:latin typeface="Bahnschrift"/>
              </a:rPr>
              <a:t>Handle figures of speech</a:t>
            </a:r>
          </a:p>
          <a:p>
            <a:pPr algn="l">
              <a:spcAft>
                <a:spcPts val="300"/>
              </a:spcAft>
            </a:pPr>
            <a:r>
              <a:rPr sz="1100" b="0" i="0">
                <a:solidFill>
                  <a:srgbClr val="14305F"/>
                </a:solidFill>
                <a:latin typeface="Segoe UI"/>
              </a:rPr>
              <a:t>Add labelled figurative examples (new data); re-test</a:t>
            </a:r>
          </a:p>
        </p:txBody>
      </p:sp>
      <p:sp>
        <p:nvSpPr>
          <p:cNvPr id="16" name="Rounded Rectangle 15"/>
          <p:cNvSpPr/>
          <p:nvPr/>
        </p:nvSpPr>
        <p:spPr>
          <a:xfrm>
            <a:off x="8732520" y="2103120"/>
            <a:ext cx="2880360" cy="13258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750808" y="2231136"/>
            <a:ext cx="64008" cy="106984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33688" y="2176272"/>
            <a:ext cx="2560320" cy="1179576"/>
          </a:xfrm>
          <a:prstGeom prst="rect">
            <a:avLst/>
          </a:prstGeom>
          <a:noFill/>
        </p:spPr>
        <p:txBody>
          <a:bodyPr wrap="square" lIns="45720" tIns="27432" rIns="45720" bIns="27432" anchor="ctr">
            <a:spAutoFit/>
          </a:bodyPr>
          <a:lstStyle/>
          <a:p>
            <a:pPr algn="l">
              <a:spcAft>
                <a:spcPts val="300"/>
              </a:spcAft>
            </a:pPr>
            <a:r>
              <a:rPr sz="1250" b="1" i="0">
                <a:solidFill>
                  <a:srgbClr val="1F6FDC"/>
                </a:solidFill>
                <a:latin typeface="Bahnschrift"/>
              </a:rPr>
              <a:t>Docker &amp; an API</a:t>
            </a:r>
          </a:p>
          <a:p>
            <a:pPr algn="l">
              <a:spcAft>
                <a:spcPts val="300"/>
              </a:spcAft>
            </a:pPr>
            <a:r>
              <a:rPr sz="1100" b="0" i="0">
                <a:solidFill>
                  <a:srgbClr val="14305F"/>
                </a:solidFill>
                <a:latin typeface="Segoe UI"/>
              </a:rPr>
              <a:t>Package the app in a container; serve it through an API</a:t>
            </a:r>
          </a:p>
        </p:txBody>
      </p:sp>
      <p:sp>
        <p:nvSpPr>
          <p:cNvPr id="19" name="Rounded Rectangle 18"/>
          <p:cNvSpPr/>
          <p:nvPr/>
        </p:nvSpPr>
        <p:spPr>
          <a:xfrm>
            <a:off x="5760720" y="3520439"/>
            <a:ext cx="2880360" cy="13258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779007" y="3648456"/>
            <a:ext cx="64008" cy="106984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61888" y="3593591"/>
            <a:ext cx="2560320" cy="1179576"/>
          </a:xfrm>
          <a:prstGeom prst="rect">
            <a:avLst/>
          </a:prstGeom>
          <a:noFill/>
        </p:spPr>
        <p:txBody>
          <a:bodyPr wrap="square" lIns="45720" tIns="27432" rIns="45720" bIns="27432" anchor="ctr">
            <a:spAutoFit/>
          </a:bodyPr>
          <a:lstStyle/>
          <a:p>
            <a:pPr algn="l">
              <a:spcAft>
                <a:spcPts val="300"/>
              </a:spcAft>
            </a:pPr>
            <a:r>
              <a:rPr sz="1250" b="1" i="0">
                <a:solidFill>
                  <a:srgbClr val="F5A623"/>
                </a:solidFill>
                <a:latin typeface="Bahnschrift"/>
              </a:rPr>
              <a:t>Live monitoring</a:t>
            </a:r>
          </a:p>
          <a:p>
            <a:pPr algn="l">
              <a:spcAft>
                <a:spcPts val="300"/>
              </a:spcAft>
            </a:pPr>
            <a:r>
              <a:rPr sz="1100" b="0" i="0">
                <a:solidFill>
                  <a:srgbClr val="14305F"/>
                </a:solidFill>
                <a:latin typeface="Segoe UI"/>
              </a:rPr>
              <a:t>Feed live posts and alert response teams</a:t>
            </a:r>
          </a:p>
        </p:txBody>
      </p:sp>
      <p:sp>
        <p:nvSpPr>
          <p:cNvPr id="22" name="Rounded Rectangle 21"/>
          <p:cNvSpPr/>
          <p:nvPr/>
        </p:nvSpPr>
        <p:spPr>
          <a:xfrm>
            <a:off x="8732520" y="3520439"/>
            <a:ext cx="2880360" cy="13258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750808" y="3648456"/>
            <a:ext cx="64008" cy="10698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33688" y="3593591"/>
            <a:ext cx="2560320" cy="1179576"/>
          </a:xfrm>
          <a:prstGeom prst="rect">
            <a:avLst/>
          </a:prstGeom>
          <a:noFill/>
        </p:spPr>
        <p:txBody>
          <a:bodyPr wrap="square" lIns="45720" tIns="27432" rIns="45720" bIns="27432" anchor="ctr">
            <a:spAutoFit/>
          </a:bodyPr>
          <a:lstStyle/>
          <a:p>
            <a:pPr algn="l">
              <a:spcAft>
                <a:spcPts val="300"/>
              </a:spcAft>
            </a:pPr>
            <a:r>
              <a:rPr sz="1250" b="1" i="0">
                <a:solidFill>
                  <a:srgbClr val="14B8A6"/>
                </a:solidFill>
                <a:latin typeface="Bahnschrift"/>
              </a:rPr>
              <a:t>Batch upload &amp; map view</a:t>
            </a:r>
          </a:p>
          <a:p>
            <a:pPr algn="l">
              <a:spcAft>
                <a:spcPts val="300"/>
              </a:spcAft>
            </a:pPr>
            <a:r>
              <a:rPr sz="1100" b="0" i="0">
                <a:solidFill>
                  <a:srgbClr val="14305F"/>
                </a:solidFill>
                <a:latin typeface="Segoe UI"/>
              </a:rPr>
              <a:t>Check a CSV of tweets; plot reports by place</a:t>
            </a:r>
          </a:p>
        </p:txBody>
      </p:sp>
      <p:sp>
        <p:nvSpPr>
          <p:cNvPr id="25" name="Rounded Rectangle 24"/>
          <p:cNvSpPr/>
          <p:nvPr/>
        </p:nvSpPr>
        <p:spPr>
          <a:xfrm>
            <a:off x="5760720" y="4937760"/>
            <a:ext cx="2880360" cy="13258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779007" y="5065776"/>
            <a:ext cx="64008" cy="1069848"/>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61888" y="5010912"/>
            <a:ext cx="2560320" cy="1179576"/>
          </a:xfrm>
          <a:prstGeom prst="rect">
            <a:avLst/>
          </a:prstGeom>
          <a:noFill/>
        </p:spPr>
        <p:txBody>
          <a:bodyPr wrap="square" lIns="45720" tIns="27432" rIns="45720" bIns="27432" anchor="ctr">
            <a:spAutoFit/>
          </a:bodyPr>
          <a:lstStyle/>
          <a:p>
            <a:pPr algn="l">
              <a:spcAft>
                <a:spcPts val="300"/>
              </a:spcAft>
            </a:pPr>
            <a:r>
              <a:rPr sz="1250" b="1" i="0">
                <a:solidFill>
                  <a:srgbClr val="EF5B5B"/>
                </a:solidFill>
                <a:latin typeface="Bahnschrift"/>
              </a:rPr>
              <a:t>Retrain &amp; monitor</a:t>
            </a:r>
          </a:p>
          <a:p>
            <a:pPr algn="l">
              <a:spcAft>
                <a:spcPts val="300"/>
              </a:spcAft>
            </a:pPr>
            <a:r>
              <a:rPr sz="1100" b="0" i="0">
                <a:solidFill>
                  <a:srgbClr val="14305F"/>
                </a:solidFill>
                <a:latin typeface="Segoe UI"/>
              </a:rPr>
              <a:t>Refresh with new events; track drift over time</a:t>
            </a:r>
          </a:p>
        </p:txBody>
      </p:sp>
      <p:sp>
        <p:nvSpPr>
          <p:cNvPr id="28" name="Rounded Rectangle 27"/>
          <p:cNvSpPr/>
          <p:nvPr/>
        </p:nvSpPr>
        <p:spPr>
          <a:xfrm>
            <a:off x="8732520" y="4937760"/>
            <a:ext cx="2880360" cy="132588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750808" y="5065776"/>
            <a:ext cx="64008" cy="106984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933688" y="5010912"/>
            <a:ext cx="2560320" cy="1179576"/>
          </a:xfrm>
          <a:prstGeom prst="rect">
            <a:avLst/>
          </a:prstGeom>
          <a:noFill/>
        </p:spPr>
        <p:txBody>
          <a:bodyPr wrap="square" lIns="45720" tIns="27432" rIns="45720" bIns="27432" anchor="ctr">
            <a:spAutoFit/>
          </a:bodyPr>
          <a:lstStyle/>
          <a:p>
            <a:pPr algn="l">
              <a:spcAft>
                <a:spcPts val="300"/>
              </a:spcAft>
            </a:pPr>
            <a:r>
              <a:rPr sz="1250" b="1" i="0">
                <a:solidFill>
                  <a:srgbClr val="1F6FDC"/>
                </a:solidFill>
                <a:latin typeface="Bahnschrift"/>
              </a:rPr>
              <a:t>More languages</a:t>
            </a:r>
          </a:p>
          <a:p>
            <a:pPr algn="l">
              <a:spcAft>
                <a:spcPts val="300"/>
              </a:spcAft>
            </a:pPr>
            <a:r>
              <a:rPr sz="1100" b="0" i="0">
                <a:solidFill>
                  <a:srgbClr val="14305F"/>
                </a:solidFill>
                <a:latin typeface="Segoe UI"/>
              </a:rPr>
              <a:t>A multilingual model and labelled tweets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07008"/>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1735"/>
            <a:ext cx="10424160" cy="670953"/>
          </a:xfrm>
          <a:prstGeom prst="rect">
            <a:avLst/>
          </a:prstGeom>
          <a:noFill/>
        </p:spPr>
        <p:txBody>
          <a:bodyPr wrap="square" lIns="45720" tIns="27432" rIns="45720" bIns="27432" anchor="ctr">
            <a:spAutoFit/>
          </a:bodyPr>
          <a:lstStyle/>
          <a:p>
            <a:pPr algn="ctr"/>
            <a:r>
              <a:rPr sz="4000" b="1" i="0" dirty="0">
                <a:solidFill>
                  <a:srgbClr val="FFFFFF"/>
                </a:solidFill>
                <a:latin typeface="Bahnschrift"/>
              </a:rPr>
              <a:t>References &amp; Appendix</a:t>
            </a:r>
          </a:p>
        </p:txBody>
      </p:sp>
      <p:pic>
        <p:nvPicPr>
          <p:cNvPr id="5" name="Picture 4" descr="logo.png"/>
          <p:cNvPicPr>
            <a:picLocks noChangeAspect="1"/>
          </p:cNvPicPr>
          <p:nvPr/>
        </p:nvPicPr>
        <p:blipFill>
          <a:blip r:embed="rId3"/>
          <a:stretch>
            <a:fillRect/>
          </a:stretch>
        </p:blipFill>
        <p:spPr>
          <a:xfrm>
            <a:off x="11247120" y="274320"/>
            <a:ext cx="658368" cy="658368"/>
          </a:xfrm>
          <a:prstGeom prst="rect">
            <a:avLst/>
          </a:prstGeom>
        </p:spPr>
      </p:pic>
      <p:sp>
        <p:nvSpPr>
          <p:cNvPr id="6" name="TextBox 5"/>
          <p:cNvSpPr txBox="1"/>
          <p:nvPr/>
        </p:nvSpPr>
        <p:spPr>
          <a:xfrm>
            <a:off x="502920" y="6510528"/>
            <a:ext cx="8229600" cy="256032"/>
          </a:xfrm>
          <a:prstGeom prst="rect">
            <a:avLst/>
          </a:prstGeom>
          <a:noFill/>
        </p:spPr>
        <p:txBody>
          <a:bodyPr wrap="square" lIns="45720" tIns="27432" rIns="45720" bIns="27432" anchor="t">
            <a:spAutoFit/>
          </a:bodyPr>
          <a:lstStyle/>
          <a:p>
            <a:pPr algn="l"/>
            <a:r>
              <a:rPr sz="1000" b="0" i="0">
                <a:solidFill>
                  <a:srgbClr val="5B7194"/>
                </a:solidFill>
                <a:latin typeface="Segoe UI"/>
              </a:rPr>
              <a:t>Disaster Tweet Classification  ·  Yousuf S. R. Sakkaf</a:t>
            </a:r>
          </a:p>
        </p:txBody>
      </p:sp>
      <p:sp>
        <p:nvSpPr>
          <p:cNvPr id="7" name="TextBox 6"/>
          <p:cNvSpPr txBox="1"/>
          <p:nvPr/>
        </p:nvSpPr>
        <p:spPr>
          <a:xfrm>
            <a:off x="10972800" y="6510528"/>
            <a:ext cx="731520" cy="256032"/>
          </a:xfrm>
          <a:prstGeom prst="rect">
            <a:avLst/>
          </a:prstGeom>
          <a:noFill/>
        </p:spPr>
        <p:txBody>
          <a:bodyPr wrap="square" lIns="45720" tIns="27432" rIns="45720" bIns="27432" anchor="t">
            <a:spAutoFit/>
          </a:bodyPr>
          <a:lstStyle/>
          <a:p>
            <a:pPr algn="r"/>
            <a:r>
              <a:rPr sz="1000" b="0" i="0">
                <a:solidFill>
                  <a:srgbClr val="5B7194"/>
                </a:solidFill>
                <a:latin typeface="Segoe UI"/>
              </a:rPr>
              <a:t>22</a:t>
            </a:r>
          </a:p>
        </p:txBody>
      </p:sp>
      <p:sp>
        <p:nvSpPr>
          <p:cNvPr id="8" name="Rounded Rectangle 7"/>
          <p:cNvSpPr/>
          <p:nvPr/>
        </p:nvSpPr>
        <p:spPr>
          <a:xfrm>
            <a:off x="502920" y="1463040"/>
            <a:ext cx="5760720" cy="420624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dash_howitworks.png"/>
          <p:cNvPicPr>
            <a:picLocks noChangeAspect="1"/>
          </p:cNvPicPr>
          <p:nvPr/>
        </p:nvPicPr>
        <p:blipFill>
          <a:blip r:embed="rId4"/>
          <a:stretch>
            <a:fillRect/>
          </a:stretch>
        </p:blipFill>
        <p:spPr>
          <a:xfrm>
            <a:off x="842893" y="1536192"/>
            <a:ext cx="5080773" cy="4059936"/>
          </a:xfrm>
          <a:prstGeom prst="rect">
            <a:avLst/>
          </a:prstGeom>
        </p:spPr>
      </p:pic>
      <p:sp>
        <p:nvSpPr>
          <p:cNvPr id="10" name="TextBox 9"/>
          <p:cNvSpPr txBox="1"/>
          <p:nvPr/>
        </p:nvSpPr>
        <p:spPr>
          <a:xfrm>
            <a:off x="502920" y="5669280"/>
            <a:ext cx="5760720" cy="224677"/>
          </a:xfrm>
          <a:prstGeom prst="rect">
            <a:avLst/>
          </a:prstGeom>
          <a:noFill/>
        </p:spPr>
        <p:txBody>
          <a:bodyPr wrap="square" lIns="45720" tIns="27432" rIns="45720" bIns="27432" anchor="t">
            <a:spAutoFit/>
          </a:bodyPr>
          <a:lstStyle/>
          <a:p>
            <a:pPr algn="ctr"/>
            <a:r>
              <a:rPr sz="1100" b="1" i="1" dirty="0">
                <a:solidFill>
                  <a:srgbClr val="5B7194"/>
                </a:solidFill>
                <a:latin typeface="Segoe UI"/>
              </a:rPr>
              <a:t>A message typed by the user, with the “Recent checks” list</a:t>
            </a:r>
          </a:p>
        </p:txBody>
      </p:sp>
      <p:sp>
        <p:nvSpPr>
          <p:cNvPr id="11" name="Rounded Rectangle 10"/>
          <p:cNvSpPr/>
          <p:nvPr/>
        </p:nvSpPr>
        <p:spPr>
          <a:xfrm>
            <a:off x="6492240" y="1463040"/>
            <a:ext cx="5166360" cy="210312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510528" y="1591056"/>
            <a:ext cx="64008" cy="1847088"/>
          </a:xfrm>
          <a:prstGeom prst="rect">
            <a:avLst/>
          </a:prstGeom>
          <a:solidFill>
            <a:srgbClr val="1F6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93408" y="1536192"/>
            <a:ext cx="4892040" cy="1965960"/>
          </a:xfrm>
          <a:prstGeom prst="rect">
            <a:avLst/>
          </a:prstGeom>
          <a:noFill/>
        </p:spPr>
        <p:txBody>
          <a:bodyPr wrap="square" lIns="45720" tIns="27432" rIns="45720" bIns="27432" anchor="ctr">
            <a:spAutoFit/>
          </a:bodyPr>
          <a:lstStyle/>
          <a:p>
            <a:pPr algn="l">
              <a:spcAft>
                <a:spcPts val="600"/>
              </a:spcAft>
            </a:pPr>
            <a:r>
              <a:rPr sz="1400" b="1" i="0">
                <a:solidFill>
                  <a:srgbClr val="1F6FDC"/>
                </a:solidFill>
                <a:latin typeface="Bahnschrift"/>
              </a:rPr>
              <a:t>Links</a:t>
            </a:r>
          </a:p>
          <a:p>
            <a:pPr algn="l">
              <a:spcAft>
                <a:spcPts val="600"/>
              </a:spcAft>
            </a:pPr>
            <a:r>
              <a:rPr sz="1100" b="1" i="0">
                <a:solidFill>
                  <a:srgbClr val="5B7194"/>
                </a:solidFill>
                <a:latin typeface="Segoe UI"/>
              </a:rPr>
              <a:t>GitHub   </a:t>
            </a:r>
            <a:r>
              <a:rPr sz="1100" b="0" i="0">
                <a:solidFill>
                  <a:srgbClr val="1F6FDC"/>
                </a:solidFill>
                <a:latin typeface="Segoe UI"/>
                <a:hlinkClick r:id="rId5"/>
              </a:rPr>
              <a:t>https://github.com/S-Yousuf-S/NHIS_Project7</a:t>
            </a:r>
          </a:p>
          <a:p>
            <a:pPr algn="l">
              <a:spcAft>
                <a:spcPts val="600"/>
              </a:spcAft>
            </a:pPr>
            <a:r>
              <a:rPr sz="1100" b="1" i="0">
                <a:solidFill>
                  <a:srgbClr val="5B7194"/>
                </a:solidFill>
                <a:latin typeface="Segoe UI"/>
              </a:rPr>
              <a:t>Live dashboard   </a:t>
            </a:r>
            <a:r>
              <a:rPr sz="1100" b="0" i="0">
                <a:solidFill>
                  <a:srgbClr val="1F6FDC"/>
                </a:solidFill>
                <a:latin typeface="Segoe UI"/>
                <a:hlinkClick r:id="rId6"/>
              </a:rPr>
              <a:t>https://disaster-tweet-checker.streamlit.app/</a:t>
            </a:r>
          </a:p>
          <a:p>
            <a:pPr algn="l">
              <a:spcAft>
                <a:spcPts val="600"/>
              </a:spcAft>
            </a:pPr>
            <a:r>
              <a:rPr sz="1100" b="1" i="0">
                <a:solidFill>
                  <a:srgbClr val="5B7194"/>
                </a:solidFill>
                <a:latin typeface="Segoe UI"/>
              </a:rPr>
              <a:t>Hugging Face   </a:t>
            </a:r>
            <a:r>
              <a:rPr sz="1100" b="0" i="0">
                <a:solidFill>
                  <a:srgbClr val="1F6FDC"/>
                </a:solidFill>
                <a:latin typeface="Segoe UI"/>
                <a:hlinkClick r:id="rId7"/>
              </a:rPr>
              <a:t>https://huggingface.co/ysakkaf/nhis-project7-distilbert</a:t>
            </a:r>
          </a:p>
          <a:p>
            <a:pPr algn="l">
              <a:spcAft>
                <a:spcPts val="600"/>
              </a:spcAft>
            </a:pPr>
            <a:r>
              <a:rPr sz="1100" b="1" i="0">
                <a:solidFill>
                  <a:srgbClr val="5B7194"/>
                </a:solidFill>
                <a:latin typeface="Segoe UI"/>
              </a:rPr>
              <a:t>Dataset   </a:t>
            </a:r>
            <a:r>
              <a:rPr sz="1100" b="0" i="0">
                <a:solidFill>
                  <a:srgbClr val="14305F"/>
                </a:solidFill>
                <a:latin typeface="Segoe UI"/>
              </a:rPr>
              <a:t>twitter_disaster.csv, 7,613 tweets, from the project brief</a:t>
            </a:r>
          </a:p>
        </p:txBody>
      </p:sp>
      <p:sp>
        <p:nvSpPr>
          <p:cNvPr id="14" name="Rounded Rectangle 13"/>
          <p:cNvSpPr/>
          <p:nvPr/>
        </p:nvSpPr>
        <p:spPr>
          <a:xfrm>
            <a:off x="6492240" y="3703320"/>
            <a:ext cx="5166360" cy="1965960"/>
          </a:xfrm>
          <a:prstGeom prst="roundRect">
            <a:avLst>
              <a:gd name="adj" fmla="val 6000"/>
            </a:avLst>
          </a:prstGeom>
          <a:solidFill>
            <a:srgbClr val="FFFFFF"/>
          </a:solidFill>
          <a:ln w="12700">
            <a:solidFill>
              <a:srgbClr val="CFE0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10527" y="3831335"/>
            <a:ext cx="64008" cy="1709928"/>
          </a:xfrm>
          <a:prstGeom prst="rect">
            <a:avLst/>
          </a:prstGeom>
          <a:solidFill>
            <a:srgbClr val="EF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93407" y="3776472"/>
            <a:ext cx="4846320" cy="1819656"/>
          </a:xfrm>
          <a:prstGeom prst="rect">
            <a:avLst/>
          </a:prstGeom>
          <a:noFill/>
        </p:spPr>
        <p:txBody>
          <a:bodyPr wrap="square" lIns="45720" tIns="27432" rIns="45720" bIns="27432" anchor="ctr">
            <a:spAutoFit/>
          </a:bodyPr>
          <a:lstStyle/>
          <a:p>
            <a:pPr algn="l">
              <a:spcAft>
                <a:spcPts val="300"/>
              </a:spcAft>
            </a:pPr>
            <a:r>
              <a:rPr sz="1400" b="1" i="0">
                <a:solidFill>
                  <a:srgbClr val="EF5B5B"/>
                </a:solidFill>
                <a:latin typeface="Bahnschrift"/>
              </a:rPr>
              <a:t>References</a:t>
            </a:r>
          </a:p>
          <a:p>
            <a:pPr algn="l">
              <a:spcAft>
                <a:spcPts val="300"/>
              </a:spcAft>
            </a:pPr>
            <a:r>
              <a:rPr sz="1050" b="0" i="0">
                <a:solidFill>
                  <a:srgbClr val="14305F"/>
                </a:solidFill>
                <a:latin typeface="Segoe UI"/>
                <a:hlinkClick r:id="rId8"/>
              </a:rPr>
              <a:t>GeeksforGeeks. DistilBERT in Natural Language Processing.</a:t>
            </a:r>
          </a:p>
          <a:p>
            <a:pPr algn="l">
              <a:spcAft>
                <a:spcPts val="300"/>
              </a:spcAft>
            </a:pPr>
            <a:r>
              <a:rPr sz="1050" b="0" i="0">
                <a:solidFill>
                  <a:srgbClr val="14305F"/>
                </a:solidFill>
                <a:latin typeface="Segoe UI"/>
              </a:rPr>
              <a:t>Hutto &amp; Gilbert (2014). VADER: a rule-based sentiment model.</a:t>
            </a:r>
          </a:p>
          <a:p>
            <a:pPr algn="l">
              <a:spcAft>
                <a:spcPts val="300"/>
              </a:spcAft>
            </a:pPr>
            <a:r>
              <a:rPr sz="1050" b="0" i="0">
                <a:solidFill>
                  <a:srgbClr val="14305F"/>
                </a:solidFill>
                <a:latin typeface="Segoe UI"/>
              </a:rPr>
              <a:t>Campos et al. (2020). YAKE! Keyword extraction.</a:t>
            </a:r>
          </a:p>
          <a:p>
            <a:pPr algn="l">
              <a:spcAft>
                <a:spcPts val="300"/>
              </a:spcAft>
            </a:pPr>
            <a:r>
              <a:rPr sz="1050" b="0" i="0">
                <a:solidFill>
                  <a:srgbClr val="14305F"/>
                </a:solidFill>
                <a:latin typeface="Segoe UI"/>
                <a:hlinkClick r:id="rId9"/>
              </a:rPr>
              <a:t>Jain, A. Text Classification in NLP. Medium.</a:t>
            </a:r>
          </a:p>
        </p:txBody>
      </p:sp>
      <p:sp>
        <p:nvSpPr>
          <p:cNvPr id="17" name="Rectangle 16"/>
          <p:cNvSpPr/>
          <p:nvPr/>
        </p:nvSpPr>
        <p:spPr>
          <a:xfrm>
            <a:off x="0" y="5989320"/>
            <a:ext cx="12192000" cy="868680"/>
          </a:xfrm>
          <a:prstGeom prst="rect">
            <a:avLst/>
          </a:prstGeom>
          <a:gradFill rotWithShape="1">
            <a:gsLst>
              <a:gs pos="0">
                <a:srgbClr val="1F6FDC"/>
              </a:gs>
              <a:gs pos="100000">
                <a:srgbClr val="14B8A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11555" y="6169652"/>
            <a:ext cx="3806890" cy="578620"/>
          </a:xfrm>
          <a:prstGeom prst="rect">
            <a:avLst/>
          </a:prstGeom>
          <a:noFill/>
        </p:spPr>
        <p:txBody>
          <a:bodyPr wrap="square" lIns="45720" tIns="27432" rIns="45720" bIns="27432" anchor="ctr">
            <a:spAutoFit/>
          </a:bodyPr>
          <a:lstStyle/>
          <a:p>
            <a:pPr algn="ctr"/>
            <a:r>
              <a:rPr sz="3400" b="1" i="0" dirty="0">
                <a:solidFill>
                  <a:srgbClr val="FFFFFF"/>
                </a:solidFill>
                <a:latin typeface="Bahnschrif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2279</TotalTime>
  <Words>9804</Words>
  <Application>Microsoft Office PowerPoint</Application>
  <PresentationFormat>Widescreen</PresentationFormat>
  <Paragraphs>817</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Bahnschrift</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Yousuf Sakkaf</dc:creator>
  <cp:keywords/>
  <dc:description>generated using python-pptx</dc:description>
  <cp:lastModifiedBy>Yousuf Sakkaf</cp:lastModifiedBy>
  <cp:revision>30</cp:revision>
  <dcterms:created xsi:type="dcterms:W3CDTF">2013-01-27T09:14:16Z</dcterms:created>
  <dcterms:modified xsi:type="dcterms:W3CDTF">2026-10-15T17:13:37Z</dcterms:modified>
  <cp:category/>
</cp:coreProperties>
</file>